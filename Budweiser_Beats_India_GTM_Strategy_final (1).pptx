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754" autoAdjust="0"/>
    <p:restoredTop sz="94660"/>
  </p:normalViewPr>
  <p:slideViewPr>
    <p:cSldViewPr>
      <p:cViewPr>
        <p:scale>
          <a:sx n="66" d="100"/>
          <a:sy n="66" d="100"/>
        </p:scale>
        <p:origin x="1906" y="31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C1F9B-5DDB-4470-982C-449EE3B633B0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E0EFB0-959B-49B9-AEE5-8D6ABB3F5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774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0EFB0-959B-49B9-AEE5-8D6ABB3F5C6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932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635" cy="6858000"/>
          </a:xfrm>
          <a:custGeom>
            <a:avLst/>
            <a:gdLst/>
            <a:ahLst/>
            <a:cxnLst/>
            <a:rect l="l" t="t" r="r" b="b"/>
            <a:pathLst>
              <a:path w="12192635" h="6858000">
                <a:moveTo>
                  <a:pt x="12192114" y="0"/>
                </a:moveTo>
                <a:lnTo>
                  <a:pt x="0" y="0"/>
                </a:lnTo>
                <a:lnTo>
                  <a:pt x="0" y="6858000"/>
                </a:lnTo>
                <a:lnTo>
                  <a:pt x="12192114" y="6858000"/>
                </a:lnTo>
                <a:lnTo>
                  <a:pt x="12192114" y="0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320684" y="12"/>
            <a:ext cx="3871595" cy="4206240"/>
          </a:xfrm>
          <a:custGeom>
            <a:avLst/>
            <a:gdLst/>
            <a:ahLst/>
            <a:cxnLst/>
            <a:rect l="l" t="t" r="r" b="b"/>
            <a:pathLst>
              <a:path w="3871595" h="4206240">
                <a:moveTo>
                  <a:pt x="3871074" y="0"/>
                </a:moveTo>
                <a:lnTo>
                  <a:pt x="129587" y="0"/>
                </a:lnTo>
                <a:lnTo>
                  <a:pt x="125687" y="13315"/>
                </a:lnTo>
                <a:lnTo>
                  <a:pt x="112226" y="62044"/>
                </a:lnTo>
                <a:lnTo>
                  <a:pt x="99514" y="110973"/>
                </a:lnTo>
                <a:lnTo>
                  <a:pt x="87554" y="160095"/>
                </a:lnTo>
                <a:lnTo>
                  <a:pt x="76348" y="209400"/>
                </a:lnTo>
                <a:lnTo>
                  <a:pt x="65899" y="258879"/>
                </a:lnTo>
                <a:lnTo>
                  <a:pt x="56209" y="308525"/>
                </a:lnTo>
                <a:lnTo>
                  <a:pt x="47279" y="358328"/>
                </a:lnTo>
                <a:lnTo>
                  <a:pt x="39114" y="408279"/>
                </a:lnTo>
                <a:lnTo>
                  <a:pt x="31715" y="458370"/>
                </a:lnTo>
                <a:lnTo>
                  <a:pt x="25084" y="508592"/>
                </a:lnTo>
                <a:lnTo>
                  <a:pt x="19225" y="558936"/>
                </a:lnTo>
                <a:lnTo>
                  <a:pt x="14139" y="609393"/>
                </a:lnTo>
                <a:lnTo>
                  <a:pt x="9828" y="659955"/>
                </a:lnTo>
                <a:lnTo>
                  <a:pt x="6296" y="710613"/>
                </a:lnTo>
                <a:lnTo>
                  <a:pt x="3545" y="761359"/>
                </a:lnTo>
                <a:lnTo>
                  <a:pt x="1577" y="812183"/>
                </a:lnTo>
                <a:lnTo>
                  <a:pt x="394" y="863077"/>
                </a:lnTo>
                <a:lnTo>
                  <a:pt x="0" y="914031"/>
                </a:lnTo>
                <a:lnTo>
                  <a:pt x="394" y="964986"/>
                </a:lnTo>
                <a:lnTo>
                  <a:pt x="1577" y="1015879"/>
                </a:lnTo>
                <a:lnTo>
                  <a:pt x="3545" y="1066703"/>
                </a:lnTo>
                <a:lnTo>
                  <a:pt x="6296" y="1117448"/>
                </a:lnTo>
                <a:lnTo>
                  <a:pt x="9828" y="1168106"/>
                </a:lnTo>
                <a:lnTo>
                  <a:pt x="14139" y="1218668"/>
                </a:lnTo>
                <a:lnTo>
                  <a:pt x="19225" y="1269125"/>
                </a:lnTo>
                <a:lnTo>
                  <a:pt x="25084" y="1319469"/>
                </a:lnTo>
                <a:lnTo>
                  <a:pt x="31715" y="1369691"/>
                </a:lnTo>
                <a:lnTo>
                  <a:pt x="39114" y="1419781"/>
                </a:lnTo>
                <a:lnTo>
                  <a:pt x="47279" y="1469732"/>
                </a:lnTo>
                <a:lnTo>
                  <a:pt x="56209" y="1519534"/>
                </a:lnTo>
                <a:lnTo>
                  <a:pt x="65899" y="1569179"/>
                </a:lnTo>
                <a:lnTo>
                  <a:pt x="76348" y="1618659"/>
                </a:lnTo>
                <a:lnTo>
                  <a:pt x="87554" y="1667963"/>
                </a:lnTo>
                <a:lnTo>
                  <a:pt x="99514" y="1717085"/>
                </a:lnTo>
                <a:lnTo>
                  <a:pt x="112226" y="1766014"/>
                </a:lnTo>
                <a:lnTo>
                  <a:pt x="125687" y="1814742"/>
                </a:lnTo>
                <a:lnTo>
                  <a:pt x="139895" y="1863261"/>
                </a:lnTo>
                <a:lnTo>
                  <a:pt x="154847" y="1911561"/>
                </a:lnTo>
                <a:lnTo>
                  <a:pt x="170542" y="1959635"/>
                </a:lnTo>
                <a:lnTo>
                  <a:pt x="186976" y="2007472"/>
                </a:lnTo>
                <a:lnTo>
                  <a:pt x="204147" y="2055065"/>
                </a:lnTo>
                <a:lnTo>
                  <a:pt x="222053" y="2102405"/>
                </a:lnTo>
                <a:lnTo>
                  <a:pt x="240691" y="2149483"/>
                </a:lnTo>
                <a:lnTo>
                  <a:pt x="260060" y="2196290"/>
                </a:lnTo>
                <a:lnTo>
                  <a:pt x="280155" y="2242817"/>
                </a:lnTo>
                <a:lnTo>
                  <a:pt x="300976" y="2289057"/>
                </a:lnTo>
                <a:lnTo>
                  <a:pt x="322520" y="2334999"/>
                </a:lnTo>
                <a:lnTo>
                  <a:pt x="344784" y="2380636"/>
                </a:lnTo>
                <a:lnTo>
                  <a:pt x="367766" y="2425958"/>
                </a:lnTo>
                <a:lnTo>
                  <a:pt x="391463" y="2470957"/>
                </a:lnTo>
                <a:lnTo>
                  <a:pt x="415873" y="2515625"/>
                </a:lnTo>
                <a:lnTo>
                  <a:pt x="440994" y="2559951"/>
                </a:lnTo>
                <a:lnTo>
                  <a:pt x="466828" y="2603882"/>
                </a:lnTo>
                <a:lnTo>
                  <a:pt x="493311" y="2647366"/>
                </a:lnTo>
                <a:lnTo>
                  <a:pt x="520438" y="2690396"/>
                </a:lnTo>
                <a:lnTo>
                  <a:pt x="548201" y="2732966"/>
                </a:lnTo>
                <a:lnTo>
                  <a:pt x="576595" y="2775069"/>
                </a:lnTo>
                <a:lnTo>
                  <a:pt x="605613" y="2816701"/>
                </a:lnTo>
                <a:lnTo>
                  <a:pt x="635250" y="2857853"/>
                </a:lnTo>
                <a:lnTo>
                  <a:pt x="665498" y="2898521"/>
                </a:lnTo>
                <a:lnTo>
                  <a:pt x="696351" y="2938697"/>
                </a:lnTo>
                <a:lnTo>
                  <a:pt x="727803" y="2978375"/>
                </a:lnTo>
                <a:lnTo>
                  <a:pt x="759848" y="3017548"/>
                </a:lnTo>
                <a:lnTo>
                  <a:pt x="792479" y="3056212"/>
                </a:lnTo>
                <a:lnTo>
                  <a:pt x="825690" y="3094358"/>
                </a:lnTo>
                <a:lnTo>
                  <a:pt x="859475" y="3131982"/>
                </a:lnTo>
                <a:lnTo>
                  <a:pt x="893827" y="3169076"/>
                </a:lnTo>
                <a:lnTo>
                  <a:pt x="928741" y="3205634"/>
                </a:lnTo>
                <a:lnTo>
                  <a:pt x="964209" y="3241651"/>
                </a:lnTo>
                <a:lnTo>
                  <a:pt x="1000225" y="3277119"/>
                </a:lnTo>
                <a:lnTo>
                  <a:pt x="1036784" y="3312032"/>
                </a:lnTo>
                <a:lnTo>
                  <a:pt x="1073879" y="3346384"/>
                </a:lnTo>
                <a:lnTo>
                  <a:pt x="1111503" y="3380169"/>
                </a:lnTo>
                <a:lnTo>
                  <a:pt x="1149650" y="3413380"/>
                </a:lnTo>
                <a:lnTo>
                  <a:pt x="1188314" y="3446011"/>
                </a:lnTo>
                <a:lnTo>
                  <a:pt x="1227488" y="3478055"/>
                </a:lnTo>
                <a:lnTo>
                  <a:pt x="1267167" y="3509507"/>
                </a:lnTo>
                <a:lnTo>
                  <a:pt x="1307343" y="3540361"/>
                </a:lnTo>
                <a:lnTo>
                  <a:pt x="1348011" y="3570608"/>
                </a:lnTo>
                <a:lnTo>
                  <a:pt x="1389164" y="3600245"/>
                </a:lnTo>
                <a:lnTo>
                  <a:pt x="1430796" y="3629263"/>
                </a:lnTo>
                <a:lnTo>
                  <a:pt x="1472901" y="3657657"/>
                </a:lnTo>
                <a:lnTo>
                  <a:pt x="1515472" y="3685420"/>
                </a:lnTo>
                <a:lnTo>
                  <a:pt x="1558503" y="3712547"/>
                </a:lnTo>
                <a:lnTo>
                  <a:pt x="1601988" y="3739030"/>
                </a:lnTo>
                <a:lnTo>
                  <a:pt x="1645920" y="3764864"/>
                </a:lnTo>
                <a:lnTo>
                  <a:pt x="1690245" y="3789985"/>
                </a:lnTo>
                <a:lnTo>
                  <a:pt x="1734911" y="3814395"/>
                </a:lnTo>
                <a:lnTo>
                  <a:pt x="1779910" y="3838093"/>
                </a:lnTo>
                <a:lnTo>
                  <a:pt x="1825231" y="3861075"/>
                </a:lnTo>
                <a:lnTo>
                  <a:pt x="1870868" y="3883339"/>
                </a:lnTo>
                <a:lnTo>
                  <a:pt x="1916809" y="3904883"/>
                </a:lnTo>
                <a:lnTo>
                  <a:pt x="1963048" y="3925704"/>
                </a:lnTo>
                <a:lnTo>
                  <a:pt x="2009576" y="3945800"/>
                </a:lnTo>
                <a:lnTo>
                  <a:pt x="2056382" y="3965169"/>
                </a:lnTo>
                <a:lnTo>
                  <a:pt x="2103460" y="3983808"/>
                </a:lnTo>
                <a:lnTo>
                  <a:pt x="2150800" y="4001714"/>
                </a:lnTo>
                <a:lnTo>
                  <a:pt x="2198393" y="4018886"/>
                </a:lnTo>
                <a:lnTo>
                  <a:pt x="2246230" y="4035320"/>
                </a:lnTo>
                <a:lnTo>
                  <a:pt x="2294304" y="4051015"/>
                </a:lnTo>
                <a:lnTo>
                  <a:pt x="2342605" y="4065968"/>
                </a:lnTo>
                <a:lnTo>
                  <a:pt x="2391123" y="4080177"/>
                </a:lnTo>
                <a:lnTo>
                  <a:pt x="2439852" y="4093638"/>
                </a:lnTo>
                <a:lnTo>
                  <a:pt x="2488782" y="4106350"/>
                </a:lnTo>
                <a:lnTo>
                  <a:pt x="2537903" y="4118311"/>
                </a:lnTo>
                <a:lnTo>
                  <a:pt x="2587208" y="4129518"/>
                </a:lnTo>
                <a:lnTo>
                  <a:pt x="2636688" y="4139967"/>
                </a:lnTo>
                <a:lnTo>
                  <a:pt x="2686333" y="4149658"/>
                </a:lnTo>
                <a:lnTo>
                  <a:pt x="2736136" y="4158588"/>
                </a:lnTo>
                <a:lnTo>
                  <a:pt x="2786087" y="4166754"/>
                </a:lnTo>
                <a:lnTo>
                  <a:pt x="2836178" y="4174154"/>
                </a:lnTo>
                <a:lnTo>
                  <a:pt x="2886400" y="4180785"/>
                </a:lnTo>
                <a:lnTo>
                  <a:pt x="2936744" y="4186644"/>
                </a:lnTo>
                <a:lnTo>
                  <a:pt x="2987201" y="4191731"/>
                </a:lnTo>
                <a:lnTo>
                  <a:pt x="3037764" y="4196041"/>
                </a:lnTo>
                <a:lnTo>
                  <a:pt x="3088422" y="4199574"/>
                </a:lnTo>
                <a:lnTo>
                  <a:pt x="3139167" y="4202325"/>
                </a:lnTo>
                <a:lnTo>
                  <a:pt x="3189991" y="4204294"/>
                </a:lnTo>
                <a:lnTo>
                  <a:pt x="3240885" y="4205476"/>
                </a:lnTo>
                <a:lnTo>
                  <a:pt x="3291839" y="4205871"/>
                </a:lnTo>
                <a:lnTo>
                  <a:pt x="3342794" y="4205476"/>
                </a:lnTo>
                <a:lnTo>
                  <a:pt x="3393688" y="4204294"/>
                </a:lnTo>
                <a:lnTo>
                  <a:pt x="3444512" y="4202325"/>
                </a:lnTo>
                <a:lnTo>
                  <a:pt x="3495257" y="4199574"/>
                </a:lnTo>
                <a:lnTo>
                  <a:pt x="3545915" y="4196041"/>
                </a:lnTo>
                <a:lnTo>
                  <a:pt x="3596477" y="4191731"/>
                </a:lnTo>
                <a:lnTo>
                  <a:pt x="3646934" y="4186644"/>
                </a:lnTo>
                <a:lnTo>
                  <a:pt x="3697277" y="4180785"/>
                </a:lnTo>
                <a:lnTo>
                  <a:pt x="3747499" y="4174154"/>
                </a:lnTo>
                <a:lnTo>
                  <a:pt x="3797589" y="4166754"/>
                </a:lnTo>
                <a:lnTo>
                  <a:pt x="3847540" y="4158588"/>
                </a:lnTo>
                <a:lnTo>
                  <a:pt x="3871074" y="4154369"/>
                </a:lnTo>
                <a:lnTo>
                  <a:pt x="3871074" y="0"/>
                </a:lnTo>
                <a:close/>
              </a:path>
            </a:pathLst>
          </a:custGeom>
          <a:solidFill>
            <a:srgbClr val="790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692284" y="12"/>
            <a:ext cx="2499995" cy="2834640"/>
          </a:xfrm>
          <a:custGeom>
            <a:avLst/>
            <a:gdLst/>
            <a:ahLst/>
            <a:cxnLst/>
            <a:rect l="l" t="t" r="r" b="b"/>
            <a:pathLst>
              <a:path w="2499995" h="2834640">
                <a:moveTo>
                  <a:pt x="2499474" y="0"/>
                </a:moveTo>
                <a:lnTo>
                  <a:pt x="231613" y="0"/>
                </a:lnTo>
                <a:lnTo>
                  <a:pt x="209157" y="42643"/>
                </a:lnTo>
                <a:lnTo>
                  <a:pt x="186862" y="87828"/>
                </a:lnTo>
                <a:lnTo>
                  <a:pt x="165790" y="133527"/>
                </a:lnTo>
                <a:lnTo>
                  <a:pt x="145946" y="179714"/>
                </a:lnTo>
                <a:lnTo>
                  <a:pt x="127338" y="226364"/>
                </a:lnTo>
                <a:lnTo>
                  <a:pt x="109972" y="273452"/>
                </a:lnTo>
                <a:lnTo>
                  <a:pt x="93853" y="320953"/>
                </a:lnTo>
                <a:lnTo>
                  <a:pt x="78987" y="368842"/>
                </a:lnTo>
                <a:lnTo>
                  <a:pt x="65382" y="417093"/>
                </a:lnTo>
                <a:lnTo>
                  <a:pt x="53043" y="465682"/>
                </a:lnTo>
                <a:lnTo>
                  <a:pt x="41977" y="514583"/>
                </a:lnTo>
                <a:lnTo>
                  <a:pt x="32189" y="563771"/>
                </a:lnTo>
                <a:lnTo>
                  <a:pt x="23686" y="613222"/>
                </a:lnTo>
                <a:lnTo>
                  <a:pt x="16475" y="662911"/>
                </a:lnTo>
                <a:lnTo>
                  <a:pt x="10560" y="712811"/>
                </a:lnTo>
                <a:lnTo>
                  <a:pt x="5949" y="762898"/>
                </a:lnTo>
                <a:lnTo>
                  <a:pt x="2648" y="813147"/>
                </a:lnTo>
                <a:lnTo>
                  <a:pt x="663" y="863533"/>
                </a:lnTo>
                <a:lnTo>
                  <a:pt x="0" y="914031"/>
                </a:lnTo>
                <a:lnTo>
                  <a:pt x="663" y="964527"/>
                </a:lnTo>
                <a:lnTo>
                  <a:pt x="2648" y="1014912"/>
                </a:lnTo>
                <a:lnTo>
                  <a:pt x="5949" y="1065160"/>
                </a:lnTo>
                <a:lnTo>
                  <a:pt x="10560" y="1115247"/>
                </a:lnTo>
                <a:lnTo>
                  <a:pt x="16475" y="1165147"/>
                </a:lnTo>
                <a:lnTo>
                  <a:pt x="23686" y="1214834"/>
                </a:lnTo>
                <a:lnTo>
                  <a:pt x="32189" y="1264285"/>
                </a:lnTo>
                <a:lnTo>
                  <a:pt x="41977" y="1313474"/>
                </a:lnTo>
                <a:lnTo>
                  <a:pt x="53043" y="1362376"/>
                </a:lnTo>
                <a:lnTo>
                  <a:pt x="65382" y="1410965"/>
                </a:lnTo>
                <a:lnTo>
                  <a:pt x="78987" y="1459216"/>
                </a:lnTo>
                <a:lnTo>
                  <a:pt x="93853" y="1507106"/>
                </a:lnTo>
                <a:lnTo>
                  <a:pt x="109972" y="1554607"/>
                </a:lnTo>
                <a:lnTo>
                  <a:pt x="127338" y="1601696"/>
                </a:lnTo>
                <a:lnTo>
                  <a:pt x="145946" y="1648346"/>
                </a:lnTo>
                <a:lnTo>
                  <a:pt x="165790" y="1694534"/>
                </a:lnTo>
                <a:lnTo>
                  <a:pt x="186862" y="1740233"/>
                </a:lnTo>
                <a:lnTo>
                  <a:pt x="209157" y="1785419"/>
                </a:lnTo>
                <a:lnTo>
                  <a:pt x="232668" y="1830067"/>
                </a:lnTo>
                <a:lnTo>
                  <a:pt x="257390" y="1874151"/>
                </a:lnTo>
                <a:lnTo>
                  <a:pt x="283214" y="1917570"/>
                </a:lnTo>
                <a:lnTo>
                  <a:pt x="310127" y="1960225"/>
                </a:lnTo>
                <a:lnTo>
                  <a:pt x="338111" y="2002098"/>
                </a:lnTo>
                <a:lnTo>
                  <a:pt x="367147" y="2043173"/>
                </a:lnTo>
                <a:lnTo>
                  <a:pt x="397217" y="2083429"/>
                </a:lnTo>
                <a:lnTo>
                  <a:pt x="428304" y="2122850"/>
                </a:lnTo>
                <a:lnTo>
                  <a:pt x="460389" y="2161417"/>
                </a:lnTo>
                <a:lnTo>
                  <a:pt x="493455" y="2199113"/>
                </a:lnTo>
                <a:lnTo>
                  <a:pt x="527482" y="2235918"/>
                </a:lnTo>
                <a:lnTo>
                  <a:pt x="562454" y="2271815"/>
                </a:lnTo>
                <a:lnTo>
                  <a:pt x="598352" y="2306786"/>
                </a:lnTo>
                <a:lnTo>
                  <a:pt x="635157" y="2340813"/>
                </a:lnTo>
                <a:lnTo>
                  <a:pt x="672853" y="2373878"/>
                </a:lnTo>
                <a:lnTo>
                  <a:pt x="711420" y="2405962"/>
                </a:lnTo>
                <a:lnTo>
                  <a:pt x="750841" y="2437048"/>
                </a:lnTo>
                <a:lnTo>
                  <a:pt x="791098" y="2467118"/>
                </a:lnTo>
                <a:lnTo>
                  <a:pt x="832172" y="2496152"/>
                </a:lnTo>
                <a:lnTo>
                  <a:pt x="874046" y="2524134"/>
                </a:lnTo>
                <a:lnTo>
                  <a:pt x="916701" y="2551045"/>
                </a:lnTo>
                <a:lnTo>
                  <a:pt x="960120" y="2576868"/>
                </a:lnTo>
                <a:lnTo>
                  <a:pt x="1004204" y="2601590"/>
                </a:lnTo>
                <a:lnTo>
                  <a:pt x="1048851" y="2625102"/>
                </a:lnTo>
                <a:lnTo>
                  <a:pt x="1094037" y="2647397"/>
                </a:lnTo>
                <a:lnTo>
                  <a:pt x="1139736" y="2668470"/>
                </a:lnTo>
                <a:lnTo>
                  <a:pt x="1185923" y="2688314"/>
                </a:lnTo>
                <a:lnTo>
                  <a:pt x="1232573" y="2706922"/>
                </a:lnTo>
                <a:lnTo>
                  <a:pt x="1279661" y="2724290"/>
                </a:lnTo>
                <a:lnTo>
                  <a:pt x="1327161" y="2740410"/>
                </a:lnTo>
                <a:lnTo>
                  <a:pt x="1375050" y="2755276"/>
                </a:lnTo>
                <a:lnTo>
                  <a:pt x="1423301" y="2768882"/>
                </a:lnTo>
                <a:lnTo>
                  <a:pt x="1471890" y="2781222"/>
                </a:lnTo>
                <a:lnTo>
                  <a:pt x="1520791" y="2792289"/>
                </a:lnTo>
                <a:lnTo>
                  <a:pt x="1569980" y="2802078"/>
                </a:lnTo>
                <a:lnTo>
                  <a:pt x="1619431" y="2810582"/>
                </a:lnTo>
                <a:lnTo>
                  <a:pt x="1669119" y="2817794"/>
                </a:lnTo>
                <a:lnTo>
                  <a:pt x="1719019" y="2823709"/>
                </a:lnTo>
                <a:lnTo>
                  <a:pt x="1769106" y="2828321"/>
                </a:lnTo>
                <a:lnTo>
                  <a:pt x="1819356" y="2831622"/>
                </a:lnTo>
                <a:lnTo>
                  <a:pt x="1869742" y="2833608"/>
                </a:lnTo>
                <a:lnTo>
                  <a:pt x="1920239" y="2834271"/>
                </a:lnTo>
                <a:lnTo>
                  <a:pt x="1970736" y="2833608"/>
                </a:lnTo>
                <a:lnTo>
                  <a:pt x="2021120" y="2831622"/>
                </a:lnTo>
                <a:lnTo>
                  <a:pt x="2071369" y="2828321"/>
                </a:lnTo>
                <a:lnTo>
                  <a:pt x="2121455" y="2823709"/>
                </a:lnTo>
                <a:lnTo>
                  <a:pt x="2171355" y="2817794"/>
                </a:lnTo>
                <a:lnTo>
                  <a:pt x="2221043" y="2810582"/>
                </a:lnTo>
                <a:lnTo>
                  <a:pt x="2270494" y="2802078"/>
                </a:lnTo>
                <a:lnTo>
                  <a:pt x="2319682" y="2792289"/>
                </a:lnTo>
                <a:lnTo>
                  <a:pt x="2368584" y="2781222"/>
                </a:lnTo>
                <a:lnTo>
                  <a:pt x="2417173" y="2768882"/>
                </a:lnTo>
                <a:lnTo>
                  <a:pt x="2465425" y="2755276"/>
                </a:lnTo>
                <a:lnTo>
                  <a:pt x="2499474" y="2744706"/>
                </a:lnTo>
                <a:lnTo>
                  <a:pt x="2499474" y="0"/>
                </a:lnTo>
                <a:close/>
              </a:path>
            </a:pathLst>
          </a:custGeom>
          <a:solidFill>
            <a:srgbClr val="C70F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4205884"/>
            <a:ext cx="2194560" cy="2651760"/>
          </a:xfrm>
          <a:custGeom>
            <a:avLst/>
            <a:gdLst/>
            <a:ahLst/>
            <a:cxnLst/>
            <a:rect l="l" t="t" r="r" b="b"/>
            <a:pathLst>
              <a:path w="2194560" h="2651759">
                <a:moveTo>
                  <a:pt x="91084" y="0"/>
                </a:moveTo>
                <a:lnTo>
                  <a:pt x="40807" y="601"/>
                </a:lnTo>
                <a:lnTo>
                  <a:pt x="0" y="2066"/>
                </a:lnTo>
                <a:lnTo>
                  <a:pt x="0" y="2651760"/>
                </a:lnTo>
                <a:lnTo>
                  <a:pt x="2121289" y="2651760"/>
                </a:lnTo>
                <a:lnTo>
                  <a:pt x="2122516" y="2647392"/>
                </a:lnTo>
                <a:lnTo>
                  <a:pt x="2134866" y="2599023"/>
                </a:lnTo>
                <a:lnTo>
                  <a:pt x="2146066" y="2550370"/>
                </a:lnTo>
                <a:lnTo>
                  <a:pt x="2156111" y="2501452"/>
                </a:lnTo>
                <a:lnTo>
                  <a:pt x="2164994" y="2452292"/>
                </a:lnTo>
                <a:lnTo>
                  <a:pt x="2172711" y="2402909"/>
                </a:lnTo>
                <a:lnTo>
                  <a:pt x="2179255" y="2353326"/>
                </a:lnTo>
                <a:lnTo>
                  <a:pt x="2184622" y="2303562"/>
                </a:lnTo>
                <a:lnTo>
                  <a:pt x="2188806" y="2253638"/>
                </a:lnTo>
                <a:lnTo>
                  <a:pt x="2191801" y="2203576"/>
                </a:lnTo>
                <a:lnTo>
                  <a:pt x="2193602" y="2153396"/>
                </a:lnTo>
                <a:lnTo>
                  <a:pt x="2194204" y="2103119"/>
                </a:lnTo>
                <a:lnTo>
                  <a:pt x="2193602" y="2052843"/>
                </a:lnTo>
                <a:lnTo>
                  <a:pt x="2191801" y="2002663"/>
                </a:lnTo>
                <a:lnTo>
                  <a:pt x="2188806" y="1952600"/>
                </a:lnTo>
                <a:lnTo>
                  <a:pt x="2184622" y="1902676"/>
                </a:lnTo>
                <a:lnTo>
                  <a:pt x="2179255" y="1852912"/>
                </a:lnTo>
                <a:lnTo>
                  <a:pt x="2172711" y="1803328"/>
                </a:lnTo>
                <a:lnTo>
                  <a:pt x="2164994" y="1753944"/>
                </a:lnTo>
                <a:lnTo>
                  <a:pt x="2156111" y="1704783"/>
                </a:lnTo>
                <a:lnTo>
                  <a:pt x="2146066" y="1655865"/>
                </a:lnTo>
                <a:lnTo>
                  <a:pt x="2134866" y="1607211"/>
                </a:lnTo>
                <a:lnTo>
                  <a:pt x="2122516" y="1558842"/>
                </a:lnTo>
                <a:lnTo>
                  <a:pt x="2109020" y="1510778"/>
                </a:lnTo>
                <a:lnTo>
                  <a:pt x="2094386" y="1463042"/>
                </a:lnTo>
                <a:lnTo>
                  <a:pt x="2078618" y="1415652"/>
                </a:lnTo>
                <a:lnTo>
                  <a:pt x="2061721" y="1368631"/>
                </a:lnTo>
                <a:lnTo>
                  <a:pt x="2043702" y="1322000"/>
                </a:lnTo>
                <a:lnTo>
                  <a:pt x="2024566" y="1275779"/>
                </a:lnTo>
                <a:lnTo>
                  <a:pt x="2004317" y="1229989"/>
                </a:lnTo>
                <a:lnTo>
                  <a:pt x="1982962" y="1184651"/>
                </a:lnTo>
                <a:lnTo>
                  <a:pt x="1960507" y="1139786"/>
                </a:lnTo>
                <a:lnTo>
                  <a:pt x="1936956" y="1095415"/>
                </a:lnTo>
                <a:lnTo>
                  <a:pt x="1912315" y="1051559"/>
                </a:lnTo>
                <a:lnTo>
                  <a:pt x="1886679" y="1008303"/>
                </a:lnTo>
                <a:lnTo>
                  <a:pt x="1860050" y="965732"/>
                </a:lnTo>
                <a:lnTo>
                  <a:pt x="1832443" y="923861"/>
                </a:lnTo>
                <a:lnTo>
                  <a:pt x="1803874" y="882706"/>
                </a:lnTo>
                <a:lnTo>
                  <a:pt x="1774358" y="842282"/>
                </a:lnTo>
                <a:lnTo>
                  <a:pt x="1743910" y="802604"/>
                </a:lnTo>
                <a:lnTo>
                  <a:pt x="1712546" y="763689"/>
                </a:lnTo>
                <a:lnTo>
                  <a:pt x="1680282" y="725551"/>
                </a:lnTo>
                <a:lnTo>
                  <a:pt x="1647132" y="688205"/>
                </a:lnTo>
                <a:lnTo>
                  <a:pt x="1613112" y="651668"/>
                </a:lnTo>
                <a:lnTo>
                  <a:pt x="1578238" y="615954"/>
                </a:lnTo>
                <a:lnTo>
                  <a:pt x="1542525" y="581080"/>
                </a:lnTo>
                <a:lnTo>
                  <a:pt x="1505988" y="547060"/>
                </a:lnTo>
                <a:lnTo>
                  <a:pt x="1468643" y="513910"/>
                </a:lnTo>
                <a:lnTo>
                  <a:pt x="1430506" y="481645"/>
                </a:lnTo>
                <a:lnTo>
                  <a:pt x="1391591" y="450281"/>
                </a:lnTo>
                <a:lnTo>
                  <a:pt x="1351915" y="419833"/>
                </a:lnTo>
                <a:lnTo>
                  <a:pt x="1311492" y="390317"/>
                </a:lnTo>
                <a:lnTo>
                  <a:pt x="1270338" y="361747"/>
                </a:lnTo>
                <a:lnTo>
                  <a:pt x="1228468" y="334141"/>
                </a:lnTo>
                <a:lnTo>
                  <a:pt x="1185898" y="307512"/>
                </a:lnTo>
                <a:lnTo>
                  <a:pt x="1142644" y="281876"/>
                </a:lnTo>
                <a:lnTo>
                  <a:pt x="1098786" y="257235"/>
                </a:lnTo>
                <a:lnTo>
                  <a:pt x="1054414" y="233684"/>
                </a:lnTo>
                <a:lnTo>
                  <a:pt x="1009548" y="211229"/>
                </a:lnTo>
                <a:lnTo>
                  <a:pt x="964210" y="189875"/>
                </a:lnTo>
                <a:lnTo>
                  <a:pt x="918419" y="169627"/>
                </a:lnTo>
                <a:lnTo>
                  <a:pt x="872198" y="150491"/>
                </a:lnTo>
                <a:lnTo>
                  <a:pt x="825566" y="132472"/>
                </a:lnTo>
                <a:lnTo>
                  <a:pt x="778546" y="115577"/>
                </a:lnTo>
                <a:lnTo>
                  <a:pt x="731156" y="99809"/>
                </a:lnTo>
                <a:lnTo>
                  <a:pt x="683420" y="85176"/>
                </a:lnTo>
                <a:lnTo>
                  <a:pt x="635357" y="71681"/>
                </a:lnTo>
                <a:lnTo>
                  <a:pt x="586988" y="59332"/>
                </a:lnTo>
                <a:lnTo>
                  <a:pt x="538334" y="48133"/>
                </a:lnTo>
                <a:lnTo>
                  <a:pt x="489417" y="38089"/>
                </a:lnTo>
                <a:lnTo>
                  <a:pt x="440256" y="29206"/>
                </a:lnTo>
                <a:lnTo>
                  <a:pt x="390874" y="21490"/>
                </a:lnTo>
                <a:lnTo>
                  <a:pt x="341290" y="14947"/>
                </a:lnTo>
                <a:lnTo>
                  <a:pt x="291526" y="9580"/>
                </a:lnTo>
                <a:lnTo>
                  <a:pt x="241602" y="5397"/>
                </a:lnTo>
                <a:lnTo>
                  <a:pt x="191540" y="2402"/>
                </a:lnTo>
                <a:lnTo>
                  <a:pt x="141360" y="601"/>
                </a:lnTo>
                <a:lnTo>
                  <a:pt x="91084" y="0"/>
                </a:lnTo>
                <a:close/>
              </a:path>
            </a:pathLst>
          </a:custGeom>
          <a:solidFill>
            <a:srgbClr val="2323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594359" y="594004"/>
            <a:ext cx="777240" cy="777875"/>
          </a:xfrm>
          <a:custGeom>
            <a:avLst/>
            <a:gdLst/>
            <a:ahLst/>
            <a:cxnLst/>
            <a:rect l="l" t="t" r="r" b="b"/>
            <a:pathLst>
              <a:path w="777240" h="777875">
                <a:moveTo>
                  <a:pt x="388797" y="0"/>
                </a:moveTo>
                <a:lnTo>
                  <a:pt x="337868" y="3346"/>
                </a:lnTo>
                <a:lnTo>
                  <a:pt x="288088" y="13273"/>
                </a:lnTo>
                <a:lnTo>
                  <a:pt x="240063" y="29612"/>
                </a:lnTo>
                <a:lnTo>
                  <a:pt x="194398" y="52197"/>
                </a:lnTo>
                <a:lnTo>
                  <a:pt x="152030" y="80541"/>
                </a:lnTo>
                <a:lnTo>
                  <a:pt x="113849" y="113982"/>
                </a:lnTo>
                <a:lnTo>
                  <a:pt x="80391" y="152080"/>
                </a:lnTo>
                <a:lnTo>
                  <a:pt x="52196" y="194398"/>
                </a:lnTo>
                <a:lnTo>
                  <a:pt x="29612" y="240113"/>
                </a:lnTo>
                <a:lnTo>
                  <a:pt x="13273" y="288221"/>
                </a:lnTo>
                <a:lnTo>
                  <a:pt x="3346" y="338018"/>
                </a:lnTo>
                <a:lnTo>
                  <a:pt x="0" y="388797"/>
                </a:lnTo>
                <a:lnTo>
                  <a:pt x="3346" y="439571"/>
                </a:lnTo>
                <a:lnTo>
                  <a:pt x="13273" y="489369"/>
                </a:lnTo>
                <a:lnTo>
                  <a:pt x="29612" y="537480"/>
                </a:lnTo>
                <a:lnTo>
                  <a:pt x="52196" y="583196"/>
                </a:lnTo>
                <a:lnTo>
                  <a:pt x="80391" y="625514"/>
                </a:lnTo>
                <a:lnTo>
                  <a:pt x="113849" y="663613"/>
                </a:lnTo>
                <a:lnTo>
                  <a:pt x="152030" y="697053"/>
                </a:lnTo>
                <a:lnTo>
                  <a:pt x="194398" y="725398"/>
                </a:lnTo>
                <a:lnTo>
                  <a:pt x="240063" y="747982"/>
                </a:lnTo>
                <a:lnTo>
                  <a:pt x="288088" y="764322"/>
                </a:lnTo>
                <a:lnTo>
                  <a:pt x="337868" y="774249"/>
                </a:lnTo>
                <a:lnTo>
                  <a:pt x="388797" y="777595"/>
                </a:lnTo>
                <a:lnTo>
                  <a:pt x="439521" y="774249"/>
                </a:lnTo>
                <a:lnTo>
                  <a:pt x="489196" y="764322"/>
                </a:lnTo>
                <a:lnTo>
                  <a:pt x="537182" y="747982"/>
                </a:lnTo>
                <a:lnTo>
                  <a:pt x="582841" y="725398"/>
                </a:lnTo>
                <a:lnTo>
                  <a:pt x="625209" y="697053"/>
                </a:lnTo>
                <a:lnTo>
                  <a:pt x="663390" y="663613"/>
                </a:lnTo>
                <a:lnTo>
                  <a:pt x="696848" y="625514"/>
                </a:lnTo>
                <a:lnTo>
                  <a:pt x="725043" y="583196"/>
                </a:lnTo>
                <a:lnTo>
                  <a:pt x="747627" y="537480"/>
                </a:lnTo>
                <a:lnTo>
                  <a:pt x="763966" y="489369"/>
                </a:lnTo>
                <a:lnTo>
                  <a:pt x="773893" y="439571"/>
                </a:lnTo>
                <a:lnTo>
                  <a:pt x="777240" y="388797"/>
                </a:lnTo>
                <a:lnTo>
                  <a:pt x="773893" y="338018"/>
                </a:lnTo>
                <a:lnTo>
                  <a:pt x="763966" y="288221"/>
                </a:lnTo>
                <a:lnTo>
                  <a:pt x="747627" y="240113"/>
                </a:lnTo>
                <a:lnTo>
                  <a:pt x="725043" y="194398"/>
                </a:lnTo>
                <a:lnTo>
                  <a:pt x="696848" y="152080"/>
                </a:lnTo>
                <a:lnTo>
                  <a:pt x="663390" y="113982"/>
                </a:lnTo>
                <a:lnTo>
                  <a:pt x="625209" y="80541"/>
                </a:lnTo>
                <a:lnTo>
                  <a:pt x="582841" y="52197"/>
                </a:lnTo>
                <a:lnTo>
                  <a:pt x="537182" y="29612"/>
                </a:lnTo>
                <a:lnTo>
                  <a:pt x="489196" y="13273"/>
                </a:lnTo>
                <a:lnTo>
                  <a:pt x="439521" y="3346"/>
                </a:lnTo>
                <a:lnTo>
                  <a:pt x="388797" y="0"/>
                </a:lnTo>
                <a:close/>
              </a:path>
            </a:pathLst>
          </a:custGeom>
          <a:solidFill>
            <a:srgbClr val="C70F2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834" y="780478"/>
            <a:ext cx="403923" cy="4039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3400" y="635000"/>
            <a:ext cx="9517380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1650" y="1771650"/>
            <a:ext cx="11188700" cy="2806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584" y="2402179"/>
            <a:ext cx="3884016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55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1300" b="1" spc="-105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spc="-35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1300" b="1" spc="-9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spc="-6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300" b="1" spc="-10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spc="-25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300" b="1" spc="-105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300" b="1" spc="-10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spc="-11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300" b="1" spc="-114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spc="-6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300" b="1" spc="-95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300" b="1" spc="375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spc="-6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300" b="1" spc="-11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spc="-16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300" b="1" spc="-105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spc="-75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300" b="1" spc="-9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spc="-5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300" b="1" spc="-20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spc="-16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300" b="1" spc="-105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spc="-11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300" b="1" spc="-105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spc="-6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sz="1300" b="1" spc="-12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300" b="1" spc="47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spc="-12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300" b="1" spc="-10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spc="-5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300" b="1" spc="-9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spc="-6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300" b="1" spc="-95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300" b="1" spc="47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spc="-6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300" b="1" spc="-11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spc="-16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300" b="1" spc="-105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spc="-35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1300" b="1" spc="-9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spc="-35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300" b="1" spc="-135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1" spc="-5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584" y="2623578"/>
            <a:ext cx="7780020" cy="25006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20320">
              <a:lnSpc>
                <a:spcPts val="5040"/>
              </a:lnSpc>
              <a:spcBef>
                <a:spcPts val="65"/>
              </a:spcBef>
            </a:pPr>
            <a:r>
              <a:rPr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Scaling</a:t>
            </a:r>
            <a:r>
              <a:rPr sz="40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105" dirty="0">
                <a:solidFill>
                  <a:srgbClr val="FFFFFF"/>
                </a:solidFill>
                <a:latin typeface="Times New Roman"/>
                <a:cs typeface="Times New Roman"/>
              </a:rPr>
              <a:t>Budweiser</a:t>
            </a:r>
            <a:r>
              <a:rPr sz="40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100" dirty="0">
                <a:solidFill>
                  <a:srgbClr val="FFFFFF"/>
                </a:solidFill>
                <a:latin typeface="Times New Roman"/>
                <a:cs typeface="Times New Roman"/>
              </a:rPr>
              <a:t>Beats</a:t>
            </a:r>
            <a:r>
              <a:rPr sz="40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15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40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India’s </a:t>
            </a:r>
            <a:r>
              <a:rPr sz="4000" b="1" spc="-36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lang="en-IN" sz="4000" b="1" spc="-3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365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lang="en-IN" sz="4000" b="1" spc="-3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Commerce</a:t>
            </a:r>
            <a:r>
              <a:rPr sz="40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IN" sz="4000" b="1" spc="55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4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Quick-</a:t>
            </a:r>
            <a:r>
              <a:rPr sz="4000" b="1" spc="35" dirty="0">
                <a:solidFill>
                  <a:srgbClr val="FFFFFF"/>
                </a:solidFill>
                <a:latin typeface="Times New Roman"/>
                <a:cs typeface="Times New Roman"/>
              </a:rPr>
              <a:t>Commerce </a:t>
            </a:r>
            <a:r>
              <a:rPr sz="4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Market</a:t>
            </a:r>
            <a:endParaRPr sz="4000" dirty="0">
              <a:latin typeface="Times New Roman"/>
              <a:cs typeface="Times New Roman"/>
            </a:endParaRPr>
          </a:p>
          <a:p>
            <a:pPr marL="12700" marR="5080">
              <a:lnSpc>
                <a:spcPct val="119900"/>
              </a:lnSpc>
              <a:spcBef>
                <a:spcPts val="225"/>
              </a:spcBef>
            </a:pPr>
            <a:r>
              <a:rPr sz="1450" spc="-50" dirty="0">
                <a:solidFill>
                  <a:srgbClr val="D8D8D8"/>
                </a:solidFill>
                <a:latin typeface="Tahoma"/>
                <a:cs typeface="Tahoma"/>
              </a:rPr>
              <a:t>A</a:t>
            </a:r>
            <a:r>
              <a:rPr sz="1450" spc="-75" dirty="0">
                <a:solidFill>
                  <a:srgbClr val="D8D8D8"/>
                </a:solidFill>
                <a:latin typeface="Tahoma"/>
                <a:cs typeface="Tahoma"/>
              </a:rPr>
              <a:t> </a:t>
            </a:r>
            <a:r>
              <a:rPr sz="1450" spc="-65" dirty="0">
                <a:solidFill>
                  <a:srgbClr val="D8D8D8"/>
                </a:solidFill>
                <a:latin typeface="Tahoma"/>
                <a:cs typeface="Tahoma"/>
              </a:rPr>
              <a:t>consumer</a:t>
            </a:r>
            <a:r>
              <a:rPr sz="1450" spc="-60" dirty="0">
                <a:solidFill>
                  <a:srgbClr val="D8D8D8"/>
                </a:solidFill>
                <a:latin typeface="Tahoma"/>
                <a:cs typeface="Tahoma"/>
              </a:rPr>
              <a:t> </a:t>
            </a:r>
            <a:r>
              <a:rPr sz="1450" spc="-65" dirty="0">
                <a:solidFill>
                  <a:srgbClr val="D8D8D8"/>
                </a:solidFill>
                <a:latin typeface="Tahoma"/>
                <a:cs typeface="Tahoma"/>
              </a:rPr>
              <a:t>segmentation,</a:t>
            </a:r>
            <a:r>
              <a:rPr sz="1450" spc="-60" dirty="0">
                <a:solidFill>
                  <a:srgbClr val="D8D8D8"/>
                </a:solidFill>
                <a:latin typeface="Tahoma"/>
                <a:cs typeface="Tahoma"/>
              </a:rPr>
              <a:t> regional, channel</a:t>
            </a:r>
            <a:r>
              <a:rPr sz="1450" spc="-75" dirty="0">
                <a:solidFill>
                  <a:srgbClr val="D8D8D8"/>
                </a:solidFill>
                <a:latin typeface="Tahoma"/>
                <a:cs typeface="Tahoma"/>
              </a:rPr>
              <a:t> </a:t>
            </a:r>
            <a:r>
              <a:rPr sz="1450" spc="-65" dirty="0">
                <a:solidFill>
                  <a:srgbClr val="D8D8D8"/>
                </a:solidFill>
                <a:latin typeface="Tahoma"/>
                <a:cs typeface="Tahoma"/>
              </a:rPr>
              <a:t>and </a:t>
            </a:r>
            <a:r>
              <a:rPr sz="1450" spc="-55" dirty="0">
                <a:solidFill>
                  <a:srgbClr val="D8D8D8"/>
                </a:solidFill>
                <a:latin typeface="Tahoma"/>
                <a:cs typeface="Tahoma"/>
              </a:rPr>
              <a:t>sustainability</a:t>
            </a:r>
            <a:r>
              <a:rPr sz="1450" spc="-70" dirty="0">
                <a:solidFill>
                  <a:srgbClr val="D8D8D8"/>
                </a:solidFill>
                <a:latin typeface="Tahoma"/>
                <a:cs typeface="Tahoma"/>
              </a:rPr>
              <a:t> strategy</a:t>
            </a:r>
            <a:r>
              <a:rPr sz="1450" spc="-75" dirty="0">
                <a:solidFill>
                  <a:srgbClr val="D8D8D8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D8D8D8"/>
                </a:solidFill>
                <a:latin typeface="Tahoma"/>
                <a:cs typeface="Tahoma"/>
              </a:rPr>
              <a:t>to</a:t>
            </a:r>
            <a:r>
              <a:rPr sz="1450" spc="-70" dirty="0">
                <a:solidFill>
                  <a:srgbClr val="D8D8D8"/>
                </a:solidFill>
                <a:latin typeface="Tahoma"/>
                <a:cs typeface="Tahoma"/>
              </a:rPr>
              <a:t> grow</a:t>
            </a:r>
            <a:r>
              <a:rPr sz="1450" spc="-65" dirty="0">
                <a:solidFill>
                  <a:srgbClr val="D8D8D8"/>
                </a:solidFill>
                <a:latin typeface="Tahoma"/>
                <a:cs typeface="Tahoma"/>
              </a:rPr>
              <a:t> AB</a:t>
            </a:r>
            <a:r>
              <a:rPr sz="1450" spc="-75" dirty="0">
                <a:solidFill>
                  <a:srgbClr val="D8D8D8"/>
                </a:solidFill>
                <a:latin typeface="Tahoma"/>
                <a:cs typeface="Tahoma"/>
              </a:rPr>
              <a:t> </a:t>
            </a:r>
            <a:r>
              <a:rPr sz="1450" spc="-80" dirty="0">
                <a:solidFill>
                  <a:srgbClr val="D8D8D8"/>
                </a:solidFill>
                <a:latin typeface="Tahoma"/>
                <a:cs typeface="Tahoma"/>
              </a:rPr>
              <a:t>InBev’s</a:t>
            </a:r>
            <a:r>
              <a:rPr sz="1450" spc="-60" dirty="0">
                <a:solidFill>
                  <a:srgbClr val="D8D8D8"/>
                </a:solidFill>
                <a:latin typeface="Tahoma"/>
                <a:cs typeface="Tahoma"/>
              </a:rPr>
              <a:t> </a:t>
            </a:r>
            <a:r>
              <a:rPr sz="1450" spc="-80" dirty="0">
                <a:solidFill>
                  <a:srgbClr val="D8D8D8"/>
                </a:solidFill>
                <a:latin typeface="Tahoma"/>
                <a:cs typeface="Tahoma"/>
              </a:rPr>
              <a:t>energy-</a:t>
            </a:r>
            <a:r>
              <a:rPr sz="1450" spc="-10" dirty="0">
                <a:solidFill>
                  <a:srgbClr val="D8D8D8"/>
                </a:solidFill>
                <a:latin typeface="Tahoma"/>
                <a:cs typeface="Tahoma"/>
              </a:rPr>
              <a:t>drink </a:t>
            </a:r>
            <a:r>
              <a:rPr sz="1450" spc="-60" dirty="0">
                <a:solidFill>
                  <a:srgbClr val="D8D8D8"/>
                </a:solidFill>
                <a:latin typeface="Tahoma"/>
                <a:cs typeface="Tahoma"/>
              </a:rPr>
              <a:t>brand</a:t>
            </a:r>
            <a:r>
              <a:rPr sz="1450" spc="-75" dirty="0">
                <a:solidFill>
                  <a:srgbClr val="D8D8D8"/>
                </a:solidFill>
                <a:latin typeface="Tahoma"/>
                <a:cs typeface="Tahoma"/>
              </a:rPr>
              <a:t> </a:t>
            </a:r>
            <a:r>
              <a:rPr sz="1450" spc="-45" dirty="0">
                <a:solidFill>
                  <a:srgbClr val="D8D8D8"/>
                </a:solidFill>
                <a:latin typeface="Tahoma"/>
                <a:cs typeface="Tahoma"/>
              </a:rPr>
              <a:t>profitably</a:t>
            </a:r>
            <a:r>
              <a:rPr sz="1450" spc="-75" dirty="0">
                <a:solidFill>
                  <a:srgbClr val="D8D8D8"/>
                </a:solidFill>
                <a:latin typeface="Tahoma"/>
                <a:cs typeface="Tahoma"/>
              </a:rPr>
              <a:t> </a:t>
            </a:r>
            <a:r>
              <a:rPr sz="1450" spc="-70" dirty="0">
                <a:solidFill>
                  <a:srgbClr val="D8D8D8"/>
                </a:solidFill>
                <a:latin typeface="Tahoma"/>
                <a:cs typeface="Tahoma"/>
              </a:rPr>
              <a:t>across</a:t>
            </a:r>
            <a:r>
              <a:rPr sz="1450" spc="-75" dirty="0">
                <a:solidFill>
                  <a:srgbClr val="D8D8D8"/>
                </a:solidFill>
                <a:latin typeface="Tahoma"/>
                <a:cs typeface="Tahoma"/>
              </a:rPr>
              <a:t> India’s</a:t>
            </a:r>
            <a:r>
              <a:rPr sz="1450" spc="-80" dirty="0">
                <a:solidFill>
                  <a:srgbClr val="D8D8D8"/>
                </a:solidFill>
                <a:latin typeface="Tahoma"/>
                <a:cs typeface="Tahoma"/>
              </a:rPr>
              <a:t> </a:t>
            </a:r>
            <a:r>
              <a:rPr sz="1450" spc="-55" dirty="0">
                <a:solidFill>
                  <a:srgbClr val="D8D8D8"/>
                </a:solidFill>
                <a:latin typeface="Tahoma"/>
                <a:cs typeface="Tahoma"/>
              </a:rPr>
              <a:t>digital-</a:t>
            </a:r>
            <a:r>
              <a:rPr sz="1450" spc="-45" dirty="0">
                <a:solidFill>
                  <a:srgbClr val="D8D8D8"/>
                </a:solidFill>
                <a:latin typeface="Tahoma"/>
                <a:cs typeface="Tahoma"/>
              </a:rPr>
              <a:t>first</a:t>
            </a:r>
            <a:r>
              <a:rPr sz="1450" spc="-70" dirty="0">
                <a:solidFill>
                  <a:srgbClr val="D8D8D8"/>
                </a:solidFill>
                <a:latin typeface="Tahoma"/>
                <a:cs typeface="Tahoma"/>
              </a:rPr>
              <a:t> </a:t>
            </a:r>
            <a:r>
              <a:rPr sz="1450" spc="-40" dirty="0">
                <a:solidFill>
                  <a:srgbClr val="D8D8D8"/>
                </a:solidFill>
                <a:latin typeface="Tahoma"/>
                <a:cs typeface="Tahoma"/>
              </a:rPr>
              <a:t>retail</a:t>
            </a:r>
            <a:r>
              <a:rPr sz="1450" spc="-80" dirty="0">
                <a:solidFill>
                  <a:srgbClr val="D8D8D8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D8D8D8"/>
                </a:solidFill>
                <a:latin typeface="Tahoma"/>
                <a:cs typeface="Tahoma"/>
              </a:rPr>
              <a:t>landscape.</a:t>
            </a:r>
            <a:endParaRPr sz="1450" dirty="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8640" y="5988964"/>
            <a:ext cx="411480" cy="27305"/>
          </a:xfrm>
          <a:custGeom>
            <a:avLst/>
            <a:gdLst/>
            <a:ahLst/>
            <a:cxnLst/>
            <a:rect l="l" t="t" r="r" b="b"/>
            <a:pathLst>
              <a:path w="411480" h="27304">
                <a:moveTo>
                  <a:pt x="411124" y="0"/>
                </a:moveTo>
                <a:lnTo>
                  <a:pt x="0" y="0"/>
                </a:lnTo>
                <a:lnTo>
                  <a:pt x="0" y="27000"/>
                </a:lnTo>
                <a:lnTo>
                  <a:pt x="205562" y="27000"/>
                </a:lnTo>
                <a:lnTo>
                  <a:pt x="411124" y="27000"/>
                </a:lnTo>
                <a:lnTo>
                  <a:pt x="411124" y="0"/>
                </a:lnTo>
                <a:close/>
              </a:path>
            </a:pathLst>
          </a:custGeom>
          <a:solidFill>
            <a:srgbClr val="D3AE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5584" y="6194069"/>
            <a:ext cx="68453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9B9B9B"/>
                </a:solidFill>
                <a:latin typeface="Tahoma"/>
                <a:cs typeface="Tahoma"/>
              </a:rPr>
              <a:t>Consumer</a:t>
            </a:r>
            <a:r>
              <a:rPr sz="1100" spc="-95" dirty="0">
                <a:solidFill>
                  <a:srgbClr val="9B9B9B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9B9B9B"/>
                </a:solidFill>
                <a:latin typeface="Tahoma"/>
                <a:cs typeface="Tahoma"/>
              </a:rPr>
              <a:t>&amp;</a:t>
            </a:r>
            <a:r>
              <a:rPr sz="1100" spc="-105" dirty="0">
                <a:solidFill>
                  <a:srgbClr val="9B9B9B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9B9B9B"/>
                </a:solidFill>
                <a:latin typeface="Tahoma"/>
                <a:cs typeface="Tahoma"/>
              </a:rPr>
              <a:t>Market</a:t>
            </a:r>
            <a:r>
              <a:rPr sz="1100" spc="-95" dirty="0">
                <a:solidFill>
                  <a:srgbClr val="9B9B9B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9B9B9B"/>
                </a:solidFill>
                <a:latin typeface="Tahoma"/>
                <a:cs typeface="Tahoma"/>
              </a:rPr>
              <a:t>Analysis</a:t>
            </a:r>
            <a:r>
              <a:rPr sz="1100" spc="135" dirty="0">
                <a:solidFill>
                  <a:srgbClr val="9B9B9B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9B9B9B"/>
                </a:solidFill>
                <a:latin typeface="Tahoma"/>
                <a:cs typeface="Tahoma"/>
              </a:rPr>
              <a:t>·</a:t>
            </a:r>
            <a:r>
              <a:rPr sz="1100" spc="320" dirty="0">
                <a:solidFill>
                  <a:srgbClr val="9B9B9B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9B9B9B"/>
                </a:solidFill>
                <a:latin typeface="Tahoma"/>
                <a:cs typeface="Tahoma"/>
              </a:rPr>
              <a:t>Regional</a:t>
            </a:r>
            <a:r>
              <a:rPr sz="1100" spc="-100" dirty="0">
                <a:solidFill>
                  <a:srgbClr val="9B9B9B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9B9B9B"/>
                </a:solidFill>
                <a:latin typeface="Tahoma"/>
                <a:cs typeface="Tahoma"/>
              </a:rPr>
              <a:t>Strategy</a:t>
            </a:r>
            <a:r>
              <a:rPr sz="1100" spc="330" dirty="0">
                <a:solidFill>
                  <a:srgbClr val="9B9B9B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9B9B9B"/>
                </a:solidFill>
                <a:latin typeface="Tahoma"/>
                <a:cs typeface="Tahoma"/>
              </a:rPr>
              <a:t>·</a:t>
            </a:r>
            <a:r>
              <a:rPr sz="1100" spc="325" dirty="0">
                <a:solidFill>
                  <a:srgbClr val="9B9B9B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9B9B9B"/>
                </a:solidFill>
                <a:latin typeface="Tahoma"/>
                <a:cs typeface="Tahoma"/>
              </a:rPr>
              <a:t>Channel</a:t>
            </a:r>
            <a:r>
              <a:rPr sz="1100" spc="-95" dirty="0">
                <a:solidFill>
                  <a:srgbClr val="9B9B9B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9B9B9B"/>
                </a:solidFill>
                <a:latin typeface="Tahoma"/>
                <a:cs typeface="Tahoma"/>
              </a:rPr>
              <a:t>Mix</a:t>
            </a:r>
            <a:r>
              <a:rPr sz="1100" spc="325" dirty="0">
                <a:solidFill>
                  <a:srgbClr val="9B9B9B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9B9B9B"/>
                </a:solidFill>
                <a:latin typeface="Tahoma"/>
                <a:cs typeface="Tahoma"/>
              </a:rPr>
              <a:t>·</a:t>
            </a:r>
            <a:r>
              <a:rPr sz="1100" spc="320" dirty="0">
                <a:solidFill>
                  <a:srgbClr val="9B9B9B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9B9B9B"/>
                </a:solidFill>
                <a:latin typeface="Tahoma"/>
                <a:cs typeface="Tahoma"/>
              </a:rPr>
              <a:t>Demand</a:t>
            </a:r>
            <a:r>
              <a:rPr sz="1100" spc="-100" dirty="0">
                <a:solidFill>
                  <a:srgbClr val="9B9B9B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9B9B9B"/>
                </a:solidFill>
                <a:latin typeface="Tahoma"/>
                <a:cs typeface="Tahoma"/>
              </a:rPr>
              <a:t>Modeling</a:t>
            </a:r>
            <a:r>
              <a:rPr sz="1100" spc="320" dirty="0">
                <a:solidFill>
                  <a:srgbClr val="9B9B9B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9B9B9B"/>
                </a:solidFill>
                <a:latin typeface="Tahoma"/>
                <a:cs typeface="Tahoma"/>
              </a:rPr>
              <a:t>·</a:t>
            </a:r>
            <a:r>
              <a:rPr sz="1100" spc="330" dirty="0">
                <a:solidFill>
                  <a:srgbClr val="9B9B9B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9B9B9B"/>
                </a:solidFill>
                <a:latin typeface="Tahoma"/>
                <a:cs typeface="Tahoma"/>
              </a:rPr>
              <a:t>Sustainability</a:t>
            </a:r>
            <a:r>
              <a:rPr sz="1100" spc="325" dirty="0">
                <a:solidFill>
                  <a:srgbClr val="9B9B9B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9B9B9B"/>
                </a:solidFill>
                <a:latin typeface="Tahoma"/>
                <a:cs typeface="Tahoma"/>
              </a:rPr>
              <a:t>·</a:t>
            </a:r>
            <a:r>
              <a:rPr sz="1100" spc="325" dirty="0">
                <a:solidFill>
                  <a:srgbClr val="9B9B9B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9B9B9B"/>
                </a:solidFill>
                <a:latin typeface="Tahoma"/>
                <a:cs typeface="Tahoma"/>
              </a:rPr>
              <a:t>GTM</a:t>
            </a:r>
            <a:r>
              <a:rPr sz="1100" spc="-90" dirty="0">
                <a:solidFill>
                  <a:srgbClr val="9B9B9B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9B9B9B"/>
                </a:solidFill>
                <a:latin typeface="Tahoma"/>
                <a:cs typeface="Tahoma"/>
              </a:rPr>
              <a:t>Plan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635" cy="6858000"/>
          </a:xfrm>
          <a:custGeom>
            <a:avLst/>
            <a:gdLst/>
            <a:ahLst/>
            <a:cxnLst/>
            <a:rect l="l" t="t" r="r" b="b"/>
            <a:pathLst>
              <a:path w="12192635" h="6858000">
                <a:moveTo>
                  <a:pt x="12192114" y="0"/>
                </a:moveTo>
                <a:lnTo>
                  <a:pt x="0" y="0"/>
                </a:lnTo>
                <a:lnTo>
                  <a:pt x="0" y="6858000"/>
                </a:lnTo>
                <a:lnTo>
                  <a:pt x="12192114" y="6858000"/>
                </a:lnTo>
                <a:lnTo>
                  <a:pt x="12192114" y="0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0606684" y="12"/>
            <a:ext cx="1585595" cy="2579370"/>
          </a:xfrm>
          <a:custGeom>
            <a:avLst/>
            <a:gdLst/>
            <a:ahLst/>
            <a:cxnLst/>
            <a:rect l="l" t="t" r="r" b="b"/>
            <a:pathLst>
              <a:path w="1585595" h="2579370">
                <a:moveTo>
                  <a:pt x="1585074" y="0"/>
                </a:moveTo>
                <a:lnTo>
                  <a:pt x="15374" y="0"/>
                </a:lnTo>
                <a:lnTo>
                  <a:pt x="12578" y="25068"/>
                </a:lnTo>
                <a:lnTo>
                  <a:pt x="8060" y="74618"/>
                </a:lnTo>
                <a:lnTo>
                  <a:pt x="4539" y="124296"/>
                </a:lnTo>
                <a:lnTo>
                  <a:pt x="2020" y="174087"/>
                </a:lnTo>
                <a:lnTo>
                  <a:pt x="505" y="223977"/>
                </a:lnTo>
                <a:lnTo>
                  <a:pt x="0" y="273951"/>
                </a:lnTo>
                <a:lnTo>
                  <a:pt x="505" y="323926"/>
                </a:lnTo>
                <a:lnTo>
                  <a:pt x="2020" y="373816"/>
                </a:lnTo>
                <a:lnTo>
                  <a:pt x="4539" y="423606"/>
                </a:lnTo>
                <a:lnTo>
                  <a:pt x="8060" y="473284"/>
                </a:lnTo>
                <a:lnTo>
                  <a:pt x="12578" y="522833"/>
                </a:lnTo>
                <a:lnTo>
                  <a:pt x="18089" y="572240"/>
                </a:lnTo>
                <a:lnTo>
                  <a:pt x="24589" y="621491"/>
                </a:lnTo>
                <a:lnTo>
                  <a:pt x="32074" y="670571"/>
                </a:lnTo>
                <a:lnTo>
                  <a:pt x="40541" y="719465"/>
                </a:lnTo>
                <a:lnTo>
                  <a:pt x="49986" y="768160"/>
                </a:lnTo>
                <a:lnTo>
                  <a:pt x="60404" y="816641"/>
                </a:lnTo>
                <a:lnTo>
                  <a:pt x="71792" y="864893"/>
                </a:lnTo>
                <a:lnTo>
                  <a:pt x="84145" y="912902"/>
                </a:lnTo>
                <a:lnTo>
                  <a:pt x="97460" y="960655"/>
                </a:lnTo>
                <a:lnTo>
                  <a:pt x="111733" y="1008136"/>
                </a:lnTo>
                <a:lnTo>
                  <a:pt x="126960" y="1055330"/>
                </a:lnTo>
                <a:lnTo>
                  <a:pt x="143137" y="1102225"/>
                </a:lnTo>
                <a:lnTo>
                  <a:pt x="160260" y="1148805"/>
                </a:lnTo>
                <a:lnTo>
                  <a:pt x="178326" y="1195056"/>
                </a:lnTo>
                <a:lnTo>
                  <a:pt x="197329" y="1240963"/>
                </a:lnTo>
                <a:lnTo>
                  <a:pt x="217267" y="1286513"/>
                </a:lnTo>
                <a:lnTo>
                  <a:pt x="238136" y="1331690"/>
                </a:lnTo>
                <a:lnTo>
                  <a:pt x="259930" y="1376481"/>
                </a:lnTo>
                <a:lnTo>
                  <a:pt x="282648" y="1420871"/>
                </a:lnTo>
                <a:lnTo>
                  <a:pt x="306284" y="1464846"/>
                </a:lnTo>
                <a:lnTo>
                  <a:pt x="330834" y="1508391"/>
                </a:lnTo>
                <a:lnTo>
                  <a:pt x="356260" y="1551429"/>
                </a:lnTo>
                <a:lnTo>
                  <a:pt x="382515" y="1593888"/>
                </a:lnTo>
                <a:lnTo>
                  <a:pt x="409589" y="1635757"/>
                </a:lnTo>
                <a:lnTo>
                  <a:pt x="437472" y="1677027"/>
                </a:lnTo>
                <a:lnTo>
                  <a:pt x="466154" y="1717685"/>
                </a:lnTo>
                <a:lnTo>
                  <a:pt x="495624" y="1757723"/>
                </a:lnTo>
                <a:lnTo>
                  <a:pt x="525871" y="1797130"/>
                </a:lnTo>
                <a:lnTo>
                  <a:pt x="556886" y="1835894"/>
                </a:lnTo>
                <a:lnTo>
                  <a:pt x="588657" y="1874006"/>
                </a:lnTo>
                <a:lnTo>
                  <a:pt x="621175" y="1911456"/>
                </a:lnTo>
                <a:lnTo>
                  <a:pt x="654428" y="1948232"/>
                </a:lnTo>
                <a:lnTo>
                  <a:pt x="688407" y="1984325"/>
                </a:lnTo>
                <a:lnTo>
                  <a:pt x="723101" y="2019723"/>
                </a:lnTo>
                <a:lnTo>
                  <a:pt x="758500" y="2054417"/>
                </a:lnTo>
                <a:lnTo>
                  <a:pt x="794592" y="2088396"/>
                </a:lnTo>
                <a:lnTo>
                  <a:pt x="831368" y="2121650"/>
                </a:lnTo>
                <a:lnTo>
                  <a:pt x="868818" y="2154167"/>
                </a:lnTo>
                <a:lnTo>
                  <a:pt x="906931" y="2185938"/>
                </a:lnTo>
                <a:lnTo>
                  <a:pt x="945695" y="2216953"/>
                </a:lnTo>
                <a:lnTo>
                  <a:pt x="985102" y="2247200"/>
                </a:lnTo>
                <a:lnTo>
                  <a:pt x="1025140" y="2276669"/>
                </a:lnTo>
                <a:lnTo>
                  <a:pt x="1065800" y="2305350"/>
                </a:lnTo>
                <a:lnTo>
                  <a:pt x="1107070" y="2333233"/>
                </a:lnTo>
                <a:lnTo>
                  <a:pt x="1148940" y="2360306"/>
                </a:lnTo>
                <a:lnTo>
                  <a:pt x="1191400" y="2386560"/>
                </a:lnTo>
                <a:lnTo>
                  <a:pt x="1234439" y="2411984"/>
                </a:lnTo>
                <a:lnTo>
                  <a:pt x="1277983" y="2436534"/>
                </a:lnTo>
                <a:lnTo>
                  <a:pt x="1321957" y="2460170"/>
                </a:lnTo>
                <a:lnTo>
                  <a:pt x="1366346" y="2482888"/>
                </a:lnTo>
                <a:lnTo>
                  <a:pt x="1411136" y="2504683"/>
                </a:lnTo>
                <a:lnTo>
                  <a:pt x="1456313" y="2525552"/>
                </a:lnTo>
                <a:lnTo>
                  <a:pt x="1501862" y="2545490"/>
                </a:lnTo>
                <a:lnTo>
                  <a:pt x="1547770" y="2564495"/>
                </a:lnTo>
                <a:lnTo>
                  <a:pt x="1585074" y="2579066"/>
                </a:lnTo>
                <a:lnTo>
                  <a:pt x="1585074" y="0"/>
                </a:lnTo>
                <a:close/>
              </a:path>
            </a:pathLst>
          </a:custGeom>
          <a:solidFill>
            <a:srgbClr val="2323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584" y="404177"/>
            <a:ext cx="137858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sz="1250" b="1" spc="-185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75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sz="1250" b="1" spc="-19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sz="1250" b="1" spc="28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16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sz="1250" b="1" spc="-19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35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250" b="1" spc="-17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165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250" b="1" spc="-18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165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250" b="1" spc="-204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35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250" b="1" spc="-195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sz="1250" b="1" spc="-195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50" dirty="0">
                <a:solidFill>
                  <a:srgbClr val="D3AE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35584" y="709460"/>
            <a:ext cx="63906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0" dirty="0">
                <a:latin typeface="Times New Roman"/>
                <a:cs typeface="Times New Roman"/>
              </a:rPr>
              <a:t>Six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Steps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From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spc="70" dirty="0">
                <a:latin typeface="Times New Roman"/>
                <a:cs typeface="Times New Roman"/>
              </a:rPr>
              <a:t>Insight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to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30" dirty="0">
                <a:latin typeface="Times New Roman"/>
                <a:cs typeface="Times New Roman"/>
              </a:rPr>
              <a:t>Growth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spc="30" dirty="0">
                <a:latin typeface="Times New Roman"/>
                <a:cs typeface="Times New Roman"/>
              </a:rPr>
              <a:t>Plan</a:t>
            </a:r>
            <a:endParaRPr sz="3000" dirty="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94359" y="1737360"/>
            <a:ext cx="567055" cy="567055"/>
            <a:chOff x="594359" y="1737360"/>
            <a:chExt cx="567055" cy="567055"/>
          </a:xfrm>
        </p:grpSpPr>
        <p:sp>
          <p:nvSpPr>
            <p:cNvPr id="7" name="object 7"/>
            <p:cNvSpPr/>
            <p:nvPr/>
          </p:nvSpPr>
          <p:spPr>
            <a:xfrm>
              <a:off x="594359" y="1737360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5">
                  <a:moveTo>
                    <a:pt x="283679" y="0"/>
                  </a:moveTo>
                  <a:lnTo>
                    <a:pt x="210062" y="9582"/>
                  </a:lnTo>
                  <a:lnTo>
                    <a:pt x="141846" y="37795"/>
                  </a:lnTo>
                  <a:lnTo>
                    <a:pt x="83118" y="82888"/>
                  </a:lnTo>
                  <a:lnTo>
                    <a:pt x="38163" y="141477"/>
                  </a:lnTo>
                  <a:lnTo>
                    <a:pt x="9628" y="209972"/>
                  </a:lnTo>
                  <a:lnTo>
                    <a:pt x="0" y="283324"/>
                  </a:lnTo>
                  <a:lnTo>
                    <a:pt x="2417" y="320366"/>
                  </a:lnTo>
                  <a:lnTo>
                    <a:pt x="21565" y="391759"/>
                  </a:lnTo>
                  <a:lnTo>
                    <a:pt x="58768" y="455936"/>
                  </a:lnTo>
                  <a:lnTo>
                    <a:pt x="110911" y="508184"/>
                  </a:lnTo>
                  <a:lnTo>
                    <a:pt x="175043" y="545283"/>
                  </a:lnTo>
                  <a:lnTo>
                    <a:pt x="246432" y="564534"/>
                  </a:lnTo>
                  <a:lnTo>
                    <a:pt x="283679" y="567004"/>
                  </a:lnTo>
                  <a:lnTo>
                    <a:pt x="320721" y="564534"/>
                  </a:lnTo>
                  <a:lnTo>
                    <a:pt x="391966" y="545283"/>
                  </a:lnTo>
                  <a:lnTo>
                    <a:pt x="456092" y="508184"/>
                  </a:lnTo>
                  <a:lnTo>
                    <a:pt x="508236" y="455936"/>
                  </a:lnTo>
                  <a:lnTo>
                    <a:pt x="545433" y="391759"/>
                  </a:lnTo>
                  <a:lnTo>
                    <a:pt x="564584" y="320366"/>
                  </a:lnTo>
                  <a:lnTo>
                    <a:pt x="567004" y="283324"/>
                  </a:lnTo>
                  <a:lnTo>
                    <a:pt x="564584" y="246276"/>
                  </a:lnTo>
                  <a:lnTo>
                    <a:pt x="545433" y="174882"/>
                  </a:lnTo>
                  <a:lnTo>
                    <a:pt x="508236" y="110698"/>
                  </a:lnTo>
                  <a:lnTo>
                    <a:pt x="456092" y="58451"/>
                  </a:lnTo>
                  <a:lnTo>
                    <a:pt x="391966" y="21409"/>
                  </a:lnTo>
                  <a:lnTo>
                    <a:pt x="320721" y="2412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C70F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0440" y="1873084"/>
              <a:ext cx="294474" cy="29447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58544" y="1725015"/>
            <a:ext cx="3261360" cy="9541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01</a:t>
            </a:r>
            <a:r>
              <a:rPr sz="1600" b="1" spc="3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Consumer</a:t>
            </a:r>
            <a:r>
              <a:rPr sz="16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IN" sz="16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Market</a:t>
            </a:r>
            <a:r>
              <a:rPr sz="16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65" dirty="0">
                <a:solidFill>
                  <a:srgbClr val="B8B8B8"/>
                </a:solidFill>
                <a:latin typeface="Tahoma"/>
                <a:cs typeface="Tahoma"/>
              </a:rPr>
              <a:t>Segment </a:t>
            </a:r>
            <a:r>
              <a:rPr sz="1400" spc="-50" dirty="0">
                <a:solidFill>
                  <a:srgbClr val="B8B8B8"/>
                </a:solidFill>
                <a:latin typeface="Tahoma"/>
                <a:cs typeface="Tahoma"/>
              </a:rPr>
              <a:t>consumers</a:t>
            </a:r>
            <a:r>
              <a:rPr sz="1400" spc="-55" dirty="0">
                <a:solidFill>
                  <a:srgbClr val="B8B8B8"/>
                </a:solidFill>
                <a:latin typeface="Tahoma"/>
                <a:cs typeface="Tahoma"/>
              </a:rPr>
              <a:t> and </a:t>
            </a:r>
            <a:r>
              <a:rPr sz="1400" spc="-35" dirty="0">
                <a:solidFill>
                  <a:srgbClr val="B8B8B8"/>
                </a:solidFill>
                <a:latin typeface="Tahoma"/>
                <a:cs typeface="Tahoma"/>
              </a:rPr>
              <a:t>identify</a:t>
            </a:r>
            <a:r>
              <a:rPr sz="1400" spc="-45" dirty="0">
                <a:solidFill>
                  <a:srgbClr val="B8B8B8"/>
                </a:solidFill>
                <a:latin typeface="Tahoma"/>
                <a:cs typeface="Tahoma"/>
              </a:rPr>
              <a:t> what</a:t>
            </a:r>
            <a:r>
              <a:rPr sz="1400" spc="-50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45" dirty="0">
                <a:solidFill>
                  <a:srgbClr val="B8B8B8"/>
                </a:solidFill>
                <a:latin typeface="Tahoma"/>
                <a:cs typeface="Tahoma"/>
              </a:rPr>
              <a:t>drives</a:t>
            </a:r>
            <a:r>
              <a:rPr sz="1400" spc="-55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B8B8B8"/>
                </a:solidFill>
                <a:latin typeface="Tahoma"/>
                <a:cs typeface="Tahoma"/>
              </a:rPr>
              <a:t>purchase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94359" y="3218764"/>
            <a:ext cx="567055" cy="567055"/>
            <a:chOff x="594359" y="3218764"/>
            <a:chExt cx="567055" cy="567055"/>
          </a:xfrm>
        </p:grpSpPr>
        <p:sp>
          <p:nvSpPr>
            <p:cNvPr id="11" name="object 11"/>
            <p:cNvSpPr/>
            <p:nvPr/>
          </p:nvSpPr>
          <p:spPr>
            <a:xfrm>
              <a:off x="594359" y="3218764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4">
                  <a:moveTo>
                    <a:pt x="283679" y="0"/>
                  </a:moveTo>
                  <a:lnTo>
                    <a:pt x="210062" y="9582"/>
                  </a:lnTo>
                  <a:lnTo>
                    <a:pt x="141846" y="37795"/>
                  </a:lnTo>
                  <a:lnTo>
                    <a:pt x="83118" y="82888"/>
                  </a:lnTo>
                  <a:lnTo>
                    <a:pt x="38163" y="141477"/>
                  </a:lnTo>
                  <a:lnTo>
                    <a:pt x="9628" y="209965"/>
                  </a:lnTo>
                  <a:lnTo>
                    <a:pt x="0" y="283311"/>
                  </a:lnTo>
                  <a:lnTo>
                    <a:pt x="2417" y="320359"/>
                  </a:lnTo>
                  <a:lnTo>
                    <a:pt x="21565" y="391753"/>
                  </a:lnTo>
                  <a:lnTo>
                    <a:pt x="58768" y="455936"/>
                  </a:lnTo>
                  <a:lnTo>
                    <a:pt x="110911" y="508184"/>
                  </a:lnTo>
                  <a:lnTo>
                    <a:pt x="175043" y="545226"/>
                  </a:lnTo>
                  <a:lnTo>
                    <a:pt x="246432" y="564223"/>
                  </a:lnTo>
                  <a:lnTo>
                    <a:pt x="283679" y="566635"/>
                  </a:lnTo>
                  <a:lnTo>
                    <a:pt x="320721" y="564223"/>
                  </a:lnTo>
                  <a:lnTo>
                    <a:pt x="391966" y="545226"/>
                  </a:lnTo>
                  <a:lnTo>
                    <a:pt x="456092" y="508184"/>
                  </a:lnTo>
                  <a:lnTo>
                    <a:pt x="508236" y="455936"/>
                  </a:lnTo>
                  <a:lnTo>
                    <a:pt x="545433" y="391753"/>
                  </a:lnTo>
                  <a:lnTo>
                    <a:pt x="564584" y="320359"/>
                  </a:lnTo>
                  <a:lnTo>
                    <a:pt x="567004" y="283311"/>
                  </a:lnTo>
                  <a:lnTo>
                    <a:pt x="564584" y="246269"/>
                  </a:lnTo>
                  <a:lnTo>
                    <a:pt x="545433" y="174876"/>
                  </a:lnTo>
                  <a:lnTo>
                    <a:pt x="508236" y="110698"/>
                  </a:lnTo>
                  <a:lnTo>
                    <a:pt x="456092" y="58451"/>
                  </a:lnTo>
                  <a:lnTo>
                    <a:pt x="391966" y="21409"/>
                  </a:lnTo>
                  <a:lnTo>
                    <a:pt x="320721" y="2412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C70F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0440" y="3354489"/>
              <a:ext cx="294474" cy="29447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358544" y="3206419"/>
            <a:ext cx="2262505" cy="9541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02</a:t>
            </a:r>
            <a:r>
              <a:rPr sz="1600" b="1" spc="4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Regional</a:t>
            </a:r>
            <a:r>
              <a:rPr sz="1600" b="1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Opportunity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70" dirty="0">
                <a:solidFill>
                  <a:srgbClr val="B8B8B8"/>
                </a:solidFill>
                <a:latin typeface="Tahoma"/>
                <a:cs typeface="Tahoma"/>
              </a:rPr>
              <a:t>Rank </a:t>
            </a:r>
            <a:r>
              <a:rPr sz="1400" spc="-60" dirty="0">
                <a:solidFill>
                  <a:srgbClr val="B8B8B8"/>
                </a:solidFill>
                <a:latin typeface="Tahoma"/>
                <a:cs typeface="Tahoma"/>
              </a:rPr>
              <a:t>Indian </a:t>
            </a:r>
            <a:r>
              <a:rPr sz="1400" spc="-35" dirty="0">
                <a:solidFill>
                  <a:srgbClr val="B8B8B8"/>
                </a:solidFill>
                <a:latin typeface="Tahoma"/>
                <a:cs typeface="Tahoma"/>
              </a:rPr>
              <a:t>cities</a:t>
            </a:r>
            <a:r>
              <a:rPr sz="1400" spc="-55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60" dirty="0">
                <a:solidFill>
                  <a:srgbClr val="B8B8B8"/>
                </a:solidFill>
                <a:latin typeface="Tahoma"/>
                <a:cs typeface="Tahoma"/>
              </a:rPr>
              <a:t>by</a:t>
            </a:r>
            <a:r>
              <a:rPr sz="1400" spc="-65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B8B8B8"/>
                </a:solidFill>
                <a:latin typeface="Tahoma"/>
                <a:cs typeface="Tahoma"/>
              </a:rPr>
              <a:t>growth</a:t>
            </a:r>
            <a:r>
              <a:rPr sz="1400" spc="-65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B8B8B8"/>
                </a:solidFill>
                <a:latin typeface="Tahoma"/>
                <a:cs typeface="Tahoma"/>
              </a:rPr>
              <a:t>potential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94359" y="4700155"/>
            <a:ext cx="567055" cy="567055"/>
            <a:chOff x="594359" y="4700155"/>
            <a:chExt cx="567055" cy="567055"/>
          </a:xfrm>
        </p:grpSpPr>
        <p:sp>
          <p:nvSpPr>
            <p:cNvPr id="15" name="object 15"/>
            <p:cNvSpPr/>
            <p:nvPr/>
          </p:nvSpPr>
          <p:spPr>
            <a:xfrm>
              <a:off x="594359" y="4700155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4">
                  <a:moveTo>
                    <a:pt x="283679" y="0"/>
                  </a:moveTo>
                  <a:lnTo>
                    <a:pt x="210062" y="9588"/>
                  </a:lnTo>
                  <a:lnTo>
                    <a:pt x="141846" y="37807"/>
                  </a:lnTo>
                  <a:lnTo>
                    <a:pt x="83118" y="82894"/>
                  </a:lnTo>
                  <a:lnTo>
                    <a:pt x="38163" y="141477"/>
                  </a:lnTo>
                  <a:lnTo>
                    <a:pt x="9628" y="209972"/>
                  </a:lnTo>
                  <a:lnTo>
                    <a:pt x="0" y="283324"/>
                  </a:lnTo>
                  <a:lnTo>
                    <a:pt x="2417" y="320371"/>
                  </a:lnTo>
                  <a:lnTo>
                    <a:pt x="21565" y="391766"/>
                  </a:lnTo>
                  <a:lnTo>
                    <a:pt x="58768" y="455947"/>
                  </a:lnTo>
                  <a:lnTo>
                    <a:pt x="110911" y="508186"/>
                  </a:lnTo>
                  <a:lnTo>
                    <a:pt x="175043" y="545283"/>
                  </a:lnTo>
                  <a:lnTo>
                    <a:pt x="246432" y="564534"/>
                  </a:lnTo>
                  <a:lnTo>
                    <a:pt x="283679" y="567004"/>
                  </a:lnTo>
                  <a:lnTo>
                    <a:pt x="320721" y="564534"/>
                  </a:lnTo>
                  <a:lnTo>
                    <a:pt x="391966" y="545283"/>
                  </a:lnTo>
                  <a:lnTo>
                    <a:pt x="456092" y="508186"/>
                  </a:lnTo>
                  <a:lnTo>
                    <a:pt x="508236" y="455947"/>
                  </a:lnTo>
                  <a:lnTo>
                    <a:pt x="545433" y="391766"/>
                  </a:lnTo>
                  <a:lnTo>
                    <a:pt x="564584" y="320371"/>
                  </a:lnTo>
                  <a:lnTo>
                    <a:pt x="567004" y="283324"/>
                  </a:lnTo>
                  <a:lnTo>
                    <a:pt x="564584" y="246276"/>
                  </a:lnTo>
                  <a:lnTo>
                    <a:pt x="545433" y="174882"/>
                  </a:lnTo>
                  <a:lnTo>
                    <a:pt x="508236" y="110700"/>
                  </a:lnTo>
                  <a:lnTo>
                    <a:pt x="456092" y="58462"/>
                  </a:lnTo>
                  <a:lnTo>
                    <a:pt x="391966" y="21420"/>
                  </a:lnTo>
                  <a:lnTo>
                    <a:pt x="320721" y="2414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C70F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0440" y="4835880"/>
              <a:ext cx="294474" cy="29447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358544" y="4687811"/>
            <a:ext cx="3115310" cy="9541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03</a:t>
            </a:r>
            <a:r>
              <a:rPr sz="1600" b="1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Strategy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solidFill>
                  <a:srgbClr val="B8B8B8"/>
                </a:solidFill>
                <a:latin typeface="Tahoma"/>
                <a:cs typeface="Tahoma"/>
              </a:rPr>
              <a:t>Compare</a:t>
            </a:r>
            <a:r>
              <a:rPr sz="1400" spc="-55" dirty="0">
                <a:solidFill>
                  <a:srgbClr val="B8B8B8"/>
                </a:solidFill>
                <a:latin typeface="Tahoma"/>
                <a:cs typeface="Tahoma"/>
              </a:rPr>
              <a:t> e-</a:t>
            </a:r>
            <a:r>
              <a:rPr sz="1400" spc="-50" dirty="0">
                <a:solidFill>
                  <a:srgbClr val="B8B8B8"/>
                </a:solidFill>
                <a:latin typeface="Tahoma"/>
                <a:cs typeface="Tahoma"/>
              </a:rPr>
              <a:t>commerce,</a:t>
            </a:r>
            <a:r>
              <a:rPr sz="1400" spc="-40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B8B8B8"/>
                </a:solidFill>
                <a:latin typeface="Tahoma"/>
                <a:cs typeface="Tahoma"/>
              </a:rPr>
              <a:t>quick-</a:t>
            </a:r>
            <a:r>
              <a:rPr sz="1400" spc="-50" dirty="0">
                <a:solidFill>
                  <a:srgbClr val="B8B8B8"/>
                </a:solidFill>
                <a:latin typeface="Tahoma"/>
                <a:cs typeface="Tahoma"/>
              </a:rPr>
              <a:t>commerce,</a:t>
            </a:r>
            <a:r>
              <a:rPr sz="1400" spc="-55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B8B8B8"/>
                </a:solidFill>
                <a:latin typeface="Tahoma"/>
                <a:cs typeface="Tahoma"/>
              </a:rPr>
              <a:t>MT</a:t>
            </a:r>
            <a:r>
              <a:rPr sz="1400" spc="-55" dirty="0">
                <a:solidFill>
                  <a:srgbClr val="B8B8B8"/>
                </a:solidFill>
                <a:latin typeface="Tahoma"/>
                <a:cs typeface="Tahoma"/>
              </a:rPr>
              <a:t> and</a:t>
            </a:r>
            <a:r>
              <a:rPr sz="1400" spc="-40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B8B8B8"/>
                </a:solidFill>
                <a:latin typeface="Tahoma"/>
                <a:cs typeface="Tahoma"/>
              </a:rPr>
              <a:t>GT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355079" y="1737360"/>
            <a:ext cx="567055" cy="567055"/>
            <a:chOff x="6355079" y="1737360"/>
            <a:chExt cx="567055" cy="567055"/>
          </a:xfrm>
        </p:grpSpPr>
        <p:sp>
          <p:nvSpPr>
            <p:cNvPr id="19" name="object 19"/>
            <p:cNvSpPr/>
            <p:nvPr/>
          </p:nvSpPr>
          <p:spPr>
            <a:xfrm>
              <a:off x="6355079" y="1737360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283679" y="0"/>
                  </a:moveTo>
                  <a:lnTo>
                    <a:pt x="210062" y="9582"/>
                  </a:lnTo>
                  <a:lnTo>
                    <a:pt x="141846" y="37795"/>
                  </a:lnTo>
                  <a:lnTo>
                    <a:pt x="83118" y="82888"/>
                  </a:lnTo>
                  <a:lnTo>
                    <a:pt x="38163" y="141477"/>
                  </a:lnTo>
                  <a:lnTo>
                    <a:pt x="9628" y="209972"/>
                  </a:lnTo>
                  <a:lnTo>
                    <a:pt x="0" y="283324"/>
                  </a:lnTo>
                  <a:lnTo>
                    <a:pt x="2417" y="320366"/>
                  </a:lnTo>
                  <a:lnTo>
                    <a:pt x="21565" y="391759"/>
                  </a:lnTo>
                  <a:lnTo>
                    <a:pt x="58768" y="455936"/>
                  </a:lnTo>
                  <a:lnTo>
                    <a:pt x="110911" y="508184"/>
                  </a:lnTo>
                  <a:lnTo>
                    <a:pt x="175043" y="545283"/>
                  </a:lnTo>
                  <a:lnTo>
                    <a:pt x="246432" y="564534"/>
                  </a:lnTo>
                  <a:lnTo>
                    <a:pt x="283679" y="567004"/>
                  </a:lnTo>
                  <a:lnTo>
                    <a:pt x="320721" y="564534"/>
                  </a:lnTo>
                  <a:lnTo>
                    <a:pt x="391966" y="545283"/>
                  </a:lnTo>
                  <a:lnTo>
                    <a:pt x="456092" y="508184"/>
                  </a:lnTo>
                  <a:lnTo>
                    <a:pt x="508236" y="455936"/>
                  </a:lnTo>
                  <a:lnTo>
                    <a:pt x="545433" y="391759"/>
                  </a:lnTo>
                  <a:lnTo>
                    <a:pt x="564584" y="320366"/>
                  </a:lnTo>
                  <a:lnTo>
                    <a:pt x="567004" y="283324"/>
                  </a:lnTo>
                  <a:lnTo>
                    <a:pt x="564584" y="246276"/>
                  </a:lnTo>
                  <a:lnTo>
                    <a:pt x="545433" y="174882"/>
                  </a:lnTo>
                  <a:lnTo>
                    <a:pt x="508236" y="110698"/>
                  </a:lnTo>
                  <a:lnTo>
                    <a:pt x="456092" y="58451"/>
                  </a:lnTo>
                  <a:lnTo>
                    <a:pt x="391966" y="21409"/>
                  </a:lnTo>
                  <a:lnTo>
                    <a:pt x="320721" y="2412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C70F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91160" y="1873084"/>
              <a:ext cx="294474" cy="294474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119264" y="1725015"/>
            <a:ext cx="3075304" cy="7386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55" dirty="0">
                <a:solidFill>
                  <a:srgbClr val="FFFFFF"/>
                </a:solidFill>
                <a:latin typeface="Times New Roman"/>
                <a:cs typeface="Times New Roman"/>
              </a:rPr>
              <a:t>04</a:t>
            </a:r>
            <a:r>
              <a:rPr sz="1600" b="1" spc="4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Demand</a:t>
            </a:r>
            <a:r>
              <a:rPr sz="1600" b="1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IN" sz="1600" b="1" spc="2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600" b="1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Sales</a:t>
            </a:r>
            <a:r>
              <a:rPr sz="1600" b="1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Modeling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70" dirty="0">
                <a:solidFill>
                  <a:srgbClr val="B8B8B8"/>
                </a:solidFill>
                <a:latin typeface="Tahoma"/>
                <a:cs typeface="Tahoma"/>
              </a:rPr>
              <a:t>Size</a:t>
            </a:r>
            <a:r>
              <a:rPr sz="1400" spc="-60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B8B8B8"/>
                </a:solidFill>
                <a:latin typeface="Tahoma"/>
                <a:cs typeface="Tahoma"/>
              </a:rPr>
              <a:t>the</a:t>
            </a:r>
            <a:r>
              <a:rPr sz="1400" spc="-60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45" dirty="0">
                <a:solidFill>
                  <a:srgbClr val="B8B8B8"/>
                </a:solidFill>
                <a:latin typeface="Tahoma"/>
                <a:cs typeface="Tahoma"/>
              </a:rPr>
              <a:t>opportunity,</a:t>
            </a:r>
            <a:r>
              <a:rPr sz="1400" spc="-60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B8B8B8"/>
                </a:solidFill>
                <a:latin typeface="Tahoma"/>
                <a:cs typeface="Tahoma"/>
              </a:rPr>
              <a:t>quarter</a:t>
            </a:r>
            <a:r>
              <a:rPr sz="1400" spc="-65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60" dirty="0">
                <a:solidFill>
                  <a:srgbClr val="B8B8B8"/>
                </a:solidFill>
                <a:latin typeface="Tahoma"/>
                <a:cs typeface="Tahoma"/>
              </a:rPr>
              <a:t>by</a:t>
            </a:r>
            <a:r>
              <a:rPr sz="1400" spc="-50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B8B8B8"/>
                </a:solidFill>
                <a:latin typeface="Tahoma"/>
                <a:cs typeface="Tahoma"/>
              </a:rPr>
              <a:t>quarter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355079" y="3218764"/>
            <a:ext cx="567055" cy="567055"/>
            <a:chOff x="6355079" y="3218764"/>
            <a:chExt cx="567055" cy="567055"/>
          </a:xfrm>
        </p:grpSpPr>
        <p:sp>
          <p:nvSpPr>
            <p:cNvPr id="23" name="object 23"/>
            <p:cNvSpPr/>
            <p:nvPr/>
          </p:nvSpPr>
          <p:spPr>
            <a:xfrm>
              <a:off x="6355079" y="3218764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4">
                  <a:moveTo>
                    <a:pt x="283679" y="0"/>
                  </a:moveTo>
                  <a:lnTo>
                    <a:pt x="210062" y="9582"/>
                  </a:lnTo>
                  <a:lnTo>
                    <a:pt x="141846" y="37795"/>
                  </a:lnTo>
                  <a:lnTo>
                    <a:pt x="83118" y="82888"/>
                  </a:lnTo>
                  <a:lnTo>
                    <a:pt x="38163" y="141477"/>
                  </a:lnTo>
                  <a:lnTo>
                    <a:pt x="9628" y="209965"/>
                  </a:lnTo>
                  <a:lnTo>
                    <a:pt x="0" y="283311"/>
                  </a:lnTo>
                  <a:lnTo>
                    <a:pt x="2417" y="320359"/>
                  </a:lnTo>
                  <a:lnTo>
                    <a:pt x="21565" y="391753"/>
                  </a:lnTo>
                  <a:lnTo>
                    <a:pt x="58768" y="455936"/>
                  </a:lnTo>
                  <a:lnTo>
                    <a:pt x="110911" y="508184"/>
                  </a:lnTo>
                  <a:lnTo>
                    <a:pt x="175043" y="545226"/>
                  </a:lnTo>
                  <a:lnTo>
                    <a:pt x="246432" y="564223"/>
                  </a:lnTo>
                  <a:lnTo>
                    <a:pt x="283679" y="566635"/>
                  </a:lnTo>
                  <a:lnTo>
                    <a:pt x="320721" y="564223"/>
                  </a:lnTo>
                  <a:lnTo>
                    <a:pt x="391966" y="545226"/>
                  </a:lnTo>
                  <a:lnTo>
                    <a:pt x="456092" y="508184"/>
                  </a:lnTo>
                  <a:lnTo>
                    <a:pt x="508236" y="455936"/>
                  </a:lnTo>
                  <a:lnTo>
                    <a:pt x="545433" y="391753"/>
                  </a:lnTo>
                  <a:lnTo>
                    <a:pt x="564584" y="320359"/>
                  </a:lnTo>
                  <a:lnTo>
                    <a:pt x="567004" y="283311"/>
                  </a:lnTo>
                  <a:lnTo>
                    <a:pt x="564584" y="246269"/>
                  </a:lnTo>
                  <a:lnTo>
                    <a:pt x="545433" y="174876"/>
                  </a:lnTo>
                  <a:lnTo>
                    <a:pt x="508236" y="110698"/>
                  </a:lnTo>
                  <a:lnTo>
                    <a:pt x="456092" y="58451"/>
                  </a:lnTo>
                  <a:lnTo>
                    <a:pt x="391966" y="21409"/>
                  </a:lnTo>
                  <a:lnTo>
                    <a:pt x="320721" y="2412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C70F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91160" y="3354489"/>
              <a:ext cx="294474" cy="294474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119265" y="3206419"/>
            <a:ext cx="3075303" cy="9541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20" dirty="0">
                <a:solidFill>
                  <a:srgbClr val="FFFFFF"/>
                </a:solidFill>
                <a:latin typeface="Times New Roman"/>
                <a:cs typeface="Times New Roman"/>
              </a:rPr>
              <a:t>05</a:t>
            </a:r>
            <a:r>
              <a:rPr sz="1600" b="1" spc="4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20" dirty="0">
                <a:solidFill>
                  <a:srgbClr val="FFFFFF"/>
                </a:solidFill>
                <a:latin typeface="Times New Roman"/>
                <a:cs typeface="Times New Roman"/>
              </a:rPr>
              <a:t>Sustainability</a:t>
            </a:r>
            <a:r>
              <a:rPr sz="1600" b="1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Alignment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60" dirty="0">
                <a:solidFill>
                  <a:srgbClr val="B8B8B8"/>
                </a:solidFill>
                <a:latin typeface="Tahoma"/>
                <a:cs typeface="Tahoma"/>
              </a:rPr>
              <a:t>Link </a:t>
            </a:r>
            <a:r>
              <a:rPr sz="1400" spc="-35" dirty="0">
                <a:solidFill>
                  <a:srgbClr val="B8B8B8"/>
                </a:solidFill>
                <a:latin typeface="Tahoma"/>
                <a:cs typeface="Tahoma"/>
              </a:rPr>
              <a:t>the</a:t>
            </a:r>
            <a:r>
              <a:rPr sz="1400" spc="-65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B8B8B8"/>
                </a:solidFill>
                <a:latin typeface="Tahoma"/>
                <a:cs typeface="Tahoma"/>
              </a:rPr>
              <a:t>plan</a:t>
            </a:r>
            <a:r>
              <a:rPr sz="1400" spc="-70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B8B8B8"/>
                </a:solidFill>
                <a:latin typeface="Tahoma"/>
                <a:cs typeface="Tahoma"/>
              </a:rPr>
              <a:t>to</a:t>
            </a:r>
            <a:r>
              <a:rPr sz="1400" spc="-75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B8B8B8"/>
                </a:solidFill>
                <a:latin typeface="Tahoma"/>
                <a:cs typeface="Tahoma"/>
              </a:rPr>
              <a:t>AB</a:t>
            </a:r>
            <a:r>
              <a:rPr sz="1400" spc="-60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65" dirty="0">
                <a:solidFill>
                  <a:srgbClr val="B8B8B8"/>
                </a:solidFill>
                <a:latin typeface="Tahoma"/>
                <a:cs typeface="Tahoma"/>
              </a:rPr>
              <a:t>InBev’s</a:t>
            </a:r>
            <a:r>
              <a:rPr sz="1400" spc="-75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45" dirty="0">
                <a:solidFill>
                  <a:srgbClr val="B8B8B8"/>
                </a:solidFill>
                <a:latin typeface="Tahoma"/>
                <a:cs typeface="Tahoma"/>
              </a:rPr>
              <a:t>2025</a:t>
            </a:r>
            <a:r>
              <a:rPr lang="en-IN" sz="1400" spc="-45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B8B8B8"/>
                </a:solidFill>
                <a:latin typeface="Tahoma"/>
                <a:cs typeface="Tahoma"/>
              </a:rPr>
              <a:t>sustainability</a:t>
            </a:r>
            <a:r>
              <a:rPr sz="1400" spc="-70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B8B8B8"/>
                </a:solidFill>
                <a:latin typeface="Tahoma"/>
                <a:cs typeface="Tahoma"/>
              </a:rPr>
              <a:t>goals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355079" y="4700155"/>
            <a:ext cx="567055" cy="567055"/>
            <a:chOff x="6355079" y="4700155"/>
            <a:chExt cx="567055" cy="567055"/>
          </a:xfrm>
        </p:grpSpPr>
        <p:sp>
          <p:nvSpPr>
            <p:cNvPr id="27" name="object 27"/>
            <p:cNvSpPr/>
            <p:nvPr/>
          </p:nvSpPr>
          <p:spPr>
            <a:xfrm>
              <a:off x="6355079" y="4700155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4">
                  <a:moveTo>
                    <a:pt x="283679" y="0"/>
                  </a:moveTo>
                  <a:lnTo>
                    <a:pt x="210062" y="9588"/>
                  </a:lnTo>
                  <a:lnTo>
                    <a:pt x="141846" y="37807"/>
                  </a:lnTo>
                  <a:lnTo>
                    <a:pt x="83118" y="82894"/>
                  </a:lnTo>
                  <a:lnTo>
                    <a:pt x="38163" y="141477"/>
                  </a:lnTo>
                  <a:lnTo>
                    <a:pt x="9628" y="209972"/>
                  </a:lnTo>
                  <a:lnTo>
                    <a:pt x="0" y="283324"/>
                  </a:lnTo>
                  <a:lnTo>
                    <a:pt x="2417" y="320371"/>
                  </a:lnTo>
                  <a:lnTo>
                    <a:pt x="21565" y="391766"/>
                  </a:lnTo>
                  <a:lnTo>
                    <a:pt x="58768" y="455947"/>
                  </a:lnTo>
                  <a:lnTo>
                    <a:pt x="110911" y="508186"/>
                  </a:lnTo>
                  <a:lnTo>
                    <a:pt x="175043" y="545283"/>
                  </a:lnTo>
                  <a:lnTo>
                    <a:pt x="246432" y="564534"/>
                  </a:lnTo>
                  <a:lnTo>
                    <a:pt x="283679" y="567004"/>
                  </a:lnTo>
                  <a:lnTo>
                    <a:pt x="320721" y="564534"/>
                  </a:lnTo>
                  <a:lnTo>
                    <a:pt x="391966" y="545283"/>
                  </a:lnTo>
                  <a:lnTo>
                    <a:pt x="456092" y="508186"/>
                  </a:lnTo>
                  <a:lnTo>
                    <a:pt x="508236" y="455947"/>
                  </a:lnTo>
                  <a:lnTo>
                    <a:pt x="545433" y="391766"/>
                  </a:lnTo>
                  <a:lnTo>
                    <a:pt x="564584" y="320371"/>
                  </a:lnTo>
                  <a:lnTo>
                    <a:pt x="567004" y="283324"/>
                  </a:lnTo>
                  <a:lnTo>
                    <a:pt x="564584" y="246276"/>
                  </a:lnTo>
                  <a:lnTo>
                    <a:pt x="545433" y="174882"/>
                  </a:lnTo>
                  <a:lnTo>
                    <a:pt x="508236" y="110700"/>
                  </a:lnTo>
                  <a:lnTo>
                    <a:pt x="456092" y="58462"/>
                  </a:lnTo>
                  <a:lnTo>
                    <a:pt x="391966" y="21420"/>
                  </a:lnTo>
                  <a:lnTo>
                    <a:pt x="320721" y="2414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C70F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91160" y="4835880"/>
              <a:ext cx="294474" cy="294474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7119264" y="4687811"/>
            <a:ext cx="3380104" cy="9541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06</a:t>
            </a:r>
            <a:r>
              <a:rPr sz="1600" b="1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155" dirty="0">
                <a:solidFill>
                  <a:srgbClr val="FFFFFF"/>
                </a:solidFill>
                <a:latin typeface="Times New Roman"/>
                <a:cs typeface="Times New Roman"/>
              </a:rPr>
              <a:t>Go-</a:t>
            </a:r>
            <a:r>
              <a:rPr sz="16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To-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Market</a:t>
            </a:r>
            <a:r>
              <a:rPr sz="16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Recommendation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55" dirty="0">
                <a:solidFill>
                  <a:srgbClr val="B8B8B8"/>
                </a:solidFill>
                <a:latin typeface="Tahoma"/>
                <a:cs typeface="Tahoma"/>
              </a:rPr>
              <a:t>Consumers</a:t>
            </a:r>
            <a:r>
              <a:rPr sz="1400" spc="-75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114" dirty="0">
                <a:solidFill>
                  <a:srgbClr val="B8B8B8"/>
                </a:solidFill>
                <a:latin typeface="Tahoma"/>
                <a:cs typeface="Tahoma"/>
              </a:rPr>
              <a:t>→</a:t>
            </a:r>
            <a:r>
              <a:rPr sz="1400" spc="-60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B8B8B8"/>
                </a:solidFill>
                <a:latin typeface="Tahoma"/>
                <a:cs typeface="Tahoma"/>
              </a:rPr>
              <a:t>cities</a:t>
            </a:r>
            <a:r>
              <a:rPr sz="1400" spc="-70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114" dirty="0">
                <a:solidFill>
                  <a:srgbClr val="B8B8B8"/>
                </a:solidFill>
                <a:latin typeface="Tahoma"/>
                <a:cs typeface="Tahoma"/>
              </a:rPr>
              <a:t>→</a:t>
            </a:r>
            <a:r>
              <a:rPr sz="1400" spc="-65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B8B8B8"/>
                </a:solidFill>
                <a:latin typeface="Tahoma"/>
                <a:cs typeface="Tahoma"/>
              </a:rPr>
              <a:t>channels</a:t>
            </a:r>
            <a:r>
              <a:rPr sz="1400" spc="-60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114" dirty="0">
                <a:solidFill>
                  <a:srgbClr val="B8B8B8"/>
                </a:solidFill>
                <a:latin typeface="Tahoma"/>
                <a:cs typeface="Tahoma"/>
              </a:rPr>
              <a:t>→</a:t>
            </a:r>
            <a:r>
              <a:rPr sz="1400" spc="-80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B8B8B8"/>
                </a:solidFill>
                <a:latin typeface="Tahoma"/>
                <a:cs typeface="Tahoma"/>
              </a:rPr>
              <a:t>positioning</a:t>
            </a:r>
            <a:r>
              <a:rPr sz="1400" spc="-65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114" dirty="0">
                <a:solidFill>
                  <a:srgbClr val="B8B8B8"/>
                </a:solidFill>
                <a:latin typeface="Tahoma"/>
                <a:cs typeface="Tahoma"/>
              </a:rPr>
              <a:t>→</a:t>
            </a:r>
            <a:r>
              <a:rPr sz="1400" spc="-75" dirty="0">
                <a:solidFill>
                  <a:srgbClr val="B8B8B8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B8B8B8"/>
                </a:solidFill>
                <a:latin typeface="Tahoma"/>
                <a:cs typeface="Tahoma"/>
              </a:rPr>
              <a:t>impact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4144" y="6584301"/>
            <a:ext cx="137858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9B9B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r>
              <a:rPr sz="900" spc="-50" dirty="0">
                <a:solidFill>
                  <a:srgbClr val="9B9B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0" dirty="0">
                <a:solidFill>
                  <a:srgbClr val="9B9B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sz="900" spc="-55" dirty="0">
                <a:solidFill>
                  <a:srgbClr val="9B9B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5" dirty="0">
                <a:solidFill>
                  <a:srgbClr val="9B9B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900" spc="-60" dirty="0">
                <a:solidFill>
                  <a:srgbClr val="9B9B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35" dirty="0">
                <a:solidFill>
                  <a:srgbClr val="9B9B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  <a:endParaRPr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831857" y="6584301"/>
            <a:ext cx="191643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5" dirty="0">
                <a:solidFill>
                  <a:srgbClr val="9B9B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Budweiser</a:t>
            </a:r>
            <a:r>
              <a:rPr sz="900" spc="-50" dirty="0">
                <a:solidFill>
                  <a:srgbClr val="9B9B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0" dirty="0">
                <a:solidFill>
                  <a:srgbClr val="9B9B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Beats</a:t>
            </a:r>
            <a:r>
              <a:rPr sz="900" spc="-55" dirty="0">
                <a:solidFill>
                  <a:srgbClr val="9B9B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5" dirty="0">
                <a:solidFill>
                  <a:srgbClr val="9B9B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900" spc="-55" dirty="0">
                <a:solidFill>
                  <a:srgbClr val="9B9B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50" dirty="0">
                <a:solidFill>
                  <a:srgbClr val="9B9B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India</a:t>
            </a:r>
            <a:r>
              <a:rPr sz="900" spc="-45" dirty="0">
                <a:solidFill>
                  <a:srgbClr val="9B9B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30" dirty="0">
                <a:solidFill>
                  <a:srgbClr val="9B9B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Growth</a:t>
            </a:r>
            <a:r>
              <a:rPr sz="900" spc="-55" dirty="0">
                <a:solidFill>
                  <a:srgbClr val="9B9B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30" dirty="0">
                <a:solidFill>
                  <a:srgbClr val="9B9B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Strategy</a:t>
            </a:r>
            <a:endParaRPr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583" y="404177"/>
            <a:ext cx="2428545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-114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50" b="1" spc="-19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7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sz="1250" b="1" spc="-17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114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50" b="1" spc="-20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114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250" b="1" spc="-1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4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1250" b="1" spc="-1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15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250" b="1" spc="-1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2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250" b="1" spc="-17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4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sz="1250" b="1" spc="-1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50" b="1" spc="29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6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250" b="1" spc="-1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4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1250" b="1" spc="-1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15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1250" b="1" spc="-1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15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1250" b="1" spc="-19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4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250" b="1" spc="-1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7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250" b="1" spc="-20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5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5584" y="709460"/>
            <a:ext cx="735075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25" dirty="0">
                <a:solidFill>
                  <a:srgbClr val="131313"/>
                </a:solidFill>
                <a:latin typeface="Times New Roman"/>
                <a:cs typeface="Times New Roman"/>
              </a:rPr>
              <a:t>A</a:t>
            </a:r>
            <a:r>
              <a:rPr sz="3000" spc="4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131313"/>
                </a:solidFill>
                <a:latin typeface="Times New Roman"/>
                <a:cs typeface="Times New Roman"/>
              </a:rPr>
              <a:t>Focused</a:t>
            </a:r>
            <a:r>
              <a:rPr sz="3000" spc="4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spc="85" dirty="0">
                <a:solidFill>
                  <a:srgbClr val="131313"/>
                </a:solidFill>
                <a:latin typeface="Times New Roman"/>
                <a:cs typeface="Times New Roman"/>
              </a:rPr>
              <a:t>Push</a:t>
            </a:r>
            <a:r>
              <a:rPr sz="3000" spc="4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131313"/>
                </a:solidFill>
                <a:latin typeface="Times New Roman"/>
                <a:cs typeface="Times New Roman"/>
              </a:rPr>
              <a:t>Into</a:t>
            </a:r>
            <a:r>
              <a:rPr sz="3000" spc="4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131313"/>
                </a:solidFill>
                <a:latin typeface="Times New Roman"/>
                <a:cs typeface="Times New Roman"/>
              </a:rPr>
              <a:t>Digital-First</a:t>
            </a:r>
            <a:r>
              <a:rPr sz="3000" spc="6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131313"/>
                </a:solidFill>
                <a:latin typeface="Times New Roman"/>
                <a:cs typeface="Times New Roman"/>
              </a:rPr>
              <a:t>Occasions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8640" y="1508404"/>
            <a:ext cx="2606040" cy="1371600"/>
          </a:xfrm>
          <a:custGeom>
            <a:avLst/>
            <a:gdLst/>
            <a:ahLst/>
            <a:cxnLst/>
            <a:rect l="l" t="t" r="r" b="b"/>
            <a:pathLst>
              <a:path w="2606040" h="1371600">
                <a:moveTo>
                  <a:pt x="2532595" y="0"/>
                </a:moveTo>
                <a:lnTo>
                  <a:pt x="73075" y="0"/>
                </a:lnTo>
                <a:lnTo>
                  <a:pt x="63599" y="607"/>
                </a:lnTo>
                <a:lnTo>
                  <a:pt x="21428" y="21458"/>
                </a:lnTo>
                <a:lnTo>
                  <a:pt x="607" y="63442"/>
                </a:lnTo>
                <a:lnTo>
                  <a:pt x="0" y="73075"/>
                </a:lnTo>
                <a:lnTo>
                  <a:pt x="0" y="1298511"/>
                </a:lnTo>
                <a:lnTo>
                  <a:pt x="5412" y="1326252"/>
                </a:lnTo>
                <a:lnTo>
                  <a:pt x="5464" y="1326407"/>
                </a:lnTo>
                <a:lnTo>
                  <a:pt x="36360" y="1361871"/>
                </a:lnTo>
                <a:lnTo>
                  <a:pt x="73075" y="1371600"/>
                </a:lnTo>
                <a:lnTo>
                  <a:pt x="2532964" y="1371231"/>
                </a:lnTo>
                <a:lnTo>
                  <a:pt x="2577334" y="1356140"/>
                </a:lnTo>
                <a:lnTo>
                  <a:pt x="2603551" y="1317367"/>
                </a:lnTo>
                <a:lnTo>
                  <a:pt x="2603611" y="1317190"/>
                </a:lnTo>
                <a:lnTo>
                  <a:pt x="2605394" y="1307989"/>
                </a:lnTo>
                <a:lnTo>
                  <a:pt x="2605432" y="1307789"/>
                </a:lnTo>
                <a:lnTo>
                  <a:pt x="2606017" y="1298511"/>
                </a:lnTo>
                <a:lnTo>
                  <a:pt x="2605684" y="73075"/>
                </a:lnTo>
                <a:lnTo>
                  <a:pt x="2590580" y="28698"/>
                </a:lnTo>
                <a:lnTo>
                  <a:pt x="2551636" y="2428"/>
                </a:lnTo>
                <a:lnTo>
                  <a:pt x="2542235" y="607"/>
                </a:lnTo>
                <a:lnTo>
                  <a:pt x="2532595" y="0"/>
                </a:lnTo>
                <a:close/>
              </a:path>
            </a:pathLst>
          </a:custGeom>
          <a:solidFill>
            <a:srgbClr val="F2F0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7184" y="1528858"/>
            <a:ext cx="2226945" cy="1145185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3400" b="1" dirty="0">
                <a:solidFill>
                  <a:srgbClr val="C70F2D"/>
                </a:solidFill>
                <a:latin typeface="Times New Roman"/>
                <a:cs typeface="Times New Roman"/>
              </a:rPr>
              <a:t>5</a:t>
            </a:r>
            <a:endParaRPr sz="34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470"/>
              </a:spcBef>
            </a:pPr>
            <a:r>
              <a:rPr sz="1200" spc="-30" dirty="0">
                <a:solidFill>
                  <a:srgbClr val="6D6A67"/>
                </a:solidFill>
                <a:latin typeface="Tahoma"/>
                <a:cs typeface="Tahoma"/>
              </a:rPr>
              <a:t>priority</a:t>
            </a:r>
            <a:r>
              <a:rPr sz="1200" spc="-7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6D6A67"/>
                </a:solidFill>
                <a:latin typeface="Tahoma"/>
                <a:cs typeface="Tahoma"/>
              </a:rPr>
              <a:t>"Wave </a:t>
            </a:r>
            <a:r>
              <a:rPr sz="1200" spc="-35" dirty="0">
                <a:solidFill>
                  <a:srgbClr val="6D6A67"/>
                </a:solidFill>
                <a:latin typeface="Tahoma"/>
                <a:cs typeface="Tahoma"/>
              </a:rPr>
              <a:t>1"</a:t>
            </a:r>
            <a:r>
              <a:rPr sz="1200" spc="-5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6D6A67"/>
                </a:solidFill>
                <a:latin typeface="Tahoma"/>
                <a:cs typeface="Tahoma"/>
              </a:rPr>
              <a:t>metro</a:t>
            </a:r>
            <a:r>
              <a:rPr sz="120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6D6A67"/>
                </a:solidFill>
                <a:latin typeface="Tahoma"/>
                <a:cs typeface="Tahoma"/>
              </a:rPr>
              <a:t>cities</a:t>
            </a:r>
            <a:r>
              <a:rPr sz="120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6D6A67"/>
                </a:solidFill>
                <a:latin typeface="Tahoma"/>
                <a:cs typeface="Tahoma"/>
              </a:rPr>
              <a:t>driving </a:t>
            </a:r>
            <a:r>
              <a:rPr sz="1200" spc="-40" dirty="0">
                <a:solidFill>
                  <a:srgbClr val="6D6A67"/>
                </a:solidFill>
                <a:latin typeface="Tahoma"/>
                <a:cs typeface="Tahoma"/>
              </a:rPr>
              <a:t>early</a:t>
            </a:r>
            <a:r>
              <a:rPr sz="1200" spc="-7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6D6A67"/>
                </a:solidFill>
                <a:latin typeface="Tahoma"/>
                <a:cs typeface="Tahoma"/>
              </a:rPr>
              <a:t>scale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91840" y="1508404"/>
            <a:ext cx="2606040" cy="1371600"/>
          </a:xfrm>
          <a:custGeom>
            <a:avLst/>
            <a:gdLst/>
            <a:ahLst/>
            <a:cxnLst/>
            <a:rect l="l" t="t" r="r" b="b"/>
            <a:pathLst>
              <a:path w="2606040" h="1371600">
                <a:moveTo>
                  <a:pt x="2532595" y="0"/>
                </a:moveTo>
                <a:lnTo>
                  <a:pt x="73075" y="0"/>
                </a:lnTo>
                <a:lnTo>
                  <a:pt x="63599" y="607"/>
                </a:lnTo>
                <a:lnTo>
                  <a:pt x="21428" y="21458"/>
                </a:lnTo>
                <a:lnTo>
                  <a:pt x="607" y="63442"/>
                </a:lnTo>
                <a:lnTo>
                  <a:pt x="0" y="73075"/>
                </a:lnTo>
                <a:lnTo>
                  <a:pt x="0" y="1298511"/>
                </a:lnTo>
                <a:lnTo>
                  <a:pt x="594" y="1307789"/>
                </a:lnTo>
                <a:lnTo>
                  <a:pt x="607" y="1307989"/>
                </a:lnTo>
                <a:lnTo>
                  <a:pt x="2394" y="1317190"/>
                </a:lnTo>
                <a:lnTo>
                  <a:pt x="2428" y="1317367"/>
                </a:lnTo>
                <a:lnTo>
                  <a:pt x="28555" y="1356490"/>
                </a:lnTo>
                <a:lnTo>
                  <a:pt x="73075" y="1371600"/>
                </a:lnTo>
                <a:lnTo>
                  <a:pt x="2532964" y="1371231"/>
                </a:lnTo>
                <a:lnTo>
                  <a:pt x="2577334" y="1356140"/>
                </a:lnTo>
                <a:lnTo>
                  <a:pt x="2600498" y="1326407"/>
                </a:lnTo>
                <a:lnTo>
                  <a:pt x="2600575" y="1326252"/>
                </a:lnTo>
                <a:lnTo>
                  <a:pt x="2603551" y="1317367"/>
                </a:lnTo>
                <a:lnTo>
                  <a:pt x="2603611" y="1317190"/>
                </a:lnTo>
                <a:lnTo>
                  <a:pt x="2605394" y="1307989"/>
                </a:lnTo>
                <a:lnTo>
                  <a:pt x="2605432" y="1307789"/>
                </a:lnTo>
                <a:lnTo>
                  <a:pt x="2606017" y="1298511"/>
                </a:lnTo>
                <a:lnTo>
                  <a:pt x="2606040" y="1298155"/>
                </a:lnTo>
                <a:lnTo>
                  <a:pt x="2605684" y="73075"/>
                </a:lnTo>
                <a:lnTo>
                  <a:pt x="2590580" y="28698"/>
                </a:lnTo>
                <a:lnTo>
                  <a:pt x="2551636" y="2428"/>
                </a:lnTo>
                <a:lnTo>
                  <a:pt x="2542235" y="607"/>
                </a:lnTo>
                <a:lnTo>
                  <a:pt x="2532595" y="0"/>
                </a:lnTo>
                <a:close/>
              </a:path>
            </a:pathLst>
          </a:custGeom>
          <a:solidFill>
            <a:srgbClr val="F2F0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80384" y="1528858"/>
            <a:ext cx="1906905" cy="1145185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3400" b="1" spc="25" dirty="0">
                <a:solidFill>
                  <a:srgbClr val="C70F2D"/>
                </a:solidFill>
                <a:latin typeface="Times New Roman"/>
                <a:cs typeface="Times New Roman"/>
              </a:rPr>
              <a:t>40%</a:t>
            </a:r>
            <a:endParaRPr sz="34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470"/>
              </a:spcBef>
            </a:pPr>
            <a:r>
              <a:rPr sz="1200" spc="-25" dirty="0">
                <a:solidFill>
                  <a:srgbClr val="6D6A67"/>
                </a:solidFill>
                <a:latin typeface="Tahoma"/>
                <a:cs typeface="Tahoma"/>
              </a:rPr>
              <a:t>of</a:t>
            </a:r>
            <a:r>
              <a:rPr sz="1200" spc="-7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6D6A67"/>
                </a:solidFill>
                <a:latin typeface="Tahoma"/>
                <a:cs typeface="Tahoma"/>
              </a:rPr>
              <a:t>GTM</a:t>
            </a:r>
            <a:r>
              <a:rPr sz="120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6D6A67"/>
                </a:solidFill>
                <a:latin typeface="Tahoma"/>
                <a:cs typeface="Tahoma"/>
              </a:rPr>
              <a:t>investment</a:t>
            </a:r>
            <a:r>
              <a:rPr sz="120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6D6A67"/>
                </a:solidFill>
                <a:latin typeface="Tahoma"/>
                <a:cs typeface="Tahoma"/>
              </a:rPr>
              <a:t>weighted</a:t>
            </a:r>
            <a:r>
              <a:rPr sz="120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6D6A67"/>
                </a:solidFill>
                <a:latin typeface="Tahoma"/>
                <a:cs typeface="Tahoma"/>
              </a:rPr>
              <a:t>to </a:t>
            </a:r>
            <a:r>
              <a:rPr sz="1200" spc="-60" dirty="0">
                <a:solidFill>
                  <a:srgbClr val="6D6A67"/>
                </a:solidFill>
                <a:latin typeface="Tahoma"/>
                <a:cs typeface="Tahoma"/>
              </a:rPr>
              <a:t>quick-</a:t>
            </a:r>
            <a:r>
              <a:rPr sz="1200" spc="-10" dirty="0">
                <a:solidFill>
                  <a:srgbClr val="6D6A67"/>
                </a:solidFill>
                <a:latin typeface="Tahoma"/>
                <a:cs typeface="Tahoma"/>
              </a:rPr>
              <a:t>commerce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35040" y="1508404"/>
            <a:ext cx="2606040" cy="1371600"/>
          </a:xfrm>
          <a:custGeom>
            <a:avLst/>
            <a:gdLst/>
            <a:ahLst/>
            <a:cxnLst/>
            <a:rect l="l" t="t" r="r" b="b"/>
            <a:pathLst>
              <a:path w="2606040" h="1371600">
                <a:moveTo>
                  <a:pt x="2532595" y="0"/>
                </a:moveTo>
                <a:lnTo>
                  <a:pt x="73075" y="0"/>
                </a:lnTo>
                <a:lnTo>
                  <a:pt x="63599" y="607"/>
                </a:lnTo>
                <a:lnTo>
                  <a:pt x="21428" y="21458"/>
                </a:lnTo>
                <a:lnTo>
                  <a:pt x="607" y="63442"/>
                </a:lnTo>
                <a:lnTo>
                  <a:pt x="0" y="73075"/>
                </a:lnTo>
                <a:lnTo>
                  <a:pt x="0" y="1298511"/>
                </a:lnTo>
                <a:lnTo>
                  <a:pt x="594" y="1307789"/>
                </a:lnTo>
                <a:lnTo>
                  <a:pt x="607" y="1307989"/>
                </a:lnTo>
                <a:lnTo>
                  <a:pt x="2394" y="1317190"/>
                </a:lnTo>
                <a:lnTo>
                  <a:pt x="2428" y="1317367"/>
                </a:lnTo>
                <a:lnTo>
                  <a:pt x="28555" y="1356490"/>
                </a:lnTo>
                <a:lnTo>
                  <a:pt x="73075" y="1371600"/>
                </a:lnTo>
                <a:lnTo>
                  <a:pt x="2532964" y="1371231"/>
                </a:lnTo>
                <a:lnTo>
                  <a:pt x="2577334" y="1356140"/>
                </a:lnTo>
                <a:lnTo>
                  <a:pt x="2600498" y="1326407"/>
                </a:lnTo>
                <a:lnTo>
                  <a:pt x="2600575" y="1326252"/>
                </a:lnTo>
                <a:lnTo>
                  <a:pt x="2603551" y="1317367"/>
                </a:lnTo>
                <a:lnTo>
                  <a:pt x="2603611" y="1317190"/>
                </a:lnTo>
                <a:lnTo>
                  <a:pt x="2605394" y="1307989"/>
                </a:lnTo>
                <a:lnTo>
                  <a:pt x="2605432" y="1307789"/>
                </a:lnTo>
                <a:lnTo>
                  <a:pt x="2606017" y="1298511"/>
                </a:lnTo>
                <a:lnTo>
                  <a:pt x="2606040" y="1298155"/>
                </a:lnTo>
                <a:lnTo>
                  <a:pt x="2605684" y="73075"/>
                </a:lnTo>
                <a:lnTo>
                  <a:pt x="2590580" y="28698"/>
                </a:lnTo>
                <a:lnTo>
                  <a:pt x="2551636" y="2428"/>
                </a:lnTo>
                <a:lnTo>
                  <a:pt x="2542235" y="607"/>
                </a:lnTo>
                <a:lnTo>
                  <a:pt x="2532595" y="0"/>
                </a:lnTo>
                <a:close/>
              </a:path>
            </a:pathLst>
          </a:custGeom>
          <a:solidFill>
            <a:srgbClr val="F2F0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23584" y="1528858"/>
            <a:ext cx="1563370" cy="1145185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3400" b="1" spc="114" dirty="0">
                <a:solidFill>
                  <a:srgbClr val="C70F2D"/>
                </a:solidFill>
                <a:latin typeface="Trebuchet MS"/>
                <a:cs typeface="Trebuchet MS"/>
              </a:rPr>
              <a:t>₹</a:t>
            </a:r>
            <a:r>
              <a:rPr sz="3400" b="1" spc="114" dirty="0">
                <a:solidFill>
                  <a:srgbClr val="C70F2D"/>
                </a:solidFill>
                <a:latin typeface="Times New Roman"/>
                <a:cs typeface="Times New Roman"/>
              </a:rPr>
              <a:t>180</a:t>
            </a:r>
            <a:r>
              <a:rPr sz="3400" b="1" spc="-100" dirty="0">
                <a:solidFill>
                  <a:srgbClr val="C70F2D"/>
                </a:solidFill>
                <a:latin typeface="Times New Roman"/>
                <a:cs typeface="Times New Roman"/>
              </a:rPr>
              <a:t> </a:t>
            </a:r>
            <a:r>
              <a:rPr sz="3400" b="1" spc="-315" dirty="0">
                <a:solidFill>
                  <a:srgbClr val="C70F2D"/>
                </a:solidFill>
                <a:latin typeface="Times New Roman"/>
                <a:cs typeface="Times New Roman"/>
              </a:rPr>
              <a:t>Cr</a:t>
            </a:r>
            <a:endParaRPr sz="34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470"/>
              </a:spcBef>
            </a:pPr>
            <a:r>
              <a:rPr sz="1200" spc="-40" dirty="0">
                <a:solidFill>
                  <a:srgbClr val="6D6A67"/>
                </a:solidFill>
                <a:latin typeface="Tahoma"/>
                <a:cs typeface="Tahoma"/>
              </a:rPr>
              <a:t>illustrative</a:t>
            </a:r>
            <a:r>
              <a:rPr sz="1200" spc="-2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85" dirty="0">
                <a:solidFill>
                  <a:srgbClr val="6D6A67"/>
                </a:solidFill>
                <a:latin typeface="Tahoma"/>
                <a:cs typeface="Tahoma"/>
              </a:rPr>
              <a:t>Year-</a:t>
            </a:r>
            <a:r>
              <a:rPr sz="1200" spc="-50" dirty="0">
                <a:solidFill>
                  <a:srgbClr val="6D6A67"/>
                </a:solidFill>
                <a:latin typeface="Tahoma"/>
                <a:cs typeface="Tahoma"/>
              </a:rPr>
              <a:t>3</a:t>
            </a:r>
            <a:r>
              <a:rPr sz="1200" spc="-2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6D6A67"/>
                </a:solidFill>
                <a:latin typeface="Tahoma"/>
                <a:cs typeface="Tahoma"/>
              </a:rPr>
              <a:t>revenue </a:t>
            </a:r>
            <a:r>
              <a:rPr sz="1200" spc="-10" dirty="0">
                <a:solidFill>
                  <a:srgbClr val="6D6A67"/>
                </a:solidFill>
                <a:latin typeface="Tahoma"/>
                <a:cs typeface="Tahoma"/>
              </a:rPr>
              <a:t>opportunity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778240" y="1508404"/>
            <a:ext cx="2606040" cy="1371600"/>
          </a:xfrm>
          <a:custGeom>
            <a:avLst/>
            <a:gdLst/>
            <a:ahLst/>
            <a:cxnLst/>
            <a:rect l="l" t="t" r="r" b="b"/>
            <a:pathLst>
              <a:path w="2606040" h="1371600">
                <a:moveTo>
                  <a:pt x="2532595" y="0"/>
                </a:moveTo>
                <a:lnTo>
                  <a:pt x="73075" y="0"/>
                </a:lnTo>
                <a:lnTo>
                  <a:pt x="63599" y="607"/>
                </a:lnTo>
                <a:lnTo>
                  <a:pt x="21428" y="21458"/>
                </a:lnTo>
                <a:lnTo>
                  <a:pt x="607" y="63442"/>
                </a:lnTo>
                <a:lnTo>
                  <a:pt x="0" y="73075"/>
                </a:lnTo>
                <a:lnTo>
                  <a:pt x="0" y="1298511"/>
                </a:lnTo>
                <a:lnTo>
                  <a:pt x="594" y="1307789"/>
                </a:lnTo>
                <a:lnTo>
                  <a:pt x="607" y="1307989"/>
                </a:lnTo>
                <a:lnTo>
                  <a:pt x="21423" y="1350129"/>
                </a:lnTo>
                <a:lnTo>
                  <a:pt x="63443" y="1370992"/>
                </a:lnTo>
                <a:lnTo>
                  <a:pt x="73075" y="1371600"/>
                </a:lnTo>
                <a:lnTo>
                  <a:pt x="2532964" y="1371231"/>
                </a:lnTo>
                <a:lnTo>
                  <a:pt x="2577334" y="1356140"/>
                </a:lnTo>
                <a:lnTo>
                  <a:pt x="2600498" y="1326407"/>
                </a:lnTo>
                <a:lnTo>
                  <a:pt x="2600575" y="1326252"/>
                </a:lnTo>
                <a:lnTo>
                  <a:pt x="2603551" y="1317367"/>
                </a:lnTo>
                <a:lnTo>
                  <a:pt x="2603611" y="1317190"/>
                </a:lnTo>
                <a:lnTo>
                  <a:pt x="2605394" y="1307989"/>
                </a:lnTo>
                <a:lnTo>
                  <a:pt x="2605432" y="1307789"/>
                </a:lnTo>
                <a:lnTo>
                  <a:pt x="2606017" y="1298511"/>
                </a:lnTo>
                <a:lnTo>
                  <a:pt x="2606039" y="1298155"/>
                </a:lnTo>
                <a:lnTo>
                  <a:pt x="2605684" y="73075"/>
                </a:lnTo>
                <a:lnTo>
                  <a:pt x="2590580" y="28698"/>
                </a:lnTo>
                <a:lnTo>
                  <a:pt x="2551636" y="2428"/>
                </a:lnTo>
                <a:lnTo>
                  <a:pt x="2542235" y="607"/>
                </a:lnTo>
                <a:lnTo>
                  <a:pt x="2532595" y="0"/>
                </a:lnTo>
                <a:close/>
              </a:path>
            </a:pathLst>
          </a:custGeom>
          <a:solidFill>
            <a:srgbClr val="F2F0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966784" y="1528858"/>
            <a:ext cx="2195830" cy="1145185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3400" b="1" spc="-25" dirty="0">
                <a:solidFill>
                  <a:srgbClr val="C70F2D"/>
                </a:solidFill>
                <a:latin typeface="Times New Roman"/>
                <a:cs typeface="Times New Roman"/>
              </a:rPr>
              <a:t>10%</a:t>
            </a:r>
            <a:endParaRPr sz="34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470"/>
              </a:spcBef>
            </a:pPr>
            <a:r>
              <a:rPr sz="1200" spc="-50" dirty="0">
                <a:solidFill>
                  <a:srgbClr val="6D6A67"/>
                </a:solidFill>
                <a:latin typeface="Tahoma"/>
                <a:cs typeface="Tahoma"/>
              </a:rPr>
              <a:t>targeted </a:t>
            </a:r>
            <a:r>
              <a:rPr sz="1200" spc="-55" dirty="0">
                <a:solidFill>
                  <a:srgbClr val="6D6A67"/>
                </a:solidFill>
                <a:latin typeface="Tahoma"/>
                <a:cs typeface="Tahoma"/>
              </a:rPr>
              <a:t>share</a:t>
            </a:r>
            <a:r>
              <a:rPr sz="1200" spc="-4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6D6A67"/>
                </a:solidFill>
                <a:latin typeface="Tahoma"/>
                <a:cs typeface="Tahoma"/>
              </a:rPr>
              <a:t>of</a:t>
            </a:r>
            <a:r>
              <a:rPr sz="1200" spc="-45" dirty="0">
                <a:solidFill>
                  <a:srgbClr val="6D6A67"/>
                </a:solidFill>
                <a:latin typeface="Tahoma"/>
                <a:cs typeface="Tahoma"/>
              </a:rPr>
              <a:t> digital-</a:t>
            </a:r>
            <a:r>
              <a:rPr sz="1200" spc="-35" dirty="0">
                <a:solidFill>
                  <a:srgbClr val="6D6A67"/>
                </a:solidFill>
                <a:latin typeface="Tahoma"/>
                <a:cs typeface="Tahoma"/>
              </a:rPr>
              <a:t>addressable </a:t>
            </a:r>
            <a:r>
              <a:rPr sz="1200" spc="-50" dirty="0">
                <a:solidFill>
                  <a:srgbClr val="6D6A67"/>
                </a:solidFill>
                <a:latin typeface="Tahoma"/>
                <a:cs typeface="Tahoma"/>
              </a:rPr>
              <a:t>demand</a:t>
            </a:r>
            <a:r>
              <a:rPr sz="1200" spc="-7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6D6A67"/>
                </a:solidFill>
                <a:latin typeface="Tahoma"/>
                <a:cs typeface="Tahoma"/>
              </a:rPr>
              <a:t>by</a:t>
            </a:r>
            <a:r>
              <a:rPr sz="1200" spc="-7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6D6A67"/>
                </a:solidFill>
                <a:latin typeface="Tahoma"/>
                <a:cs typeface="Tahoma"/>
              </a:rPr>
              <a:t>Y3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48284" y="4160520"/>
            <a:ext cx="10881360" cy="2148840"/>
          </a:xfrm>
          <a:custGeom>
            <a:avLst/>
            <a:gdLst/>
            <a:ahLst/>
            <a:cxnLst/>
            <a:rect l="l" t="t" r="r" b="b"/>
            <a:pathLst>
              <a:path w="10881360" h="2148840">
                <a:moveTo>
                  <a:pt x="1080791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2075764"/>
                </a:lnTo>
                <a:lnTo>
                  <a:pt x="594" y="2085035"/>
                </a:lnTo>
                <a:lnTo>
                  <a:pt x="607" y="2085240"/>
                </a:lnTo>
                <a:lnTo>
                  <a:pt x="2394" y="2094436"/>
                </a:lnTo>
                <a:lnTo>
                  <a:pt x="2428" y="2094615"/>
                </a:lnTo>
                <a:lnTo>
                  <a:pt x="5412" y="2103499"/>
                </a:lnTo>
                <a:lnTo>
                  <a:pt x="5464" y="2103655"/>
                </a:lnTo>
                <a:lnTo>
                  <a:pt x="36360" y="2139124"/>
                </a:lnTo>
                <a:lnTo>
                  <a:pt x="73075" y="2148840"/>
                </a:lnTo>
                <a:lnTo>
                  <a:pt x="10808271" y="2148484"/>
                </a:lnTo>
                <a:lnTo>
                  <a:pt x="10852649" y="2133380"/>
                </a:lnTo>
                <a:lnTo>
                  <a:pt x="10875812" y="2103655"/>
                </a:lnTo>
                <a:lnTo>
                  <a:pt x="10875889" y="2103499"/>
                </a:lnTo>
                <a:lnTo>
                  <a:pt x="10881336" y="2075764"/>
                </a:lnTo>
                <a:lnTo>
                  <a:pt x="10881360" y="2075395"/>
                </a:lnTo>
                <a:lnTo>
                  <a:pt x="10880991" y="73075"/>
                </a:lnTo>
                <a:lnTo>
                  <a:pt x="10865900" y="28705"/>
                </a:lnTo>
                <a:lnTo>
                  <a:pt x="10826950" y="2428"/>
                </a:lnTo>
                <a:lnTo>
                  <a:pt x="10817549" y="607"/>
                </a:lnTo>
                <a:lnTo>
                  <a:pt x="10807915" y="0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35584" y="3191377"/>
            <a:ext cx="10568940" cy="137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4800"/>
              </a:lnSpc>
              <a:spcBef>
                <a:spcPts val="100"/>
              </a:spcBef>
            </a:pPr>
            <a:r>
              <a:rPr sz="1350" spc="-50" dirty="0">
                <a:solidFill>
                  <a:srgbClr val="131313"/>
                </a:solidFill>
                <a:latin typeface="Tahoma"/>
                <a:cs typeface="Tahoma"/>
              </a:rPr>
              <a:t>Budweiser</a:t>
            </a:r>
            <a:r>
              <a:rPr sz="1350" spc="-120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60" dirty="0">
                <a:solidFill>
                  <a:srgbClr val="131313"/>
                </a:solidFill>
                <a:latin typeface="Tahoma"/>
                <a:cs typeface="Tahoma"/>
              </a:rPr>
              <a:t>Beats</a:t>
            </a:r>
            <a:r>
              <a:rPr sz="1350" spc="-120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131313"/>
                </a:solidFill>
                <a:latin typeface="Tahoma"/>
                <a:cs typeface="Tahoma"/>
              </a:rPr>
              <a:t>launched</a:t>
            </a:r>
            <a:r>
              <a:rPr sz="1350" spc="-114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131313"/>
                </a:solidFill>
                <a:latin typeface="Tahoma"/>
                <a:cs typeface="Tahoma"/>
              </a:rPr>
              <a:t>in</a:t>
            </a:r>
            <a:r>
              <a:rPr sz="1350" spc="-12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65" dirty="0">
                <a:solidFill>
                  <a:srgbClr val="131313"/>
                </a:solidFill>
                <a:latin typeface="Tahoma"/>
                <a:cs typeface="Tahoma"/>
              </a:rPr>
              <a:t>2021</a:t>
            </a:r>
            <a:r>
              <a:rPr sz="1350" spc="-12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80" dirty="0">
                <a:solidFill>
                  <a:srgbClr val="131313"/>
                </a:solidFill>
                <a:latin typeface="Tahoma"/>
                <a:cs typeface="Tahoma"/>
              </a:rPr>
              <a:t>as</a:t>
            </a:r>
            <a:r>
              <a:rPr sz="1350" spc="-114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131313"/>
                </a:solidFill>
                <a:latin typeface="Tahoma"/>
                <a:cs typeface="Tahoma"/>
              </a:rPr>
              <a:t>Budweiser’s</a:t>
            </a:r>
            <a:r>
              <a:rPr sz="1350" spc="-12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131313"/>
                </a:solidFill>
                <a:latin typeface="Tahoma"/>
                <a:cs typeface="Tahoma"/>
              </a:rPr>
              <a:t>first</a:t>
            </a:r>
            <a:r>
              <a:rPr sz="1350" spc="-120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55" dirty="0">
                <a:solidFill>
                  <a:srgbClr val="131313"/>
                </a:solidFill>
                <a:latin typeface="Tahoma"/>
                <a:cs typeface="Tahoma"/>
              </a:rPr>
              <a:t>global</a:t>
            </a:r>
            <a:r>
              <a:rPr sz="1350" spc="-12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70" dirty="0">
                <a:solidFill>
                  <a:srgbClr val="131313"/>
                </a:solidFill>
                <a:latin typeface="Tahoma"/>
                <a:cs typeface="Tahoma"/>
              </a:rPr>
              <a:t>energy</a:t>
            </a:r>
            <a:r>
              <a:rPr sz="1350" spc="-12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131313"/>
                </a:solidFill>
                <a:latin typeface="Tahoma"/>
                <a:cs typeface="Tahoma"/>
              </a:rPr>
              <a:t>drink,</a:t>
            </a:r>
            <a:r>
              <a:rPr sz="1350" spc="-12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131313"/>
                </a:solidFill>
                <a:latin typeface="Tahoma"/>
                <a:cs typeface="Tahoma"/>
              </a:rPr>
              <a:t>positioned</a:t>
            </a:r>
            <a:r>
              <a:rPr sz="1350" spc="-12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131313"/>
                </a:solidFill>
                <a:latin typeface="Tahoma"/>
                <a:cs typeface="Tahoma"/>
              </a:rPr>
              <a:t>around</a:t>
            </a:r>
            <a:r>
              <a:rPr sz="1350" spc="-12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131313"/>
                </a:solidFill>
                <a:latin typeface="Tahoma"/>
                <a:cs typeface="Tahoma"/>
              </a:rPr>
              <a:t>cognitive</a:t>
            </a:r>
            <a:r>
              <a:rPr sz="1350" spc="-12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70" dirty="0">
                <a:solidFill>
                  <a:srgbClr val="131313"/>
                </a:solidFill>
                <a:latin typeface="Tahoma"/>
                <a:cs typeface="Tahoma"/>
              </a:rPr>
              <a:t>energy</a:t>
            </a:r>
            <a:r>
              <a:rPr sz="1350" spc="-12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131313"/>
                </a:solidFill>
                <a:latin typeface="Tahoma"/>
                <a:cs typeface="Tahoma"/>
              </a:rPr>
              <a:t>for</a:t>
            </a:r>
            <a:r>
              <a:rPr sz="1350" spc="-130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55" dirty="0">
                <a:solidFill>
                  <a:srgbClr val="131313"/>
                </a:solidFill>
                <a:latin typeface="Tahoma"/>
                <a:cs typeface="Tahoma"/>
              </a:rPr>
              <a:t>creative,</a:t>
            </a:r>
            <a:r>
              <a:rPr sz="1350" spc="-114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45" dirty="0">
                <a:solidFill>
                  <a:srgbClr val="131313"/>
                </a:solidFill>
                <a:latin typeface="Tahoma"/>
                <a:cs typeface="Tahoma"/>
              </a:rPr>
              <a:t>ambitious</a:t>
            </a:r>
            <a:r>
              <a:rPr sz="1350" spc="-114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55" dirty="0">
                <a:solidFill>
                  <a:srgbClr val="131313"/>
                </a:solidFill>
                <a:latin typeface="Tahoma"/>
                <a:cs typeface="Tahoma"/>
              </a:rPr>
              <a:t>minds</a:t>
            </a:r>
            <a:r>
              <a:rPr sz="1350" spc="-114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131313"/>
                </a:solidFill>
                <a:latin typeface="Tahoma"/>
                <a:cs typeface="Tahoma"/>
              </a:rPr>
              <a:t>rather</a:t>
            </a:r>
            <a:r>
              <a:rPr sz="1350" spc="-12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45" dirty="0">
                <a:solidFill>
                  <a:srgbClr val="131313"/>
                </a:solidFill>
                <a:latin typeface="Tahoma"/>
                <a:cs typeface="Tahoma"/>
              </a:rPr>
              <a:t>than</a:t>
            </a:r>
            <a:r>
              <a:rPr sz="1350" spc="-30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55" dirty="0">
                <a:solidFill>
                  <a:srgbClr val="131313"/>
                </a:solidFill>
                <a:latin typeface="Tahoma"/>
                <a:cs typeface="Tahoma"/>
              </a:rPr>
              <a:t>adrenaline.</a:t>
            </a:r>
            <a:r>
              <a:rPr sz="1350" spc="-130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60" dirty="0">
                <a:solidFill>
                  <a:srgbClr val="131313"/>
                </a:solidFill>
                <a:latin typeface="Tahoma"/>
                <a:cs typeface="Tahoma"/>
              </a:rPr>
              <a:t>Five</a:t>
            </a:r>
            <a:r>
              <a:rPr sz="1350" spc="-12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70" dirty="0">
                <a:solidFill>
                  <a:srgbClr val="131313"/>
                </a:solidFill>
                <a:latin typeface="Tahoma"/>
                <a:cs typeface="Tahoma"/>
              </a:rPr>
              <a:t>years</a:t>
            </a:r>
            <a:r>
              <a:rPr sz="1350" spc="-12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60" dirty="0">
                <a:solidFill>
                  <a:srgbClr val="131313"/>
                </a:solidFill>
                <a:latin typeface="Tahoma"/>
                <a:cs typeface="Tahoma"/>
              </a:rPr>
              <a:t>on,</a:t>
            </a:r>
            <a:r>
              <a:rPr sz="1350" spc="-12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65" dirty="0">
                <a:solidFill>
                  <a:srgbClr val="131313"/>
                </a:solidFill>
                <a:latin typeface="Tahoma"/>
                <a:cs typeface="Tahoma"/>
              </a:rPr>
              <a:t>quick-</a:t>
            </a:r>
            <a:r>
              <a:rPr sz="1350" spc="-60" dirty="0">
                <a:solidFill>
                  <a:srgbClr val="131313"/>
                </a:solidFill>
                <a:latin typeface="Tahoma"/>
                <a:cs typeface="Tahoma"/>
              </a:rPr>
              <a:t>commerce</a:t>
            </a:r>
            <a:r>
              <a:rPr sz="1350" spc="-12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70" dirty="0">
                <a:solidFill>
                  <a:srgbClr val="131313"/>
                </a:solidFill>
                <a:latin typeface="Tahoma"/>
                <a:cs typeface="Tahoma"/>
              </a:rPr>
              <a:t>has</a:t>
            </a:r>
            <a:r>
              <a:rPr sz="1350" spc="-114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60" dirty="0">
                <a:solidFill>
                  <a:srgbClr val="131313"/>
                </a:solidFill>
                <a:latin typeface="Tahoma"/>
                <a:cs typeface="Tahoma"/>
              </a:rPr>
              <a:t>become</a:t>
            </a:r>
            <a:r>
              <a:rPr sz="1350" spc="-12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70" dirty="0">
                <a:solidFill>
                  <a:srgbClr val="131313"/>
                </a:solidFill>
                <a:latin typeface="Tahoma"/>
                <a:cs typeface="Tahoma"/>
              </a:rPr>
              <a:t>India’s</a:t>
            </a:r>
            <a:r>
              <a:rPr sz="1350" spc="-114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65" dirty="0">
                <a:solidFill>
                  <a:srgbClr val="131313"/>
                </a:solidFill>
                <a:latin typeface="Tahoma"/>
                <a:cs typeface="Tahoma"/>
              </a:rPr>
              <a:t>fastest-growing</a:t>
            </a:r>
            <a:r>
              <a:rPr sz="1350" spc="-12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131313"/>
                </a:solidFill>
                <a:latin typeface="Tahoma"/>
                <a:cs typeface="Tahoma"/>
              </a:rPr>
              <a:t>retail</a:t>
            </a:r>
            <a:r>
              <a:rPr sz="1350" spc="-12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131313"/>
                </a:solidFill>
                <a:latin typeface="Tahoma"/>
                <a:cs typeface="Tahoma"/>
              </a:rPr>
              <a:t>channel</a:t>
            </a:r>
            <a:r>
              <a:rPr sz="1350" spc="-12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15" dirty="0">
                <a:solidFill>
                  <a:srgbClr val="131313"/>
                </a:solidFill>
                <a:latin typeface="Tahoma"/>
                <a:cs typeface="Tahoma"/>
              </a:rPr>
              <a:t>—</a:t>
            </a:r>
            <a:r>
              <a:rPr sz="1350" spc="-12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75" dirty="0">
                <a:solidFill>
                  <a:srgbClr val="131313"/>
                </a:solidFill>
                <a:latin typeface="Tahoma"/>
                <a:cs typeface="Tahoma"/>
              </a:rPr>
              <a:t>a</a:t>
            </a:r>
            <a:r>
              <a:rPr sz="1350" spc="-120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131313"/>
                </a:solidFill>
                <a:latin typeface="Tahoma"/>
                <a:cs typeface="Tahoma"/>
              </a:rPr>
              <a:t>natural</a:t>
            </a:r>
            <a:r>
              <a:rPr sz="1350" spc="-12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131313"/>
                </a:solidFill>
                <a:latin typeface="Tahoma"/>
                <a:cs typeface="Tahoma"/>
              </a:rPr>
              <a:t>next</a:t>
            </a:r>
            <a:r>
              <a:rPr sz="1350" spc="-120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75" dirty="0">
                <a:solidFill>
                  <a:srgbClr val="131313"/>
                </a:solidFill>
                <a:latin typeface="Tahoma"/>
                <a:cs typeface="Tahoma"/>
              </a:rPr>
              <a:t>stage</a:t>
            </a:r>
            <a:r>
              <a:rPr sz="1350" spc="-12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131313"/>
                </a:solidFill>
                <a:latin typeface="Tahoma"/>
                <a:cs typeface="Tahoma"/>
              </a:rPr>
              <a:t>for</a:t>
            </a:r>
            <a:r>
              <a:rPr sz="1350" spc="-12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75" dirty="0">
                <a:solidFill>
                  <a:srgbClr val="131313"/>
                </a:solidFill>
                <a:latin typeface="Tahoma"/>
                <a:cs typeface="Tahoma"/>
              </a:rPr>
              <a:t>a</a:t>
            </a:r>
            <a:r>
              <a:rPr sz="1350" spc="-12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60" dirty="0">
                <a:solidFill>
                  <a:srgbClr val="131313"/>
                </a:solidFill>
                <a:latin typeface="Tahoma"/>
                <a:cs typeface="Tahoma"/>
              </a:rPr>
              <a:t>brand</a:t>
            </a:r>
            <a:r>
              <a:rPr sz="1350" spc="-114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131313"/>
                </a:solidFill>
                <a:latin typeface="Tahoma"/>
                <a:cs typeface="Tahoma"/>
              </a:rPr>
              <a:t>built</a:t>
            </a:r>
            <a:r>
              <a:rPr sz="1350" spc="-120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131313"/>
                </a:solidFill>
                <a:latin typeface="Tahoma"/>
                <a:cs typeface="Tahoma"/>
              </a:rPr>
              <a:t>on</a:t>
            </a:r>
            <a:r>
              <a:rPr sz="1350" spc="-130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55" dirty="0">
                <a:solidFill>
                  <a:srgbClr val="131313"/>
                </a:solidFill>
                <a:latin typeface="Tahoma"/>
                <a:cs typeface="Tahoma"/>
              </a:rPr>
              <a:t>convenience</a:t>
            </a:r>
            <a:r>
              <a:rPr sz="1350" spc="-12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65" dirty="0">
                <a:solidFill>
                  <a:srgbClr val="131313"/>
                </a:solidFill>
                <a:latin typeface="Tahoma"/>
                <a:cs typeface="Tahoma"/>
              </a:rPr>
              <a:t>and</a:t>
            </a:r>
            <a:r>
              <a:rPr sz="1350" spc="-30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131313"/>
                </a:solidFill>
                <a:latin typeface="Tahoma"/>
                <a:cs typeface="Tahoma"/>
              </a:rPr>
              <a:t>instant</a:t>
            </a:r>
            <a:r>
              <a:rPr sz="1350" spc="-120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350" spc="-60" dirty="0">
                <a:solidFill>
                  <a:srgbClr val="131313"/>
                </a:solidFill>
                <a:latin typeface="Tahoma"/>
                <a:cs typeface="Tahoma"/>
              </a:rPr>
              <a:t>occasions.</a:t>
            </a:r>
            <a:endParaRPr sz="13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25"/>
              </a:spcBef>
            </a:pPr>
            <a:endParaRPr sz="1350" dirty="0">
              <a:latin typeface="Tahoma"/>
              <a:cs typeface="Tahoma"/>
            </a:endParaRPr>
          </a:p>
          <a:p>
            <a:pPr marL="332740">
              <a:lnSpc>
                <a:spcPct val="100000"/>
              </a:lnSpc>
            </a:pPr>
            <a:r>
              <a:rPr sz="1150" b="1" spc="-65" dirty="0">
                <a:solidFill>
                  <a:srgbClr val="D3AE36"/>
                </a:solidFill>
                <a:latin typeface="Trebuchet MS"/>
                <a:cs typeface="Trebuchet MS"/>
              </a:rPr>
              <a:t>R</a:t>
            </a:r>
            <a:r>
              <a:rPr sz="1150" b="1" spc="-145" dirty="0">
                <a:solidFill>
                  <a:srgbClr val="D3AE36"/>
                </a:solidFill>
                <a:latin typeface="Trebuchet MS"/>
                <a:cs typeface="Trebuchet MS"/>
              </a:rPr>
              <a:t> </a:t>
            </a:r>
            <a:r>
              <a:rPr sz="1150" b="1" spc="-100" dirty="0">
                <a:solidFill>
                  <a:srgbClr val="D3AE36"/>
                </a:solidFill>
                <a:latin typeface="Trebuchet MS"/>
                <a:cs typeface="Trebuchet MS"/>
              </a:rPr>
              <a:t>E</a:t>
            </a:r>
            <a:r>
              <a:rPr sz="1150" b="1" spc="-170" dirty="0">
                <a:solidFill>
                  <a:srgbClr val="D3AE36"/>
                </a:solidFill>
                <a:latin typeface="Trebuchet MS"/>
                <a:cs typeface="Trebuchet MS"/>
              </a:rPr>
              <a:t> </a:t>
            </a:r>
            <a:r>
              <a:rPr sz="1150" b="1" spc="-105" dirty="0">
                <a:solidFill>
                  <a:srgbClr val="D3AE36"/>
                </a:solidFill>
                <a:latin typeface="Trebuchet MS"/>
                <a:cs typeface="Trebuchet MS"/>
              </a:rPr>
              <a:t>C</a:t>
            </a:r>
            <a:r>
              <a:rPr sz="1150" b="1" spc="-155" dirty="0">
                <a:solidFill>
                  <a:srgbClr val="D3AE36"/>
                </a:solidFill>
                <a:latin typeface="Trebuchet MS"/>
                <a:cs typeface="Trebuchet MS"/>
              </a:rPr>
              <a:t> </a:t>
            </a:r>
            <a:r>
              <a:rPr sz="1150" b="1" spc="-50" dirty="0">
                <a:solidFill>
                  <a:srgbClr val="D3AE36"/>
                </a:solidFill>
                <a:latin typeface="Trebuchet MS"/>
                <a:cs typeface="Trebuchet MS"/>
              </a:rPr>
              <a:t>O</a:t>
            </a:r>
            <a:r>
              <a:rPr sz="1150" b="1" spc="-145" dirty="0">
                <a:solidFill>
                  <a:srgbClr val="D3AE36"/>
                </a:solidFill>
                <a:latin typeface="Trebuchet MS"/>
                <a:cs typeface="Trebuchet MS"/>
              </a:rPr>
              <a:t> </a:t>
            </a:r>
            <a:r>
              <a:rPr sz="1150" b="1" spc="135" dirty="0">
                <a:solidFill>
                  <a:srgbClr val="D3AE36"/>
                </a:solidFill>
                <a:latin typeface="Trebuchet MS"/>
                <a:cs typeface="Trebuchet MS"/>
              </a:rPr>
              <a:t>M</a:t>
            </a:r>
            <a:r>
              <a:rPr sz="1150" b="1" spc="-145" dirty="0">
                <a:solidFill>
                  <a:srgbClr val="D3AE36"/>
                </a:solidFill>
                <a:latin typeface="Trebuchet MS"/>
                <a:cs typeface="Trebuchet MS"/>
              </a:rPr>
              <a:t> </a:t>
            </a:r>
            <a:r>
              <a:rPr sz="1150" b="1" spc="135" dirty="0">
                <a:solidFill>
                  <a:srgbClr val="D3AE36"/>
                </a:solidFill>
                <a:latin typeface="Trebuchet MS"/>
                <a:cs typeface="Trebuchet MS"/>
              </a:rPr>
              <a:t>M</a:t>
            </a:r>
            <a:r>
              <a:rPr sz="1150" b="1" spc="-150" dirty="0">
                <a:solidFill>
                  <a:srgbClr val="D3AE36"/>
                </a:solidFill>
                <a:latin typeface="Trebuchet MS"/>
                <a:cs typeface="Trebuchet MS"/>
              </a:rPr>
              <a:t> </a:t>
            </a:r>
            <a:r>
              <a:rPr sz="1150" b="1" spc="-100" dirty="0">
                <a:solidFill>
                  <a:srgbClr val="D3AE36"/>
                </a:solidFill>
                <a:latin typeface="Trebuchet MS"/>
                <a:cs typeface="Trebuchet MS"/>
              </a:rPr>
              <a:t>E</a:t>
            </a:r>
            <a:r>
              <a:rPr sz="1150" b="1" spc="-145" dirty="0">
                <a:solidFill>
                  <a:srgbClr val="D3AE36"/>
                </a:solidFill>
                <a:latin typeface="Trebuchet MS"/>
                <a:cs typeface="Trebuchet MS"/>
              </a:rPr>
              <a:t> </a:t>
            </a:r>
            <a:r>
              <a:rPr sz="1150" b="1" spc="-10" dirty="0">
                <a:solidFill>
                  <a:srgbClr val="D3AE36"/>
                </a:solidFill>
                <a:latin typeface="Trebuchet MS"/>
                <a:cs typeface="Trebuchet MS"/>
              </a:rPr>
              <a:t>N</a:t>
            </a:r>
            <a:r>
              <a:rPr sz="1150" b="1" spc="-145" dirty="0">
                <a:solidFill>
                  <a:srgbClr val="D3AE36"/>
                </a:solidFill>
                <a:latin typeface="Trebuchet MS"/>
                <a:cs typeface="Trebuchet MS"/>
              </a:rPr>
              <a:t> </a:t>
            </a:r>
            <a:r>
              <a:rPr sz="1150" b="1" spc="-20" dirty="0">
                <a:solidFill>
                  <a:srgbClr val="D3AE36"/>
                </a:solidFill>
                <a:latin typeface="Trebuchet MS"/>
                <a:cs typeface="Trebuchet MS"/>
              </a:rPr>
              <a:t>D</a:t>
            </a:r>
            <a:r>
              <a:rPr sz="1150" b="1" spc="-180" dirty="0">
                <a:solidFill>
                  <a:srgbClr val="D3AE36"/>
                </a:solidFill>
                <a:latin typeface="Trebuchet MS"/>
                <a:cs typeface="Trebuchet MS"/>
              </a:rPr>
              <a:t> </a:t>
            </a:r>
            <a:r>
              <a:rPr sz="1150" b="1" spc="-30" dirty="0">
                <a:solidFill>
                  <a:srgbClr val="D3AE36"/>
                </a:solidFill>
                <a:latin typeface="Trebuchet MS"/>
                <a:cs typeface="Trebuchet MS"/>
              </a:rPr>
              <a:t>AT</a:t>
            </a:r>
            <a:r>
              <a:rPr sz="1150" b="1" spc="-155" dirty="0">
                <a:solidFill>
                  <a:srgbClr val="D3AE36"/>
                </a:solidFill>
                <a:latin typeface="Trebuchet MS"/>
                <a:cs typeface="Trebuchet MS"/>
              </a:rPr>
              <a:t> </a:t>
            </a:r>
            <a:r>
              <a:rPr sz="1150" b="1" spc="-25" dirty="0">
                <a:solidFill>
                  <a:srgbClr val="D3AE36"/>
                </a:solidFill>
                <a:latin typeface="Trebuchet MS"/>
                <a:cs typeface="Trebuchet MS"/>
              </a:rPr>
              <a:t>I</a:t>
            </a:r>
            <a:r>
              <a:rPr sz="1150" b="1" spc="-145" dirty="0">
                <a:solidFill>
                  <a:srgbClr val="D3AE36"/>
                </a:solidFill>
                <a:latin typeface="Trebuchet MS"/>
                <a:cs typeface="Trebuchet MS"/>
              </a:rPr>
              <a:t> </a:t>
            </a:r>
            <a:r>
              <a:rPr sz="1150" b="1" spc="-50" dirty="0">
                <a:solidFill>
                  <a:srgbClr val="D3AE36"/>
                </a:solidFill>
                <a:latin typeface="Trebuchet MS"/>
                <a:cs typeface="Trebuchet MS"/>
              </a:rPr>
              <a:t>O</a:t>
            </a:r>
            <a:r>
              <a:rPr sz="1150" b="1" spc="-145" dirty="0">
                <a:solidFill>
                  <a:srgbClr val="D3AE3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3AE36"/>
                </a:solidFill>
                <a:latin typeface="Trebuchet MS"/>
                <a:cs typeface="Trebuchet MS"/>
              </a:rPr>
              <a:t>N</a:t>
            </a:r>
            <a:r>
              <a:rPr sz="1150" b="1" spc="320" dirty="0">
                <a:solidFill>
                  <a:srgbClr val="D3AE3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3AE36"/>
                </a:solidFill>
                <a:latin typeface="Trebuchet MS"/>
                <a:cs typeface="Trebuchet MS"/>
              </a:rPr>
              <a:t>AT</a:t>
            </a:r>
            <a:r>
              <a:rPr sz="1150" b="1" spc="330" dirty="0">
                <a:solidFill>
                  <a:srgbClr val="D3AE3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3AE36"/>
                </a:solidFill>
                <a:latin typeface="Trebuchet MS"/>
                <a:cs typeface="Trebuchet MS"/>
              </a:rPr>
              <a:t>A</a:t>
            </a:r>
            <a:r>
              <a:rPr sz="1150" b="1" spc="320" dirty="0">
                <a:solidFill>
                  <a:srgbClr val="D3AE36"/>
                </a:solidFill>
                <a:latin typeface="Trebuchet MS"/>
                <a:cs typeface="Trebuchet MS"/>
              </a:rPr>
              <a:t> </a:t>
            </a:r>
            <a:r>
              <a:rPr sz="1150" b="1" spc="-55" dirty="0">
                <a:solidFill>
                  <a:srgbClr val="D3AE36"/>
                </a:solidFill>
                <a:latin typeface="Trebuchet MS"/>
                <a:cs typeface="Trebuchet MS"/>
              </a:rPr>
              <a:t>G</a:t>
            </a:r>
            <a:r>
              <a:rPr sz="1150" b="1" spc="-150" dirty="0">
                <a:solidFill>
                  <a:srgbClr val="D3AE36"/>
                </a:solidFill>
                <a:latin typeface="Trebuchet MS"/>
                <a:cs typeface="Trebuchet MS"/>
              </a:rPr>
              <a:t> </a:t>
            </a:r>
            <a:r>
              <a:rPr sz="1150" b="1" spc="-160" dirty="0">
                <a:solidFill>
                  <a:srgbClr val="D3AE36"/>
                </a:solidFill>
                <a:latin typeface="Trebuchet MS"/>
                <a:cs typeface="Trebuchet MS"/>
              </a:rPr>
              <a:t>L</a:t>
            </a:r>
            <a:r>
              <a:rPr sz="1150" b="1" spc="-150" dirty="0">
                <a:solidFill>
                  <a:srgbClr val="D3AE36"/>
                </a:solidFill>
                <a:latin typeface="Trebuchet MS"/>
                <a:cs typeface="Trebuchet MS"/>
              </a:rPr>
              <a:t> </a:t>
            </a:r>
            <a:r>
              <a:rPr sz="1150" b="1" spc="-35" dirty="0">
                <a:solidFill>
                  <a:srgbClr val="D3AE36"/>
                </a:solidFill>
                <a:latin typeface="Trebuchet MS"/>
                <a:cs typeface="Trebuchet MS"/>
              </a:rPr>
              <a:t>A</a:t>
            </a:r>
            <a:r>
              <a:rPr sz="1150" b="1" spc="-140" dirty="0">
                <a:solidFill>
                  <a:srgbClr val="D3AE36"/>
                </a:solidFill>
                <a:latin typeface="Trebuchet MS"/>
                <a:cs typeface="Trebuchet MS"/>
              </a:rPr>
              <a:t> </a:t>
            </a:r>
            <a:r>
              <a:rPr sz="1150" b="1" spc="-10" dirty="0">
                <a:solidFill>
                  <a:srgbClr val="D3AE36"/>
                </a:solidFill>
                <a:latin typeface="Trebuchet MS"/>
                <a:cs typeface="Trebuchet MS"/>
              </a:rPr>
              <a:t>N</a:t>
            </a:r>
            <a:r>
              <a:rPr sz="1150" b="1" spc="-150" dirty="0">
                <a:solidFill>
                  <a:srgbClr val="D3AE36"/>
                </a:solidFill>
                <a:latin typeface="Trebuchet MS"/>
                <a:cs typeface="Trebuchet MS"/>
              </a:rPr>
              <a:t> </a:t>
            </a:r>
            <a:r>
              <a:rPr sz="1150" b="1" spc="-105" dirty="0">
                <a:solidFill>
                  <a:srgbClr val="D3AE36"/>
                </a:solidFill>
                <a:latin typeface="Trebuchet MS"/>
                <a:cs typeface="Trebuchet MS"/>
              </a:rPr>
              <a:t>C</a:t>
            </a:r>
            <a:r>
              <a:rPr sz="1150" b="1" spc="-145" dirty="0">
                <a:solidFill>
                  <a:srgbClr val="D3AE36"/>
                </a:solidFill>
                <a:latin typeface="Trebuchet MS"/>
                <a:cs typeface="Trebuchet MS"/>
              </a:rPr>
              <a:t> </a:t>
            </a:r>
            <a:r>
              <a:rPr sz="1150" b="1" spc="-50" dirty="0">
                <a:solidFill>
                  <a:srgbClr val="D3AE36"/>
                </a:solidFill>
                <a:latin typeface="Trebuchet MS"/>
                <a:cs typeface="Trebuchet MS"/>
              </a:rPr>
              <a:t>E</a:t>
            </a:r>
            <a:endParaRPr sz="1150" dirty="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98702" y="4628413"/>
            <a:ext cx="9697898" cy="1207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300" spc="-35" dirty="0">
                <a:solidFill>
                  <a:srgbClr val="FFFFFF"/>
                </a:solidFill>
                <a:latin typeface="Tahoma"/>
                <a:cs typeface="Tahoma"/>
              </a:rPr>
              <a:t>1. </a:t>
            </a:r>
            <a:r>
              <a:rPr sz="1300" spc="-35" dirty="0" err="1">
                <a:solidFill>
                  <a:srgbClr val="FFFFFF"/>
                </a:solidFill>
                <a:latin typeface="Tahoma"/>
                <a:cs typeface="Tahoma"/>
              </a:rPr>
              <a:t>Prioritise</a:t>
            </a:r>
            <a:r>
              <a:rPr lang="en-IN" sz="13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5" dirty="0">
                <a:solidFill>
                  <a:srgbClr val="FFFFFF"/>
                </a:solidFill>
                <a:latin typeface="Tahoma"/>
                <a:cs typeface="Tahoma"/>
              </a:rPr>
              <a:t>Gen</a:t>
            </a:r>
            <a:r>
              <a:rPr sz="13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20" dirty="0">
                <a:solidFill>
                  <a:srgbClr val="FFFFFF"/>
                </a:solidFill>
                <a:latin typeface="Tahoma"/>
                <a:cs typeface="Tahoma"/>
              </a:rPr>
              <a:t>Z</a:t>
            </a:r>
            <a:r>
              <a:rPr sz="13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Tahoma"/>
                <a:cs typeface="Tahoma"/>
              </a:rPr>
              <a:t>students</a:t>
            </a:r>
            <a:r>
              <a:rPr sz="13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65" dirty="0">
                <a:solidFill>
                  <a:srgbClr val="FFFFFF"/>
                </a:solidFill>
                <a:latin typeface="Tahoma"/>
                <a:cs typeface="Tahoma"/>
              </a:rPr>
              <a:t>young</a:t>
            </a:r>
            <a:r>
              <a:rPr sz="13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Tahoma"/>
                <a:cs typeface="Tahoma"/>
              </a:rPr>
              <a:t>urban</a:t>
            </a:r>
            <a:r>
              <a:rPr sz="13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Tahoma"/>
                <a:cs typeface="Tahoma"/>
              </a:rPr>
              <a:t>professionals</a:t>
            </a:r>
            <a:r>
              <a:rPr sz="13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75" dirty="0">
                <a:solidFill>
                  <a:srgbClr val="FFFFFF"/>
                </a:solidFill>
                <a:latin typeface="Tahoma"/>
                <a:cs typeface="Tahoma"/>
              </a:rPr>
              <a:t>(18–</a:t>
            </a:r>
            <a:r>
              <a:rPr sz="1300" spc="-70" dirty="0">
                <a:solidFill>
                  <a:srgbClr val="FFFFFF"/>
                </a:solidFill>
                <a:latin typeface="Tahoma"/>
                <a:cs typeface="Tahoma"/>
              </a:rPr>
              <a:t>32)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—</a:t>
            </a:r>
            <a:r>
              <a:rPr sz="13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4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65" dirty="0">
                <a:solidFill>
                  <a:srgbClr val="FFFFFF"/>
                </a:solidFill>
                <a:latin typeface="Tahoma"/>
                <a:cs typeface="Tahoma"/>
              </a:rPr>
              <a:t>segments</a:t>
            </a:r>
            <a:r>
              <a:rPr sz="13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Tahoma"/>
                <a:cs typeface="Tahoma"/>
              </a:rPr>
              <a:t>most</a:t>
            </a:r>
            <a:r>
              <a:rPr sz="13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Tahoma"/>
                <a:cs typeface="Tahoma"/>
              </a:rPr>
              <a:t>aligned</a:t>
            </a:r>
            <a:r>
              <a:rPr sz="13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45" dirty="0">
                <a:solidFill>
                  <a:srgbClr val="FFFFFF"/>
                </a:solidFill>
                <a:latin typeface="Tahoma"/>
                <a:cs typeface="Tahoma"/>
              </a:rPr>
              <a:t>Beats’</a:t>
            </a:r>
            <a:r>
              <a:rPr sz="13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60" dirty="0">
                <a:solidFill>
                  <a:srgbClr val="FFFFFF"/>
                </a:solidFill>
                <a:latin typeface="Tahoma"/>
                <a:cs typeface="Tahoma"/>
              </a:rPr>
              <a:t>focus-</a:t>
            </a:r>
            <a:r>
              <a:rPr sz="1300" spc="-65" dirty="0">
                <a:solidFill>
                  <a:srgbClr val="FFFFFF"/>
                </a:solidFill>
                <a:latin typeface="Tahoma"/>
                <a:cs typeface="Tahoma"/>
              </a:rPr>
              <a:t>and-</a:t>
            </a:r>
            <a:r>
              <a:rPr sz="1300" spc="-50" dirty="0">
                <a:solidFill>
                  <a:srgbClr val="FFFFFF"/>
                </a:solidFill>
                <a:latin typeface="Tahoma"/>
                <a:cs typeface="Tahoma"/>
              </a:rPr>
              <a:t>hustle</a:t>
            </a:r>
            <a:r>
              <a:rPr sz="13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positioning.</a:t>
            </a:r>
            <a:endParaRPr sz="13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lang="en-IN" sz="1300" spc="-70" dirty="0">
                <a:solidFill>
                  <a:srgbClr val="FFFFFF"/>
                </a:solidFill>
                <a:latin typeface="Tahoma"/>
                <a:cs typeface="Tahoma"/>
              </a:rPr>
              <a:t>2. </a:t>
            </a:r>
            <a:r>
              <a:rPr sz="1300" spc="-70" dirty="0">
                <a:solidFill>
                  <a:srgbClr val="FFFFFF"/>
                </a:solidFill>
                <a:latin typeface="Tahoma"/>
                <a:cs typeface="Tahoma"/>
              </a:rPr>
              <a:t>Lead</a:t>
            </a:r>
            <a:r>
              <a:rPr sz="13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5" dirty="0">
                <a:solidFill>
                  <a:srgbClr val="FFFFFF"/>
                </a:solidFill>
                <a:latin typeface="Tahoma"/>
                <a:cs typeface="Tahoma"/>
              </a:rPr>
              <a:t>expansion</a:t>
            </a:r>
            <a:r>
              <a:rPr sz="13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3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3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5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13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45" dirty="0">
                <a:solidFill>
                  <a:srgbClr val="FFFFFF"/>
                </a:solidFill>
                <a:latin typeface="Tahoma"/>
                <a:cs typeface="Tahoma"/>
              </a:rPr>
              <a:t>metro</a:t>
            </a:r>
            <a:r>
              <a:rPr sz="13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40" dirty="0">
                <a:solidFill>
                  <a:srgbClr val="FFFFFF"/>
                </a:solidFill>
                <a:latin typeface="Tahoma"/>
                <a:cs typeface="Tahoma"/>
              </a:rPr>
              <a:t>cities</a:t>
            </a:r>
            <a:r>
              <a:rPr sz="13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35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3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45" dirty="0">
                <a:solidFill>
                  <a:srgbClr val="FFFFFF"/>
                </a:solidFill>
                <a:latin typeface="Tahoma"/>
                <a:cs typeface="Tahoma"/>
              </a:rPr>
              <a:t>combine</a:t>
            </a:r>
            <a:r>
              <a:rPr sz="13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5" dirty="0">
                <a:solidFill>
                  <a:srgbClr val="FFFFFF"/>
                </a:solidFill>
                <a:latin typeface="Tahoma"/>
                <a:cs typeface="Tahoma"/>
              </a:rPr>
              <a:t>high</a:t>
            </a:r>
            <a:r>
              <a:rPr sz="1300" spc="-60" dirty="0">
                <a:solidFill>
                  <a:srgbClr val="FFFFFF"/>
                </a:solidFill>
                <a:latin typeface="Tahoma"/>
                <a:cs typeface="Tahoma"/>
              </a:rPr>
              <a:t> quick-commerce</a:t>
            </a:r>
            <a:r>
              <a:rPr sz="13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45" dirty="0">
                <a:solidFill>
                  <a:srgbClr val="FFFFFF"/>
                </a:solidFill>
                <a:latin typeface="Tahoma"/>
                <a:cs typeface="Tahoma"/>
              </a:rPr>
              <a:t>penetration</a:t>
            </a:r>
            <a:r>
              <a:rPr sz="13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3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300" spc="-60" dirty="0">
                <a:solidFill>
                  <a:srgbClr val="FFFFFF"/>
                </a:solidFill>
                <a:latin typeface="Tahoma"/>
                <a:cs typeface="Tahoma"/>
              </a:rPr>
              <a:t> dense</a:t>
            </a:r>
            <a:r>
              <a:rPr sz="13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60" dirty="0">
                <a:solidFill>
                  <a:srgbClr val="FFFFFF"/>
                </a:solidFill>
                <a:latin typeface="Tahoma"/>
                <a:cs typeface="Tahoma"/>
              </a:rPr>
              <a:t>category</a:t>
            </a:r>
            <a:r>
              <a:rPr sz="13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demand.</a:t>
            </a:r>
            <a:endParaRPr sz="1300" dirty="0">
              <a:latin typeface="Tahoma"/>
              <a:cs typeface="Tahoma"/>
            </a:endParaRPr>
          </a:p>
          <a:p>
            <a:pPr marL="12700" marR="5080">
              <a:lnSpc>
                <a:spcPct val="177400"/>
              </a:lnSpc>
            </a:pPr>
            <a:r>
              <a:rPr lang="en-IN" sz="1300" spc="-60" dirty="0">
                <a:solidFill>
                  <a:srgbClr val="FFFFFF"/>
                </a:solidFill>
                <a:latin typeface="Tahoma"/>
                <a:cs typeface="Tahoma"/>
              </a:rPr>
              <a:t>3. </a:t>
            </a:r>
            <a:r>
              <a:rPr sz="1300" spc="-60" dirty="0">
                <a:solidFill>
                  <a:srgbClr val="FFFFFF"/>
                </a:solidFill>
                <a:latin typeface="Tahoma"/>
                <a:cs typeface="Tahoma"/>
              </a:rPr>
              <a:t>Rebalance</a:t>
            </a:r>
            <a:r>
              <a:rPr sz="13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Tahoma"/>
                <a:cs typeface="Tahoma"/>
              </a:rPr>
              <a:t>channel</a:t>
            </a:r>
            <a:r>
              <a:rPr sz="1300" spc="-55" dirty="0">
                <a:solidFill>
                  <a:srgbClr val="FFFFFF"/>
                </a:solidFill>
                <a:latin typeface="Tahoma"/>
                <a:cs typeface="Tahoma"/>
              </a:rPr>
              <a:t> investment</a:t>
            </a:r>
            <a:r>
              <a:rPr sz="13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45" dirty="0">
                <a:solidFill>
                  <a:srgbClr val="FFFFFF"/>
                </a:solidFill>
                <a:latin typeface="Tahoma"/>
                <a:cs typeface="Tahoma"/>
              </a:rPr>
              <a:t>toward</a:t>
            </a:r>
            <a:r>
              <a:rPr sz="13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65" dirty="0">
                <a:solidFill>
                  <a:srgbClr val="FFFFFF"/>
                </a:solidFill>
                <a:latin typeface="Tahoma"/>
                <a:cs typeface="Tahoma"/>
              </a:rPr>
              <a:t>quick-</a:t>
            </a:r>
            <a:r>
              <a:rPr sz="1300" spc="-55" dirty="0">
                <a:solidFill>
                  <a:srgbClr val="FFFFFF"/>
                </a:solidFill>
                <a:latin typeface="Tahoma"/>
                <a:cs typeface="Tahoma"/>
              </a:rPr>
              <a:t>commerce</a:t>
            </a:r>
            <a:r>
              <a:rPr sz="13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4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3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60" dirty="0">
                <a:solidFill>
                  <a:srgbClr val="FFFFFF"/>
                </a:solidFill>
                <a:latin typeface="Tahoma"/>
                <a:cs typeface="Tahoma"/>
              </a:rPr>
              <a:t>on-</a:t>
            </a:r>
            <a:r>
              <a:rPr sz="1300" spc="-55" dirty="0">
                <a:solidFill>
                  <a:srgbClr val="FFFFFF"/>
                </a:solidFill>
                <a:latin typeface="Tahoma"/>
                <a:cs typeface="Tahoma"/>
              </a:rPr>
              <a:t>demand occasions,</a:t>
            </a:r>
            <a:r>
              <a:rPr sz="1300" spc="-35" dirty="0">
                <a:solidFill>
                  <a:srgbClr val="FFFFFF"/>
                </a:solidFill>
                <a:latin typeface="Tahoma"/>
                <a:cs typeface="Tahoma"/>
              </a:rPr>
              <a:t> while</a:t>
            </a:r>
            <a:r>
              <a:rPr sz="13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70" dirty="0">
                <a:solidFill>
                  <a:srgbClr val="FFFFFF"/>
                </a:solidFill>
                <a:latin typeface="Tahoma"/>
                <a:cs typeface="Tahoma"/>
              </a:rPr>
              <a:t>e-</a:t>
            </a:r>
            <a:r>
              <a:rPr sz="1300" spc="-55" dirty="0">
                <a:solidFill>
                  <a:srgbClr val="FFFFFF"/>
                </a:solidFill>
                <a:latin typeface="Tahoma"/>
                <a:cs typeface="Tahoma"/>
              </a:rPr>
              <a:t>commerce </a:t>
            </a:r>
            <a:r>
              <a:rPr sz="1300" spc="-50" dirty="0">
                <a:solidFill>
                  <a:srgbClr val="FFFFFF"/>
                </a:solidFill>
                <a:latin typeface="Tahoma"/>
                <a:cs typeface="Tahoma"/>
              </a:rPr>
              <a:t>carries</a:t>
            </a:r>
            <a:r>
              <a:rPr sz="1300" spc="-45" dirty="0">
                <a:solidFill>
                  <a:srgbClr val="FFFFFF"/>
                </a:solidFill>
                <a:latin typeface="Tahoma"/>
                <a:cs typeface="Tahoma"/>
              </a:rPr>
              <a:t> subscription</a:t>
            </a:r>
            <a:r>
              <a:rPr sz="13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45" dirty="0">
                <a:solidFill>
                  <a:srgbClr val="FFFFFF"/>
                </a:solidFill>
                <a:latin typeface="Tahoma"/>
                <a:cs typeface="Tahoma"/>
              </a:rPr>
              <a:t>bulk</a:t>
            </a:r>
            <a:r>
              <a:rPr sz="13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reorders. </a:t>
            </a:r>
            <a:r>
              <a:rPr lang="en-IN" sz="1300" spc="-10" dirty="0">
                <a:solidFill>
                  <a:srgbClr val="FFFFFF"/>
                </a:solidFill>
                <a:latin typeface="Tahoma"/>
                <a:cs typeface="Tahoma"/>
              </a:rPr>
              <a:t>4. </a:t>
            </a:r>
            <a:r>
              <a:rPr sz="1300" spc="-50" dirty="0">
                <a:solidFill>
                  <a:srgbClr val="FFFFFF"/>
                </a:solidFill>
                <a:latin typeface="Tahoma"/>
                <a:cs typeface="Tahoma"/>
              </a:rPr>
              <a:t>Anchor </a:t>
            </a:r>
            <a:r>
              <a:rPr sz="1300" spc="-4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40" dirty="0">
                <a:solidFill>
                  <a:srgbClr val="FFFFFF"/>
                </a:solidFill>
                <a:latin typeface="Tahoma"/>
                <a:cs typeface="Tahoma"/>
              </a:rPr>
              <a:t>plan</a:t>
            </a:r>
            <a:r>
              <a:rPr sz="13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35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300" spc="-60" dirty="0">
                <a:solidFill>
                  <a:srgbClr val="FFFFFF"/>
                </a:solidFill>
                <a:latin typeface="Tahoma"/>
                <a:cs typeface="Tahoma"/>
              </a:rPr>
              <a:t> AB </a:t>
            </a:r>
            <a:r>
              <a:rPr sz="1300" spc="-70" dirty="0">
                <a:solidFill>
                  <a:srgbClr val="FFFFFF"/>
                </a:solidFill>
                <a:latin typeface="Tahoma"/>
                <a:cs typeface="Tahoma"/>
              </a:rPr>
              <a:t>InBev’s</a:t>
            </a:r>
            <a:r>
              <a:rPr sz="13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60" dirty="0">
                <a:solidFill>
                  <a:srgbClr val="FFFFFF"/>
                </a:solidFill>
                <a:latin typeface="Tahoma"/>
                <a:cs typeface="Tahoma"/>
              </a:rPr>
              <a:t>existing </a:t>
            </a:r>
            <a:r>
              <a:rPr sz="1300" spc="-45" dirty="0">
                <a:solidFill>
                  <a:srgbClr val="FFFFFF"/>
                </a:solidFill>
                <a:latin typeface="Tahoma"/>
                <a:cs typeface="Tahoma"/>
              </a:rPr>
              <a:t>sustainability</a:t>
            </a:r>
            <a:r>
              <a:rPr sz="13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Tahoma"/>
                <a:cs typeface="Tahoma"/>
              </a:rPr>
              <a:t>commitments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—</a:t>
            </a:r>
            <a:r>
              <a:rPr sz="13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40" dirty="0">
                <a:solidFill>
                  <a:srgbClr val="FFFFFF"/>
                </a:solidFill>
                <a:latin typeface="Tahoma"/>
                <a:cs typeface="Tahoma"/>
              </a:rPr>
              <a:t>circular</a:t>
            </a:r>
            <a:r>
              <a:rPr sz="13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70" dirty="0">
                <a:solidFill>
                  <a:srgbClr val="FFFFFF"/>
                </a:solidFill>
                <a:latin typeface="Tahoma"/>
                <a:cs typeface="Tahoma"/>
              </a:rPr>
              <a:t>cans,</a:t>
            </a:r>
            <a:r>
              <a:rPr sz="13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Tahoma"/>
                <a:cs typeface="Tahoma"/>
              </a:rPr>
              <a:t>water</a:t>
            </a:r>
            <a:r>
              <a:rPr sz="1300" spc="-55" dirty="0">
                <a:solidFill>
                  <a:srgbClr val="FFFFFF"/>
                </a:solidFill>
                <a:latin typeface="Tahoma"/>
                <a:cs typeface="Tahoma"/>
              </a:rPr>
              <a:t> stewardship</a:t>
            </a:r>
            <a:r>
              <a:rPr sz="13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Tahoma"/>
                <a:cs typeface="Tahoma"/>
              </a:rPr>
              <a:t>low-carbon</a:t>
            </a:r>
            <a:r>
              <a:rPr sz="1300" spc="-60" dirty="0">
                <a:solidFill>
                  <a:srgbClr val="FFFFFF"/>
                </a:solidFill>
                <a:latin typeface="Tahoma"/>
                <a:cs typeface="Tahoma"/>
              </a:rPr>
              <a:t> last-</a:t>
            </a:r>
            <a:r>
              <a:rPr sz="1300" spc="-40" dirty="0">
                <a:solidFill>
                  <a:srgbClr val="FFFFFF"/>
                </a:solidFill>
                <a:latin typeface="Tahoma"/>
                <a:cs typeface="Tahoma"/>
              </a:rPr>
              <a:t>mile</a:t>
            </a:r>
            <a:r>
              <a:rPr sz="13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delivery.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4144" y="6584301"/>
            <a:ext cx="1841856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r>
              <a:rPr sz="900" spc="-4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sz="900" spc="-4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sz="900" spc="-5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Executive</a:t>
            </a:r>
            <a:r>
              <a:rPr sz="900" spc="-3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Summary</a:t>
            </a:r>
            <a:endParaRPr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831857" y="6584301"/>
            <a:ext cx="191643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Budweiser</a:t>
            </a:r>
            <a:r>
              <a:rPr sz="900" spc="-5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Beats</a:t>
            </a:r>
            <a:r>
              <a:rPr sz="900" spc="-5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900" spc="-5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5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India</a:t>
            </a:r>
            <a:r>
              <a:rPr sz="900" spc="-4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3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Growth</a:t>
            </a:r>
            <a:r>
              <a:rPr sz="900" spc="-5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3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Strategy</a:t>
            </a:r>
            <a:endParaRPr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400" y="381000"/>
            <a:ext cx="4038600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CC0523"/>
                </a:solidFill>
                <a:latin typeface="Arial"/>
                <a:cs typeface="Arial"/>
              </a:rPr>
              <a:t>CONSUMER</a:t>
            </a:r>
            <a:r>
              <a:rPr sz="1250" b="1" spc="-10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CC0523"/>
                </a:solidFill>
                <a:latin typeface="Arial"/>
                <a:cs typeface="Arial"/>
              </a:rPr>
              <a:t>&amp;</a:t>
            </a:r>
            <a:r>
              <a:rPr sz="1250" b="1" spc="-15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CC0523"/>
                </a:solidFill>
                <a:latin typeface="Arial"/>
                <a:cs typeface="Arial"/>
              </a:rPr>
              <a:t>MARKET</a:t>
            </a:r>
            <a:r>
              <a:rPr sz="1250" b="1" spc="-15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CC0523"/>
                </a:solidFill>
                <a:latin typeface="Arial"/>
                <a:cs typeface="Arial"/>
              </a:rPr>
              <a:t>ANALYSIS</a:t>
            </a:r>
            <a:r>
              <a:rPr sz="1250" b="1" spc="-5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CC0523"/>
                </a:solidFill>
                <a:latin typeface="Arial"/>
                <a:cs typeface="Arial"/>
              </a:rPr>
              <a:t>·</a:t>
            </a:r>
            <a:r>
              <a:rPr sz="1250" b="1" spc="-10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250" b="1" spc="-50" dirty="0">
                <a:solidFill>
                  <a:srgbClr val="CC0523"/>
                </a:solidFill>
                <a:latin typeface="Arial"/>
                <a:cs typeface="Arial"/>
              </a:rPr>
              <a:t>1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41414"/>
                </a:solidFill>
              </a:rPr>
              <a:t>Why</a:t>
            </a:r>
            <a:r>
              <a:rPr spc="-40" dirty="0">
                <a:solidFill>
                  <a:srgbClr val="141414"/>
                </a:solidFill>
              </a:rPr>
              <a:t> </a:t>
            </a:r>
            <a:r>
              <a:rPr dirty="0">
                <a:solidFill>
                  <a:srgbClr val="141414"/>
                </a:solidFill>
              </a:rPr>
              <a:t>Now:</a:t>
            </a:r>
            <a:r>
              <a:rPr spc="-35" dirty="0">
                <a:solidFill>
                  <a:srgbClr val="141414"/>
                </a:solidFill>
              </a:rPr>
              <a:t> </a:t>
            </a:r>
            <a:r>
              <a:rPr dirty="0">
                <a:solidFill>
                  <a:srgbClr val="141414"/>
                </a:solidFill>
              </a:rPr>
              <a:t>Energy</a:t>
            </a:r>
            <a:r>
              <a:rPr spc="-35" dirty="0">
                <a:solidFill>
                  <a:srgbClr val="141414"/>
                </a:solidFill>
              </a:rPr>
              <a:t> </a:t>
            </a:r>
            <a:r>
              <a:rPr dirty="0">
                <a:solidFill>
                  <a:srgbClr val="141414"/>
                </a:solidFill>
              </a:rPr>
              <a:t>Demand</a:t>
            </a:r>
            <a:r>
              <a:rPr spc="-35" dirty="0">
                <a:solidFill>
                  <a:srgbClr val="141414"/>
                </a:solidFill>
              </a:rPr>
              <a:t> </a:t>
            </a:r>
            <a:r>
              <a:rPr dirty="0">
                <a:solidFill>
                  <a:srgbClr val="141414"/>
                </a:solidFill>
              </a:rPr>
              <a:t>Meets</a:t>
            </a:r>
            <a:r>
              <a:rPr spc="-35" dirty="0">
                <a:solidFill>
                  <a:srgbClr val="141414"/>
                </a:solidFill>
              </a:rPr>
              <a:t> </a:t>
            </a:r>
            <a:r>
              <a:rPr dirty="0">
                <a:solidFill>
                  <a:srgbClr val="141414"/>
                </a:solidFill>
              </a:rPr>
              <a:t>Instant</a:t>
            </a:r>
            <a:r>
              <a:rPr spc="-35" dirty="0">
                <a:solidFill>
                  <a:srgbClr val="141414"/>
                </a:solidFill>
              </a:rPr>
              <a:t> </a:t>
            </a:r>
            <a:r>
              <a:rPr spc="-10" dirty="0">
                <a:solidFill>
                  <a:srgbClr val="141414"/>
                </a:solidFill>
              </a:rPr>
              <a:t>Delivery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3400" y="1181100"/>
            <a:ext cx="57105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Public</a:t>
            </a:r>
            <a:r>
              <a:rPr sz="1100" i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evidence</a:t>
            </a:r>
            <a:r>
              <a:rPr sz="1100" i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points</a:t>
            </a:r>
            <a:r>
              <a:rPr sz="1100" i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100" i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100" i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category</a:t>
            </a:r>
            <a:r>
              <a:rPr sz="1100" i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opportunity</a:t>
            </a:r>
            <a:r>
              <a:rPr sz="1100" i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increasingly</a:t>
            </a:r>
            <a:r>
              <a:rPr sz="1100" i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shaped</a:t>
            </a:r>
            <a:r>
              <a:rPr sz="1100" i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by</a:t>
            </a:r>
            <a:r>
              <a:rPr sz="1100" i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urban</a:t>
            </a:r>
            <a:r>
              <a:rPr sz="1100" i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666666"/>
                </a:solidFill>
                <a:latin typeface="Arial"/>
                <a:cs typeface="Arial"/>
              </a:rPr>
              <a:t>convenience.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9750" y="1708150"/>
            <a:ext cx="5372100" cy="3427220"/>
          </a:xfrm>
          <a:prstGeom prst="rect">
            <a:avLst/>
          </a:prstGeom>
          <a:solidFill>
            <a:srgbClr val="F2EFED"/>
          </a:solidFill>
          <a:ln w="3175">
            <a:solidFill>
              <a:srgbClr val="F2EFED"/>
            </a:solidFill>
          </a:ln>
        </p:spPr>
        <p:txBody>
          <a:bodyPr vert="horz" wrap="square" lIns="0" tIns="488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247650">
              <a:lnSpc>
                <a:spcPct val="100000"/>
              </a:lnSpc>
            </a:pPr>
            <a:r>
              <a:rPr sz="1100" b="1" dirty="0">
                <a:solidFill>
                  <a:srgbClr val="141414"/>
                </a:solidFill>
                <a:latin typeface="Arial"/>
                <a:cs typeface="Arial"/>
              </a:rPr>
              <a:t>ENERGY</a:t>
            </a:r>
            <a:r>
              <a:rPr sz="1100" b="1" spc="-30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41414"/>
                </a:solidFill>
                <a:latin typeface="Arial"/>
                <a:cs typeface="Arial"/>
              </a:rPr>
              <a:t>DRINKS</a:t>
            </a:r>
            <a:r>
              <a:rPr sz="1100" b="1" spc="-30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41414"/>
                </a:solidFill>
                <a:latin typeface="Arial"/>
                <a:cs typeface="Arial"/>
              </a:rPr>
              <a:t>IN</a:t>
            </a:r>
            <a:r>
              <a:rPr sz="1100" b="1" spc="-30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41414"/>
                </a:solidFill>
                <a:latin typeface="Arial"/>
                <a:cs typeface="Arial"/>
              </a:rPr>
              <a:t>INDIA</a:t>
            </a:r>
            <a:endParaRPr sz="1100" dirty="0">
              <a:latin typeface="Arial"/>
              <a:cs typeface="Arial"/>
            </a:endParaRPr>
          </a:p>
          <a:p>
            <a:pPr marL="247650" marR="1887220">
              <a:lnSpc>
                <a:spcPct val="125000"/>
              </a:lnSpc>
              <a:spcBef>
                <a:spcPts val="1000"/>
              </a:spcBef>
            </a:pPr>
            <a:r>
              <a:rPr sz="1600" b="1" dirty="0">
                <a:solidFill>
                  <a:srgbClr val="141414"/>
                </a:solidFill>
                <a:latin typeface="Arial"/>
                <a:cs typeface="Arial"/>
              </a:rPr>
              <a:t>Urban</a:t>
            </a:r>
            <a:r>
              <a:rPr sz="1600" b="1" spc="-2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41414"/>
                </a:solidFill>
                <a:latin typeface="Arial"/>
                <a:cs typeface="Arial"/>
              </a:rPr>
              <a:t>lifestyles</a:t>
            </a:r>
            <a:r>
              <a:rPr sz="1600" b="1" spc="-2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41414"/>
                </a:solidFill>
                <a:latin typeface="Arial"/>
                <a:cs typeface="Arial"/>
              </a:rPr>
              <a:t>are</a:t>
            </a:r>
            <a:r>
              <a:rPr sz="1600" b="1" spc="-20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141414"/>
                </a:solidFill>
                <a:latin typeface="Arial"/>
                <a:cs typeface="Arial"/>
              </a:rPr>
              <a:t>making </a:t>
            </a:r>
            <a:r>
              <a:rPr sz="1600" b="1" dirty="0">
                <a:solidFill>
                  <a:srgbClr val="141414"/>
                </a:solidFill>
                <a:latin typeface="Arial"/>
                <a:cs typeface="Arial"/>
              </a:rPr>
              <a:t>energy</a:t>
            </a:r>
            <a:r>
              <a:rPr sz="1600" b="1" spc="-20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41414"/>
                </a:solidFill>
                <a:latin typeface="Arial"/>
                <a:cs typeface="Arial"/>
              </a:rPr>
              <a:t>drinks</a:t>
            </a:r>
            <a:r>
              <a:rPr sz="1600" b="1" spc="-20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41414"/>
                </a:solidFill>
                <a:latin typeface="Arial"/>
                <a:cs typeface="Arial"/>
              </a:rPr>
              <a:t>a</a:t>
            </a:r>
            <a:r>
              <a:rPr sz="1600" b="1" spc="-20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41414"/>
                </a:solidFill>
                <a:latin typeface="Arial"/>
                <a:cs typeface="Arial"/>
              </a:rPr>
              <a:t>functional</a:t>
            </a:r>
            <a:r>
              <a:rPr sz="1600" b="1" spc="-20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141414"/>
                </a:solidFill>
                <a:latin typeface="Arial"/>
                <a:cs typeface="Arial"/>
              </a:rPr>
              <a:t>staple.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6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</a:pPr>
            <a:r>
              <a:rPr sz="1100" b="1" dirty="0">
                <a:solidFill>
                  <a:srgbClr val="CC0523"/>
                </a:solidFill>
                <a:latin typeface="Arial"/>
                <a:cs typeface="Arial"/>
              </a:rPr>
              <a:t>Urban </a:t>
            </a:r>
            <a:r>
              <a:rPr sz="1100" b="1" spc="-10" dirty="0">
                <a:solidFill>
                  <a:srgbClr val="CC0523"/>
                </a:solidFill>
                <a:latin typeface="Arial"/>
                <a:cs typeface="Arial"/>
              </a:rPr>
              <a:t>convenience</a:t>
            </a:r>
            <a:endParaRPr sz="11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80"/>
              </a:spcBef>
            </a:pPr>
            <a:r>
              <a:rPr sz="1100" i="1" dirty="0">
                <a:solidFill>
                  <a:srgbClr val="606060"/>
                </a:solidFill>
                <a:latin typeface="Arial"/>
                <a:cs typeface="Arial"/>
              </a:rPr>
              <a:t>Fast-paced lifestyles support functional use </a:t>
            </a:r>
            <a:r>
              <a:rPr sz="1100" i="1" spc="-10" dirty="0">
                <a:solidFill>
                  <a:srgbClr val="606060"/>
                </a:solidFill>
                <a:latin typeface="Arial"/>
                <a:cs typeface="Arial"/>
              </a:rPr>
              <a:t>occasions.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1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</a:pPr>
            <a:r>
              <a:rPr sz="1100" b="1" dirty="0">
                <a:solidFill>
                  <a:srgbClr val="CC0523"/>
                </a:solidFill>
                <a:latin typeface="Arial"/>
                <a:cs typeface="Arial"/>
              </a:rPr>
              <a:t>Affordable </a:t>
            </a:r>
            <a:r>
              <a:rPr sz="1100" b="1" spc="-10" dirty="0">
                <a:solidFill>
                  <a:srgbClr val="CC0523"/>
                </a:solidFill>
                <a:latin typeface="Arial"/>
                <a:cs typeface="Arial"/>
              </a:rPr>
              <a:t>expansion</a:t>
            </a:r>
            <a:endParaRPr sz="11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80"/>
              </a:spcBef>
            </a:pPr>
            <a:r>
              <a:rPr sz="1100" i="1" dirty="0">
                <a:solidFill>
                  <a:srgbClr val="606060"/>
                </a:solidFill>
                <a:latin typeface="Arial"/>
                <a:cs typeface="Arial"/>
              </a:rPr>
              <a:t>Lower-priced brands have broadened category </a:t>
            </a:r>
            <a:r>
              <a:rPr sz="1100" i="1" spc="-10" dirty="0">
                <a:solidFill>
                  <a:srgbClr val="606060"/>
                </a:solidFill>
                <a:latin typeface="Arial"/>
                <a:cs typeface="Arial"/>
              </a:rPr>
              <a:t>access.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1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</a:pPr>
            <a:r>
              <a:rPr sz="1100" b="1" dirty="0">
                <a:solidFill>
                  <a:srgbClr val="CC0523"/>
                </a:solidFill>
                <a:latin typeface="Arial"/>
                <a:cs typeface="Arial"/>
              </a:rPr>
              <a:t>Channel </a:t>
            </a:r>
            <a:r>
              <a:rPr sz="1100" b="1" spc="-10" dirty="0">
                <a:solidFill>
                  <a:srgbClr val="CC0523"/>
                </a:solidFill>
                <a:latin typeface="Arial"/>
                <a:cs typeface="Arial"/>
              </a:rPr>
              <a:t>shift</a:t>
            </a:r>
            <a:endParaRPr sz="11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80"/>
              </a:spcBef>
            </a:pPr>
            <a:r>
              <a:rPr sz="1100" i="1" dirty="0">
                <a:solidFill>
                  <a:srgbClr val="606060"/>
                </a:solidFill>
                <a:latin typeface="Arial"/>
                <a:cs typeface="Arial"/>
              </a:rPr>
              <a:t>Euromonitor identifies quick commerce as the fastest-growing </a:t>
            </a:r>
            <a:r>
              <a:rPr sz="1100" i="1" spc="-10" dirty="0">
                <a:solidFill>
                  <a:srgbClr val="606060"/>
                </a:solidFill>
                <a:latin typeface="Arial"/>
                <a:cs typeface="Arial"/>
              </a:rPr>
              <a:t>channel.</a:t>
            </a:r>
            <a:endParaRPr lang="en-IN" sz="1100" i="1" spc="-10" dirty="0">
              <a:solidFill>
                <a:srgbClr val="606060"/>
              </a:solidFill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80"/>
              </a:spcBef>
            </a:pPr>
            <a:endParaRPr sz="11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23629" y="1708150"/>
            <a:ext cx="5372100" cy="3441700"/>
            <a:chOff x="6280150" y="1708150"/>
            <a:chExt cx="5372100" cy="3441700"/>
          </a:xfrm>
        </p:grpSpPr>
        <p:sp>
          <p:nvSpPr>
            <p:cNvPr id="7" name="object 7"/>
            <p:cNvSpPr/>
            <p:nvPr/>
          </p:nvSpPr>
          <p:spPr>
            <a:xfrm>
              <a:off x="6286500" y="1714500"/>
              <a:ext cx="5359400" cy="3429000"/>
            </a:xfrm>
            <a:custGeom>
              <a:avLst/>
              <a:gdLst/>
              <a:ahLst/>
              <a:cxnLst/>
              <a:rect l="l" t="t" r="r" b="b"/>
              <a:pathLst>
                <a:path w="5359400" h="3429000">
                  <a:moveTo>
                    <a:pt x="53594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5359400" y="3429000"/>
                  </a:lnTo>
                  <a:lnTo>
                    <a:pt x="5359400" y="0"/>
                  </a:lnTo>
                  <a:close/>
                </a:path>
              </a:pathLst>
            </a:custGeom>
            <a:solidFill>
              <a:srgbClr val="F2E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86500" y="1714500"/>
              <a:ext cx="5359400" cy="3429000"/>
            </a:xfrm>
            <a:custGeom>
              <a:avLst/>
              <a:gdLst/>
              <a:ahLst/>
              <a:cxnLst/>
              <a:rect l="l" t="t" r="r" b="b"/>
              <a:pathLst>
                <a:path w="5359400" h="3429000">
                  <a:moveTo>
                    <a:pt x="0" y="3429000"/>
                  </a:moveTo>
                  <a:lnTo>
                    <a:pt x="5359400" y="3429000"/>
                  </a:lnTo>
                  <a:lnTo>
                    <a:pt x="5359400" y="0"/>
                  </a:lnTo>
                  <a:lnTo>
                    <a:pt x="0" y="0"/>
                  </a:lnTo>
                  <a:lnTo>
                    <a:pt x="0" y="3429000"/>
                  </a:lnTo>
                  <a:close/>
                </a:path>
              </a:pathLst>
            </a:custGeom>
            <a:ln w="12700">
              <a:solidFill>
                <a:srgbClr val="F2EF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540500" y="1905000"/>
            <a:ext cx="26670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141414"/>
                </a:solidFill>
                <a:latin typeface="Arial"/>
                <a:cs typeface="Arial"/>
              </a:rPr>
              <a:t>QUICK-</a:t>
            </a:r>
            <a:r>
              <a:rPr sz="1100" b="1" dirty="0">
                <a:solidFill>
                  <a:srgbClr val="141414"/>
                </a:solidFill>
                <a:latin typeface="Arial"/>
                <a:cs typeface="Arial"/>
              </a:rPr>
              <a:t>COMMERCE</a:t>
            </a:r>
            <a:r>
              <a:rPr sz="1100" b="1" spc="-4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41414"/>
                </a:solidFill>
                <a:latin typeface="Arial"/>
                <a:cs typeface="Arial"/>
              </a:rPr>
              <a:t>INFRASTRUCTURE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40500" y="2002366"/>
            <a:ext cx="1099185" cy="840105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30"/>
              </a:spcBef>
            </a:pPr>
            <a:r>
              <a:rPr sz="3000" b="1" spc="-10" dirty="0">
                <a:solidFill>
                  <a:srgbClr val="CC0523"/>
                </a:solidFill>
                <a:latin typeface="Arial"/>
                <a:cs typeface="Arial"/>
              </a:rPr>
              <a:t>5,625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900" b="1" dirty="0">
                <a:solidFill>
                  <a:srgbClr val="606060"/>
                </a:solidFill>
                <a:latin typeface="Arial"/>
                <a:cs typeface="Arial"/>
              </a:rPr>
              <a:t>mapped dark </a:t>
            </a:r>
            <a:r>
              <a:rPr sz="900" b="1" spc="-10" dirty="0">
                <a:solidFill>
                  <a:srgbClr val="606060"/>
                </a:solidFill>
                <a:latin typeface="Arial"/>
                <a:cs typeface="Arial"/>
              </a:rPr>
              <a:t>stores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55000" y="2002366"/>
            <a:ext cx="648970" cy="840105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30"/>
              </a:spcBef>
            </a:pPr>
            <a:r>
              <a:rPr sz="3000" b="1" spc="-25" dirty="0">
                <a:solidFill>
                  <a:srgbClr val="CC0523"/>
                </a:solidFill>
                <a:latin typeface="Arial"/>
                <a:cs typeface="Arial"/>
              </a:rPr>
              <a:t>408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900" b="1" spc="-10" dirty="0">
                <a:solidFill>
                  <a:srgbClr val="606060"/>
                </a:solidFill>
                <a:latin typeface="Arial"/>
                <a:cs typeface="Arial"/>
              </a:rPr>
              <a:t>cities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52000" y="2002366"/>
            <a:ext cx="436880" cy="840105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30"/>
              </a:spcBef>
            </a:pPr>
            <a:r>
              <a:rPr sz="3000" b="1" spc="-25" dirty="0">
                <a:solidFill>
                  <a:srgbClr val="CC0523"/>
                </a:solidFill>
                <a:latin typeface="Arial"/>
                <a:cs typeface="Arial"/>
              </a:rPr>
              <a:t>26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900" b="1" spc="-10" dirty="0">
                <a:solidFill>
                  <a:srgbClr val="606060"/>
                </a:solidFill>
                <a:latin typeface="Arial"/>
                <a:cs typeface="Arial"/>
              </a:rPr>
              <a:t>states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40500" y="3187286"/>
            <a:ext cx="5156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b="1" spc="-10" dirty="0">
                <a:solidFill>
                  <a:srgbClr val="141414"/>
                </a:solidFill>
                <a:latin typeface="Arial"/>
                <a:cs typeface="Arial"/>
              </a:rPr>
              <a:t>Bengaluru</a:t>
            </a:r>
            <a:endParaRPr sz="800" dirty="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452678" y="3141398"/>
            <a:ext cx="3060700" cy="1943100"/>
            <a:chOff x="7486650" y="3270250"/>
            <a:chExt cx="3060700" cy="1943100"/>
          </a:xfrm>
        </p:grpSpPr>
        <p:sp>
          <p:nvSpPr>
            <p:cNvPr id="15" name="object 15"/>
            <p:cNvSpPr/>
            <p:nvPr/>
          </p:nvSpPr>
          <p:spPr>
            <a:xfrm>
              <a:off x="7493000" y="3276600"/>
              <a:ext cx="3048000" cy="215900"/>
            </a:xfrm>
            <a:custGeom>
              <a:avLst/>
              <a:gdLst/>
              <a:ahLst/>
              <a:cxnLst/>
              <a:rect l="l" t="t" r="r" b="b"/>
              <a:pathLst>
                <a:path w="3048000" h="215900">
                  <a:moveTo>
                    <a:pt x="0" y="215900"/>
                  </a:moveTo>
                  <a:lnTo>
                    <a:pt x="3048000" y="215900"/>
                  </a:lnTo>
                  <a:lnTo>
                    <a:pt x="3048000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12700">
              <a:solidFill>
                <a:srgbClr val="E8E5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93000" y="3276600"/>
              <a:ext cx="3048000" cy="215900"/>
            </a:xfrm>
            <a:custGeom>
              <a:avLst/>
              <a:gdLst/>
              <a:ahLst/>
              <a:cxnLst/>
              <a:rect l="l" t="t" r="r" b="b"/>
              <a:pathLst>
                <a:path w="3048000" h="215900">
                  <a:moveTo>
                    <a:pt x="3048000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3048000" y="215900"/>
                  </a:lnTo>
                  <a:lnTo>
                    <a:pt x="3048000" y="0"/>
                  </a:lnTo>
                  <a:close/>
                </a:path>
              </a:pathLst>
            </a:custGeom>
            <a:solidFill>
              <a:srgbClr val="CC05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93000" y="3276600"/>
              <a:ext cx="3048000" cy="215900"/>
            </a:xfrm>
            <a:custGeom>
              <a:avLst/>
              <a:gdLst/>
              <a:ahLst/>
              <a:cxnLst/>
              <a:rect l="l" t="t" r="r" b="b"/>
              <a:pathLst>
                <a:path w="3048000" h="215900">
                  <a:moveTo>
                    <a:pt x="0" y="215900"/>
                  </a:moveTo>
                  <a:lnTo>
                    <a:pt x="3048000" y="215900"/>
                  </a:lnTo>
                  <a:lnTo>
                    <a:pt x="3048000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12700">
              <a:solidFill>
                <a:srgbClr val="CC05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789903" y="3619500"/>
              <a:ext cx="751205" cy="215900"/>
            </a:xfrm>
            <a:custGeom>
              <a:avLst/>
              <a:gdLst/>
              <a:ahLst/>
              <a:cxnLst/>
              <a:rect l="l" t="t" r="r" b="b"/>
              <a:pathLst>
                <a:path w="751204" h="215900">
                  <a:moveTo>
                    <a:pt x="0" y="215900"/>
                  </a:moveTo>
                  <a:lnTo>
                    <a:pt x="751097" y="215900"/>
                  </a:lnTo>
                  <a:lnTo>
                    <a:pt x="751097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solidFill>
              <a:srgbClr val="E8E5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93000" y="3619500"/>
              <a:ext cx="3048000" cy="215900"/>
            </a:xfrm>
            <a:custGeom>
              <a:avLst/>
              <a:gdLst/>
              <a:ahLst/>
              <a:cxnLst/>
              <a:rect l="l" t="t" r="r" b="b"/>
              <a:pathLst>
                <a:path w="3048000" h="215900">
                  <a:moveTo>
                    <a:pt x="0" y="215900"/>
                  </a:moveTo>
                  <a:lnTo>
                    <a:pt x="3048000" y="215900"/>
                  </a:lnTo>
                  <a:lnTo>
                    <a:pt x="3048000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12700">
              <a:solidFill>
                <a:srgbClr val="E8E5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493000" y="3619500"/>
              <a:ext cx="2297430" cy="215900"/>
            </a:xfrm>
            <a:custGeom>
              <a:avLst/>
              <a:gdLst/>
              <a:ahLst/>
              <a:cxnLst/>
              <a:rect l="l" t="t" r="r" b="b"/>
              <a:pathLst>
                <a:path w="2297429" h="215900">
                  <a:moveTo>
                    <a:pt x="2296902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2296902" y="215900"/>
                  </a:lnTo>
                  <a:lnTo>
                    <a:pt x="2296902" y="0"/>
                  </a:lnTo>
                  <a:close/>
                </a:path>
              </a:pathLst>
            </a:custGeom>
            <a:solidFill>
              <a:srgbClr val="CC05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93000" y="3619500"/>
              <a:ext cx="2297430" cy="215900"/>
            </a:xfrm>
            <a:custGeom>
              <a:avLst/>
              <a:gdLst/>
              <a:ahLst/>
              <a:cxnLst/>
              <a:rect l="l" t="t" r="r" b="b"/>
              <a:pathLst>
                <a:path w="2297429" h="215900">
                  <a:moveTo>
                    <a:pt x="0" y="215900"/>
                  </a:moveTo>
                  <a:lnTo>
                    <a:pt x="2296902" y="215900"/>
                  </a:lnTo>
                  <a:lnTo>
                    <a:pt x="2296902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12700">
              <a:solidFill>
                <a:srgbClr val="CC05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460389" y="3962400"/>
              <a:ext cx="1080770" cy="215900"/>
            </a:xfrm>
            <a:custGeom>
              <a:avLst/>
              <a:gdLst/>
              <a:ahLst/>
              <a:cxnLst/>
              <a:rect l="l" t="t" r="r" b="b"/>
              <a:pathLst>
                <a:path w="1080770" h="215900">
                  <a:moveTo>
                    <a:pt x="0" y="215900"/>
                  </a:moveTo>
                  <a:lnTo>
                    <a:pt x="1080610" y="215900"/>
                  </a:lnTo>
                  <a:lnTo>
                    <a:pt x="1080610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solidFill>
              <a:srgbClr val="E8E5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493000" y="3962400"/>
              <a:ext cx="3048000" cy="215900"/>
            </a:xfrm>
            <a:custGeom>
              <a:avLst/>
              <a:gdLst/>
              <a:ahLst/>
              <a:cxnLst/>
              <a:rect l="l" t="t" r="r" b="b"/>
              <a:pathLst>
                <a:path w="3048000" h="215900">
                  <a:moveTo>
                    <a:pt x="0" y="215900"/>
                  </a:moveTo>
                  <a:lnTo>
                    <a:pt x="3048000" y="215900"/>
                  </a:lnTo>
                  <a:lnTo>
                    <a:pt x="3048000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12700">
              <a:solidFill>
                <a:srgbClr val="E8E5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493000" y="3962400"/>
              <a:ext cx="1967864" cy="215900"/>
            </a:xfrm>
            <a:custGeom>
              <a:avLst/>
              <a:gdLst/>
              <a:ahLst/>
              <a:cxnLst/>
              <a:rect l="l" t="t" r="r" b="b"/>
              <a:pathLst>
                <a:path w="1967865" h="215900">
                  <a:moveTo>
                    <a:pt x="1967389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1967389" y="215900"/>
                  </a:lnTo>
                  <a:lnTo>
                    <a:pt x="1967389" y="0"/>
                  </a:lnTo>
                  <a:close/>
                </a:path>
              </a:pathLst>
            </a:custGeom>
            <a:solidFill>
              <a:srgbClr val="CC05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93000" y="3962400"/>
              <a:ext cx="1967864" cy="215900"/>
            </a:xfrm>
            <a:custGeom>
              <a:avLst/>
              <a:gdLst/>
              <a:ahLst/>
              <a:cxnLst/>
              <a:rect l="l" t="t" r="r" b="b"/>
              <a:pathLst>
                <a:path w="1967865" h="215900">
                  <a:moveTo>
                    <a:pt x="0" y="215900"/>
                  </a:moveTo>
                  <a:lnTo>
                    <a:pt x="1967389" y="215900"/>
                  </a:lnTo>
                  <a:lnTo>
                    <a:pt x="1967389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12700">
              <a:solidFill>
                <a:srgbClr val="CC05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043651" y="4305300"/>
              <a:ext cx="1497965" cy="215900"/>
            </a:xfrm>
            <a:custGeom>
              <a:avLst/>
              <a:gdLst/>
              <a:ahLst/>
              <a:cxnLst/>
              <a:rect l="l" t="t" r="r" b="b"/>
              <a:pathLst>
                <a:path w="1497965" h="215900">
                  <a:moveTo>
                    <a:pt x="0" y="215900"/>
                  </a:moveTo>
                  <a:lnTo>
                    <a:pt x="1497348" y="215900"/>
                  </a:lnTo>
                  <a:lnTo>
                    <a:pt x="1497348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solidFill>
              <a:srgbClr val="E8E5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493000" y="4305300"/>
              <a:ext cx="3048000" cy="215900"/>
            </a:xfrm>
            <a:custGeom>
              <a:avLst/>
              <a:gdLst/>
              <a:ahLst/>
              <a:cxnLst/>
              <a:rect l="l" t="t" r="r" b="b"/>
              <a:pathLst>
                <a:path w="3048000" h="215900">
                  <a:moveTo>
                    <a:pt x="0" y="215900"/>
                  </a:moveTo>
                  <a:lnTo>
                    <a:pt x="3048000" y="215900"/>
                  </a:lnTo>
                  <a:lnTo>
                    <a:pt x="3048000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12700">
              <a:solidFill>
                <a:srgbClr val="E8E5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493000" y="4305300"/>
              <a:ext cx="1550670" cy="215900"/>
            </a:xfrm>
            <a:custGeom>
              <a:avLst/>
              <a:gdLst/>
              <a:ahLst/>
              <a:cxnLst/>
              <a:rect l="l" t="t" r="r" b="b"/>
              <a:pathLst>
                <a:path w="1550670" h="215900">
                  <a:moveTo>
                    <a:pt x="1550651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1550651" y="215900"/>
                  </a:lnTo>
                  <a:lnTo>
                    <a:pt x="1550651" y="0"/>
                  </a:lnTo>
                  <a:close/>
                </a:path>
              </a:pathLst>
            </a:custGeom>
            <a:solidFill>
              <a:srgbClr val="CC05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93000" y="4305300"/>
              <a:ext cx="1550670" cy="215900"/>
            </a:xfrm>
            <a:custGeom>
              <a:avLst/>
              <a:gdLst/>
              <a:ahLst/>
              <a:cxnLst/>
              <a:rect l="l" t="t" r="r" b="b"/>
              <a:pathLst>
                <a:path w="1550670" h="215900">
                  <a:moveTo>
                    <a:pt x="0" y="215900"/>
                  </a:moveTo>
                  <a:lnTo>
                    <a:pt x="1550651" y="215900"/>
                  </a:lnTo>
                  <a:lnTo>
                    <a:pt x="1550651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12700">
              <a:solidFill>
                <a:srgbClr val="CC05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840128" y="4648200"/>
              <a:ext cx="1701164" cy="215900"/>
            </a:xfrm>
            <a:custGeom>
              <a:avLst/>
              <a:gdLst/>
              <a:ahLst/>
              <a:cxnLst/>
              <a:rect l="l" t="t" r="r" b="b"/>
              <a:pathLst>
                <a:path w="1701165" h="215900">
                  <a:moveTo>
                    <a:pt x="0" y="215900"/>
                  </a:moveTo>
                  <a:lnTo>
                    <a:pt x="1700871" y="215900"/>
                  </a:lnTo>
                  <a:lnTo>
                    <a:pt x="1700871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solidFill>
              <a:srgbClr val="E8E5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93000" y="4648200"/>
              <a:ext cx="3048000" cy="215900"/>
            </a:xfrm>
            <a:custGeom>
              <a:avLst/>
              <a:gdLst/>
              <a:ahLst/>
              <a:cxnLst/>
              <a:rect l="l" t="t" r="r" b="b"/>
              <a:pathLst>
                <a:path w="3048000" h="215900">
                  <a:moveTo>
                    <a:pt x="0" y="215900"/>
                  </a:moveTo>
                  <a:lnTo>
                    <a:pt x="3048000" y="215900"/>
                  </a:lnTo>
                  <a:lnTo>
                    <a:pt x="3048000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12700">
              <a:solidFill>
                <a:srgbClr val="E8E5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493000" y="4648200"/>
              <a:ext cx="1347470" cy="215900"/>
            </a:xfrm>
            <a:custGeom>
              <a:avLst/>
              <a:gdLst/>
              <a:ahLst/>
              <a:cxnLst/>
              <a:rect l="l" t="t" r="r" b="b"/>
              <a:pathLst>
                <a:path w="1347470" h="215900">
                  <a:moveTo>
                    <a:pt x="1347128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1347128" y="215900"/>
                  </a:lnTo>
                  <a:lnTo>
                    <a:pt x="1347128" y="0"/>
                  </a:lnTo>
                  <a:close/>
                </a:path>
              </a:pathLst>
            </a:custGeom>
            <a:solidFill>
              <a:srgbClr val="CC05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493000" y="4648200"/>
              <a:ext cx="1347470" cy="215900"/>
            </a:xfrm>
            <a:custGeom>
              <a:avLst/>
              <a:gdLst/>
              <a:ahLst/>
              <a:cxnLst/>
              <a:rect l="l" t="t" r="r" b="b"/>
              <a:pathLst>
                <a:path w="1347470" h="215900">
                  <a:moveTo>
                    <a:pt x="0" y="215900"/>
                  </a:moveTo>
                  <a:lnTo>
                    <a:pt x="1347128" y="215900"/>
                  </a:lnTo>
                  <a:lnTo>
                    <a:pt x="1347128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12700">
              <a:solidFill>
                <a:srgbClr val="CC05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675372" y="4991100"/>
              <a:ext cx="1865630" cy="215900"/>
            </a:xfrm>
            <a:custGeom>
              <a:avLst/>
              <a:gdLst/>
              <a:ahLst/>
              <a:cxnLst/>
              <a:rect l="l" t="t" r="r" b="b"/>
              <a:pathLst>
                <a:path w="1865629" h="215900">
                  <a:moveTo>
                    <a:pt x="0" y="215900"/>
                  </a:moveTo>
                  <a:lnTo>
                    <a:pt x="1865627" y="215900"/>
                  </a:lnTo>
                  <a:lnTo>
                    <a:pt x="1865627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solidFill>
              <a:srgbClr val="E8E5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493000" y="4991100"/>
              <a:ext cx="3048000" cy="215900"/>
            </a:xfrm>
            <a:custGeom>
              <a:avLst/>
              <a:gdLst/>
              <a:ahLst/>
              <a:cxnLst/>
              <a:rect l="l" t="t" r="r" b="b"/>
              <a:pathLst>
                <a:path w="3048000" h="215900">
                  <a:moveTo>
                    <a:pt x="0" y="215900"/>
                  </a:moveTo>
                  <a:lnTo>
                    <a:pt x="3048000" y="215900"/>
                  </a:lnTo>
                  <a:lnTo>
                    <a:pt x="3048000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12700">
              <a:solidFill>
                <a:srgbClr val="E8E5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493000" y="4991100"/>
              <a:ext cx="1182370" cy="215900"/>
            </a:xfrm>
            <a:custGeom>
              <a:avLst/>
              <a:gdLst/>
              <a:ahLst/>
              <a:cxnLst/>
              <a:rect l="l" t="t" r="r" b="b"/>
              <a:pathLst>
                <a:path w="1182370" h="215900">
                  <a:moveTo>
                    <a:pt x="1182372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1182372" y="215900"/>
                  </a:lnTo>
                  <a:lnTo>
                    <a:pt x="1182372" y="0"/>
                  </a:lnTo>
                  <a:close/>
                </a:path>
              </a:pathLst>
            </a:custGeom>
            <a:solidFill>
              <a:srgbClr val="CC05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493000" y="4991100"/>
              <a:ext cx="1182370" cy="215900"/>
            </a:xfrm>
            <a:custGeom>
              <a:avLst/>
              <a:gdLst/>
              <a:ahLst/>
              <a:cxnLst/>
              <a:rect l="l" t="t" r="r" b="b"/>
              <a:pathLst>
                <a:path w="1182370" h="215900">
                  <a:moveTo>
                    <a:pt x="0" y="215900"/>
                  </a:moveTo>
                  <a:lnTo>
                    <a:pt x="1182372" y="215900"/>
                  </a:lnTo>
                  <a:lnTo>
                    <a:pt x="1182372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12700">
              <a:solidFill>
                <a:srgbClr val="CC05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0667999" y="3173730"/>
            <a:ext cx="1822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141414"/>
                </a:solidFill>
                <a:latin typeface="Arial"/>
                <a:cs typeface="Arial"/>
              </a:rPr>
              <a:t>629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560574" y="3521043"/>
            <a:ext cx="2616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b="1" spc="-10" dirty="0">
                <a:solidFill>
                  <a:srgbClr val="141414"/>
                </a:solidFill>
                <a:latin typeface="Arial"/>
                <a:cs typeface="Arial"/>
              </a:rPr>
              <a:t>Delhi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667999" y="3467100"/>
            <a:ext cx="1822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141414"/>
                </a:solidFill>
                <a:latin typeface="Arial"/>
                <a:cs typeface="Arial"/>
              </a:rPr>
              <a:t>474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552247" y="3864589"/>
            <a:ext cx="5378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b="1" spc="-10" dirty="0">
                <a:solidFill>
                  <a:srgbClr val="141414"/>
                </a:solidFill>
                <a:latin typeface="Arial"/>
                <a:cs typeface="Arial"/>
              </a:rPr>
              <a:t>Hyderabad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679430" y="3810000"/>
            <a:ext cx="1822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141414"/>
                </a:solidFill>
                <a:latin typeface="Arial"/>
                <a:cs typeface="Arial"/>
              </a:rPr>
              <a:t>406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540500" y="4207489"/>
            <a:ext cx="4140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b="1" spc="-10" dirty="0">
                <a:solidFill>
                  <a:srgbClr val="141414"/>
                </a:solidFill>
                <a:latin typeface="Arial"/>
                <a:cs typeface="Arial"/>
              </a:rPr>
              <a:t>Chennai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679430" y="4198620"/>
            <a:ext cx="1822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141414"/>
                </a:solidFill>
                <a:latin typeface="Arial"/>
                <a:cs typeface="Arial"/>
              </a:rPr>
              <a:t>320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549072" y="4556500"/>
            <a:ext cx="39687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b="1" spc="-10" dirty="0">
                <a:solidFill>
                  <a:srgbClr val="141414"/>
                </a:solidFill>
                <a:latin typeface="Arial"/>
                <a:cs typeface="Arial"/>
              </a:rPr>
              <a:t>Mumbai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667997" y="4553638"/>
            <a:ext cx="1822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141414"/>
                </a:solidFill>
                <a:latin typeface="Arial"/>
                <a:cs typeface="Arial"/>
              </a:rPr>
              <a:t>278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559549" y="4890257"/>
            <a:ext cx="2616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b="1" spc="-20" dirty="0">
                <a:solidFill>
                  <a:srgbClr val="141414"/>
                </a:solidFill>
                <a:latin typeface="Arial"/>
                <a:cs typeface="Arial"/>
              </a:rPr>
              <a:t>Pune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667998" y="4885943"/>
            <a:ext cx="1822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141414"/>
                </a:solidFill>
                <a:latin typeface="Arial"/>
                <a:cs typeface="Arial"/>
              </a:rPr>
              <a:t>244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33400" y="5395467"/>
            <a:ext cx="10146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STRATEGIC</a:t>
            </a:r>
            <a:r>
              <a:rPr sz="1200" b="1" spc="-20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IMPLICATION</a:t>
            </a:r>
            <a:r>
              <a:rPr sz="1200" b="1" spc="300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|</a:t>
            </a:r>
            <a:r>
              <a:rPr sz="1200" b="1" spc="300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Prioritize</a:t>
            </a:r>
            <a:r>
              <a:rPr sz="1200" b="1" spc="-20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41414"/>
                </a:solidFill>
                <a:latin typeface="Arial"/>
                <a:cs typeface="Arial"/>
              </a:rPr>
              <a:t>high-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density</a:t>
            </a:r>
            <a:r>
              <a:rPr sz="1200" b="1" spc="-1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urban</a:t>
            </a:r>
            <a:r>
              <a:rPr sz="1200" b="1" spc="-20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markets</a:t>
            </a:r>
            <a:r>
              <a:rPr sz="1200" b="1" spc="-20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where</a:t>
            </a:r>
            <a:r>
              <a:rPr sz="1200" b="1" spc="-20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energy-drink</a:t>
            </a:r>
            <a:r>
              <a:rPr sz="1200" b="1" spc="-1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demand</a:t>
            </a:r>
            <a:r>
              <a:rPr sz="1200" b="1" spc="-20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and</a:t>
            </a:r>
            <a:r>
              <a:rPr sz="1200" b="1" spc="-20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quick-commerce</a:t>
            </a:r>
            <a:r>
              <a:rPr sz="1200" b="1" spc="-1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infrastructure</a:t>
            </a:r>
            <a:r>
              <a:rPr sz="1200" b="1" spc="-20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41414"/>
                </a:solidFill>
                <a:latin typeface="Arial"/>
                <a:cs typeface="Arial"/>
              </a:rPr>
              <a:t>overlap.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33400" y="6254623"/>
            <a:ext cx="94488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solidFill>
                  <a:srgbClr val="606060"/>
                </a:solidFill>
                <a:latin typeface="Arial"/>
                <a:cs typeface="Arial"/>
              </a:rPr>
              <a:t>Sources:</a:t>
            </a:r>
            <a:r>
              <a:rPr sz="900" i="1" spc="-1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06060"/>
                </a:solidFill>
                <a:latin typeface="Arial"/>
                <a:cs typeface="Arial"/>
              </a:rPr>
              <a:t>Euromonitor, Energy</a:t>
            </a:r>
            <a:r>
              <a:rPr sz="9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06060"/>
                </a:solidFill>
                <a:latin typeface="Arial"/>
                <a:cs typeface="Arial"/>
              </a:rPr>
              <a:t>Drinks in</a:t>
            </a:r>
            <a:r>
              <a:rPr sz="9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06060"/>
                </a:solidFill>
                <a:latin typeface="Arial"/>
                <a:cs typeface="Arial"/>
              </a:rPr>
              <a:t>India (2025</a:t>
            </a:r>
            <a:r>
              <a:rPr sz="9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06060"/>
                </a:solidFill>
                <a:latin typeface="Arial"/>
                <a:cs typeface="Arial"/>
              </a:rPr>
              <a:t>developments); </a:t>
            </a:r>
            <a:r>
              <a:rPr sz="900" i="1" spc="-10" dirty="0">
                <a:solidFill>
                  <a:srgbClr val="606060"/>
                </a:solidFill>
                <a:latin typeface="Arial"/>
                <a:cs typeface="Arial"/>
              </a:rPr>
              <a:t>QuickCommerceMap,</a:t>
            </a:r>
            <a:r>
              <a:rPr sz="900" i="1" dirty="0">
                <a:solidFill>
                  <a:srgbClr val="606060"/>
                </a:solidFill>
                <a:latin typeface="Arial"/>
                <a:cs typeface="Arial"/>
              </a:rPr>
              <a:t> India</a:t>
            </a:r>
            <a:r>
              <a:rPr sz="9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06060"/>
                </a:solidFill>
                <a:latin typeface="Arial"/>
                <a:cs typeface="Arial"/>
              </a:rPr>
              <a:t>Quick Commerce</a:t>
            </a:r>
            <a:r>
              <a:rPr sz="9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06060"/>
                </a:solidFill>
                <a:latin typeface="Arial"/>
                <a:cs typeface="Arial"/>
              </a:rPr>
              <a:t>Map 2026.</a:t>
            </a:r>
            <a:r>
              <a:rPr sz="9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606060"/>
                </a:solidFill>
                <a:latin typeface="Arial"/>
                <a:cs typeface="Arial"/>
              </a:rPr>
              <a:t>Dark-</a:t>
            </a:r>
            <a:r>
              <a:rPr sz="900" i="1" dirty="0">
                <a:solidFill>
                  <a:srgbClr val="606060"/>
                </a:solidFill>
                <a:latin typeface="Arial"/>
                <a:cs typeface="Arial"/>
              </a:rPr>
              <a:t>store figures are</a:t>
            </a:r>
            <a:r>
              <a:rPr sz="9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06060"/>
                </a:solidFill>
                <a:latin typeface="Arial"/>
                <a:cs typeface="Arial"/>
              </a:rPr>
              <a:t>a July</a:t>
            </a:r>
            <a:r>
              <a:rPr sz="9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06060"/>
                </a:solidFill>
                <a:latin typeface="Arial"/>
                <a:cs typeface="Arial"/>
              </a:rPr>
              <a:t>2026 public</a:t>
            </a:r>
            <a:r>
              <a:rPr sz="9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606060"/>
                </a:solidFill>
                <a:latin typeface="Arial"/>
                <a:cs typeface="Arial"/>
              </a:rPr>
              <a:t>snapshot.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33400" y="6578601"/>
            <a:ext cx="25146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Section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1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Consumer &amp;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Market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Analysis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807150" y="6576748"/>
            <a:ext cx="2086183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solidFill>
                  <a:srgbClr val="666666"/>
                </a:solidFill>
                <a:latin typeface="Arial"/>
                <a:cs typeface="Arial"/>
              </a:rPr>
              <a:t>Budweiser</a:t>
            </a:r>
            <a:r>
              <a:rPr sz="900" i="1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66666"/>
                </a:solidFill>
                <a:latin typeface="Arial"/>
                <a:cs typeface="Arial"/>
              </a:rPr>
              <a:t>Beats</a:t>
            </a:r>
            <a:r>
              <a:rPr sz="900" i="1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sz="900" i="1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66666"/>
                </a:solidFill>
                <a:latin typeface="Arial"/>
                <a:cs typeface="Arial"/>
              </a:rPr>
              <a:t>India</a:t>
            </a:r>
            <a:r>
              <a:rPr sz="900" i="1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66666"/>
                </a:solidFill>
                <a:latin typeface="Arial"/>
                <a:cs typeface="Arial"/>
              </a:rPr>
              <a:t>Growth</a:t>
            </a:r>
            <a:r>
              <a:rPr sz="900" i="1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666666"/>
                </a:solidFill>
                <a:latin typeface="Arial"/>
                <a:cs typeface="Arial"/>
              </a:rPr>
              <a:t>Strategy</a:t>
            </a:r>
            <a:endParaRPr sz="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584" y="404177"/>
            <a:ext cx="1201776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-4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250" b="1" spc="-17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1250" b="1" spc="-1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1250" b="1" spc="-17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7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250" b="1" spc="-1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3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250" b="1" spc="-19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4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250" b="1" spc="-20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114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250" b="1" spc="-16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5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5583" y="709460"/>
            <a:ext cx="7977239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25" dirty="0">
                <a:solidFill>
                  <a:srgbClr val="131313"/>
                </a:solidFill>
                <a:latin typeface="Times New Roman"/>
                <a:cs typeface="Times New Roman"/>
              </a:rPr>
              <a:t>A</a:t>
            </a:r>
            <a:r>
              <a:rPr sz="3000" spc="-3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131313"/>
                </a:solidFill>
                <a:latin typeface="Times New Roman"/>
                <a:cs typeface="Times New Roman"/>
              </a:rPr>
              <a:t>Simple,</a:t>
            </a:r>
            <a:r>
              <a:rPr sz="3000" spc="-3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131313"/>
                </a:solidFill>
                <a:latin typeface="Times New Roman"/>
                <a:cs typeface="Times New Roman"/>
              </a:rPr>
              <a:t>Evidence-Led</a:t>
            </a:r>
            <a:r>
              <a:rPr sz="3000" spc="-2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131313"/>
                </a:solidFill>
                <a:latin typeface="Times New Roman"/>
                <a:cs typeface="Times New Roman"/>
              </a:rPr>
              <a:t>Path</a:t>
            </a:r>
            <a:r>
              <a:rPr sz="3000" spc="-3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131313"/>
                </a:solidFill>
                <a:latin typeface="Times New Roman"/>
                <a:cs typeface="Times New Roman"/>
              </a:rPr>
              <a:t>to</a:t>
            </a:r>
            <a:r>
              <a:rPr sz="3000" spc="-3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spc="130" dirty="0">
                <a:solidFill>
                  <a:srgbClr val="131313"/>
                </a:solidFill>
                <a:latin typeface="Times New Roman"/>
                <a:cs typeface="Times New Roman"/>
              </a:rPr>
              <a:t>the</a:t>
            </a:r>
            <a:r>
              <a:rPr sz="3000" spc="-3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spc="-425" dirty="0">
                <a:solidFill>
                  <a:srgbClr val="131313"/>
                </a:solidFill>
                <a:latin typeface="Times New Roman"/>
                <a:cs typeface="Times New Roman"/>
              </a:rPr>
              <a:t>G</a:t>
            </a:r>
            <a:r>
              <a:rPr lang="en-IN" sz="3000" spc="-42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spc="-425" dirty="0">
                <a:solidFill>
                  <a:srgbClr val="131313"/>
                </a:solidFill>
                <a:latin typeface="Times New Roman"/>
                <a:cs typeface="Times New Roman"/>
              </a:rPr>
              <a:t>T</a:t>
            </a:r>
            <a:r>
              <a:rPr lang="en-IN" sz="3000" spc="-42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spc="-425" dirty="0">
                <a:solidFill>
                  <a:srgbClr val="131313"/>
                </a:solidFill>
                <a:latin typeface="Times New Roman"/>
                <a:cs typeface="Times New Roman"/>
              </a:rPr>
              <a:t>M</a:t>
            </a:r>
            <a:r>
              <a:rPr sz="3000" spc="-3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spc="35" dirty="0">
                <a:solidFill>
                  <a:srgbClr val="131313"/>
                </a:solidFill>
                <a:latin typeface="Times New Roman"/>
                <a:cs typeface="Times New Roman"/>
              </a:rPr>
              <a:t>Plan</a:t>
            </a:r>
            <a:endParaRPr sz="3000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5800" y="2696641"/>
            <a:ext cx="1957070" cy="1189990"/>
            <a:chOff x="685800" y="2696641"/>
            <a:chExt cx="1957070" cy="1189990"/>
          </a:xfrm>
        </p:grpSpPr>
        <p:sp>
          <p:nvSpPr>
            <p:cNvPr id="5" name="object 5"/>
            <p:cNvSpPr/>
            <p:nvPr/>
          </p:nvSpPr>
          <p:spPr>
            <a:xfrm>
              <a:off x="1737360" y="3341877"/>
              <a:ext cx="905510" cy="36830"/>
            </a:xfrm>
            <a:custGeom>
              <a:avLst/>
              <a:gdLst/>
              <a:ahLst/>
              <a:cxnLst/>
              <a:rect l="l" t="t" r="r" b="b"/>
              <a:pathLst>
                <a:path w="905510" h="36829">
                  <a:moveTo>
                    <a:pt x="905040" y="0"/>
                  </a:moveTo>
                  <a:lnTo>
                    <a:pt x="0" y="0"/>
                  </a:lnTo>
                  <a:lnTo>
                    <a:pt x="0" y="36360"/>
                  </a:lnTo>
                  <a:lnTo>
                    <a:pt x="452513" y="36360"/>
                  </a:lnTo>
                  <a:lnTo>
                    <a:pt x="905040" y="36360"/>
                  </a:lnTo>
                  <a:lnTo>
                    <a:pt x="905040" y="0"/>
                  </a:lnTo>
                  <a:close/>
                </a:path>
              </a:pathLst>
            </a:custGeom>
            <a:solidFill>
              <a:srgbClr val="E2D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800" y="2834639"/>
              <a:ext cx="1051560" cy="1051560"/>
            </a:xfrm>
            <a:custGeom>
              <a:avLst/>
              <a:gdLst/>
              <a:ahLst/>
              <a:cxnLst/>
              <a:rect l="l" t="t" r="r" b="b"/>
              <a:pathLst>
                <a:path w="1051560" h="1051560">
                  <a:moveTo>
                    <a:pt x="525957" y="0"/>
                  </a:moveTo>
                  <a:lnTo>
                    <a:pt x="470734" y="2876"/>
                  </a:lnTo>
                  <a:lnTo>
                    <a:pt x="416375" y="11438"/>
                  </a:lnTo>
                  <a:lnTo>
                    <a:pt x="363312" y="25583"/>
                  </a:lnTo>
                  <a:lnTo>
                    <a:pt x="311977" y="45206"/>
                  </a:lnTo>
                  <a:lnTo>
                    <a:pt x="262801" y="70205"/>
                  </a:lnTo>
                  <a:lnTo>
                    <a:pt x="216541" y="100256"/>
                  </a:lnTo>
                  <a:lnTo>
                    <a:pt x="173876" y="134886"/>
                  </a:lnTo>
                  <a:lnTo>
                    <a:pt x="135117" y="173751"/>
                  </a:lnTo>
                  <a:lnTo>
                    <a:pt x="100574" y="216504"/>
                  </a:lnTo>
                  <a:lnTo>
                    <a:pt x="70561" y="262801"/>
                  </a:lnTo>
                  <a:lnTo>
                    <a:pt x="45388" y="311974"/>
                  </a:lnTo>
                  <a:lnTo>
                    <a:pt x="25659" y="363289"/>
                  </a:lnTo>
                  <a:lnTo>
                    <a:pt x="11461" y="416298"/>
                  </a:lnTo>
                  <a:lnTo>
                    <a:pt x="2879" y="470552"/>
                  </a:lnTo>
                  <a:lnTo>
                    <a:pt x="0" y="525602"/>
                  </a:lnTo>
                  <a:lnTo>
                    <a:pt x="2879" y="580652"/>
                  </a:lnTo>
                  <a:lnTo>
                    <a:pt x="11461" y="634905"/>
                  </a:lnTo>
                  <a:lnTo>
                    <a:pt x="25659" y="687914"/>
                  </a:lnTo>
                  <a:lnTo>
                    <a:pt x="45388" y="739230"/>
                  </a:lnTo>
                  <a:lnTo>
                    <a:pt x="70561" y="788403"/>
                  </a:lnTo>
                  <a:lnTo>
                    <a:pt x="100574" y="834699"/>
                  </a:lnTo>
                  <a:lnTo>
                    <a:pt x="135117" y="877453"/>
                  </a:lnTo>
                  <a:lnTo>
                    <a:pt x="173876" y="916317"/>
                  </a:lnTo>
                  <a:lnTo>
                    <a:pt x="216541" y="950948"/>
                  </a:lnTo>
                  <a:lnTo>
                    <a:pt x="262801" y="980998"/>
                  </a:lnTo>
                  <a:lnTo>
                    <a:pt x="311977" y="1006030"/>
                  </a:lnTo>
                  <a:lnTo>
                    <a:pt x="363312" y="1025741"/>
                  </a:lnTo>
                  <a:lnTo>
                    <a:pt x="416375" y="1039992"/>
                  </a:lnTo>
                  <a:lnTo>
                    <a:pt x="470734" y="1048644"/>
                  </a:lnTo>
                  <a:lnTo>
                    <a:pt x="525957" y="1051560"/>
                  </a:lnTo>
                  <a:lnTo>
                    <a:pt x="581007" y="1048644"/>
                  </a:lnTo>
                  <a:lnTo>
                    <a:pt x="635261" y="1039992"/>
                  </a:lnTo>
                  <a:lnTo>
                    <a:pt x="688270" y="1025741"/>
                  </a:lnTo>
                  <a:lnTo>
                    <a:pt x="739585" y="1006030"/>
                  </a:lnTo>
                  <a:lnTo>
                    <a:pt x="788758" y="980998"/>
                  </a:lnTo>
                  <a:lnTo>
                    <a:pt x="835018" y="950948"/>
                  </a:lnTo>
                  <a:lnTo>
                    <a:pt x="877683" y="916317"/>
                  </a:lnTo>
                  <a:lnTo>
                    <a:pt x="916442" y="877453"/>
                  </a:lnTo>
                  <a:lnTo>
                    <a:pt x="950985" y="834699"/>
                  </a:lnTo>
                  <a:lnTo>
                    <a:pt x="980998" y="788403"/>
                  </a:lnTo>
                  <a:lnTo>
                    <a:pt x="1006171" y="739230"/>
                  </a:lnTo>
                  <a:lnTo>
                    <a:pt x="1025900" y="687914"/>
                  </a:lnTo>
                  <a:lnTo>
                    <a:pt x="1040098" y="634905"/>
                  </a:lnTo>
                  <a:lnTo>
                    <a:pt x="1048680" y="580652"/>
                  </a:lnTo>
                  <a:lnTo>
                    <a:pt x="1051560" y="525602"/>
                  </a:lnTo>
                  <a:lnTo>
                    <a:pt x="1048680" y="470552"/>
                  </a:lnTo>
                  <a:lnTo>
                    <a:pt x="1040098" y="416298"/>
                  </a:lnTo>
                  <a:lnTo>
                    <a:pt x="1025900" y="363289"/>
                  </a:lnTo>
                  <a:lnTo>
                    <a:pt x="1006171" y="311974"/>
                  </a:lnTo>
                  <a:lnTo>
                    <a:pt x="980998" y="262801"/>
                  </a:lnTo>
                  <a:lnTo>
                    <a:pt x="950985" y="216504"/>
                  </a:lnTo>
                  <a:lnTo>
                    <a:pt x="916442" y="173751"/>
                  </a:lnTo>
                  <a:lnTo>
                    <a:pt x="877683" y="134886"/>
                  </a:lnTo>
                  <a:lnTo>
                    <a:pt x="835018" y="100256"/>
                  </a:lnTo>
                  <a:lnTo>
                    <a:pt x="788758" y="70205"/>
                  </a:lnTo>
                  <a:lnTo>
                    <a:pt x="739585" y="45206"/>
                  </a:lnTo>
                  <a:lnTo>
                    <a:pt x="688270" y="25583"/>
                  </a:lnTo>
                  <a:lnTo>
                    <a:pt x="635261" y="11438"/>
                  </a:lnTo>
                  <a:lnTo>
                    <a:pt x="581007" y="2876"/>
                  </a:lnTo>
                  <a:lnTo>
                    <a:pt x="525957" y="0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8161" y="3086633"/>
              <a:ext cx="546481" cy="54648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81404" y="270648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19" y="6432"/>
                  </a:lnTo>
                  <a:lnTo>
                    <a:pt x="96113" y="25552"/>
                  </a:lnTo>
                  <a:lnTo>
                    <a:pt x="56246" y="56068"/>
                  </a:lnTo>
                  <a:lnTo>
                    <a:pt x="25552" y="95758"/>
                  </a:lnTo>
                  <a:lnTo>
                    <a:pt x="6565" y="142062"/>
                  </a:lnTo>
                  <a:lnTo>
                    <a:pt x="0" y="191871"/>
                  </a:lnTo>
                  <a:lnTo>
                    <a:pt x="1663" y="217069"/>
                  </a:lnTo>
                  <a:lnTo>
                    <a:pt x="14573" y="265436"/>
                  </a:lnTo>
                  <a:lnTo>
                    <a:pt x="39619" y="308888"/>
                  </a:lnTo>
                  <a:lnTo>
                    <a:pt x="75167" y="344187"/>
                  </a:lnTo>
                  <a:lnTo>
                    <a:pt x="118675" y="369382"/>
                  </a:lnTo>
                  <a:lnTo>
                    <a:pt x="167042" y="382442"/>
                  </a:lnTo>
                  <a:lnTo>
                    <a:pt x="192239" y="384111"/>
                  </a:lnTo>
                  <a:lnTo>
                    <a:pt x="217224" y="382442"/>
                  </a:lnTo>
                  <a:lnTo>
                    <a:pt x="265441" y="369382"/>
                  </a:lnTo>
                  <a:lnTo>
                    <a:pt x="308943" y="344187"/>
                  </a:lnTo>
                  <a:lnTo>
                    <a:pt x="344492" y="308888"/>
                  </a:lnTo>
                  <a:lnTo>
                    <a:pt x="369538" y="265436"/>
                  </a:lnTo>
                  <a:lnTo>
                    <a:pt x="382447" y="217069"/>
                  </a:lnTo>
                  <a:lnTo>
                    <a:pt x="384111" y="191871"/>
                  </a:lnTo>
                  <a:lnTo>
                    <a:pt x="382447" y="166681"/>
                  </a:lnTo>
                  <a:lnTo>
                    <a:pt x="369538" y="118319"/>
                  </a:lnTo>
                  <a:lnTo>
                    <a:pt x="344492" y="74867"/>
                  </a:lnTo>
                  <a:lnTo>
                    <a:pt x="308943" y="39563"/>
                  </a:lnTo>
                  <a:lnTo>
                    <a:pt x="265441" y="14423"/>
                  </a:lnTo>
                  <a:lnTo>
                    <a:pt x="217224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D3AE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81404" y="270648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71"/>
                  </a:moveTo>
                  <a:lnTo>
                    <a:pt x="1663" y="166681"/>
                  </a:lnTo>
                  <a:lnTo>
                    <a:pt x="6565" y="142062"/>
                  </a:lnTo>
                  <a:lnTo>
                    <a:pt x="25552" y="95758"/>
                  </a:lnTo>
                  <a:lnTo>
                    <a:pt x="56246" y="56068"/>
                  </a:lnTo>
                  <a:lnTo>
                    <a:pt x="96113" y="25552"/>
                  </a:lnTo>
                  <a:lnTo>
                    <a:pt x="142419" y="6432"/>
                  </a:lnTo>
                  <a:lnTo>
                    <a:pt x="192239" y="0"/>
                  </a:lnTo>
                  <a:lnTo>
                    <a:pt x="241738" y="6432"/>
                  </a:lnTo>
                  <a:lnTo>
                    <a:pt x="287997" y="25552"/>
                  </a:lnTo>
                  <a:lnTo>
                    <a:pt x="327864" y="56068"/>
                  </a:lnTo>
                  <a:lnTo>
                    <a:pt x="358559" y="95758"/>
                  </a:lnTo>
                  <a:lnTo>
                    <a:pt x="377545" y="142062"/>
                  </a:lnTo>
                  <a:lnTo>
                    <a:pt x="384111" y="191871"/>
                  </a:lnTo>
                  <a:lnTo>
                    <a:pt x="382447" y="217069"/>
                  </a:lnTo>
                  <a:lnTo>
                    <a:pt x="377545" y="241692"/>
                  </a:lnTo>
                  <a:lnTo>
                    <a:pt x="358559" y="287997"/>
                  </a:lnTo>
                  <a:lnTo>
                    <a:pt x="327864" y="327685"/>
                  </a:lnTo>
                  <a:lnTo>
                    <a:pt x="287997" y="358190"/>
                  </a:lnTo>
                  <a:lnTo>
                    <a:pt x="241738" y="377499"/>
                  </a:lnTo>
                  <a:lnTo>
                    <a:pt x="192239" y="384111"/>
                  </a:lnTo>
                  <a:lnTo>
                    <a:pt x="142419" y="377499"/>
                  </a:lnTo>
                  <a:lnTo>
                    <a:pt x="96113" y="358190"/>
                  </a:lnTo>
                  <a:lnTo>
                    <a:pt x="56246" y="327685"/>
                  </a:lnTo>
                  <a:lnTo>
                    <a:pt x="25552" y="287997"/>
                  </a:lnTo>
                  <a:lnTo>
                    <a:pt x="6565" y="241692"/>
                  </a:lnTo>
                  <a:lnTo>
                    <a:pt x="1663" y="217069"/>
                  </a:lnTo>
                  <a:lnTo>
                    <a:pt x="0" y="191871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626019" y="2785211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131313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1423" y="4071505"/>
            <a:ext cx="78041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31313"/>
                </a:solidFill>
                <a:latin typeface="Times New Roman"/>
                <a:cs typeface="Times New Roman"/>
              </a:rPr>
              <a:t>Consumer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8297" y="4551019"/>
            <a:ext cx="1923414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65" dirty="0">
                <a:solidFill>
                  <a:srgbClr val="6D6A67"/>
                </a:solidFill>
                <a:latin typeface="Tahoma"/>
                <a:cs typeface="Tahoma"/>
              </a:rPr>
              <a:t>Segment</a:t>
            </a:r>
            <a:r>
              <a:rPr sz="1100" spc="-55" dirty="0">
                <a:solidFill>
                  <a:srgbClr val="6D6A67"/>
                </a:solidFill>
                <a:latin typeface="Tahoma"/>
                <a:cs typeface="Tahoma"/>
              </a:rPr>
              <a:t> buyers</a:t>
            </a:r>
            <a:r>
              <a:rPr sz="1100" spc="-5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6D6A67"/>
                </a:solidFill>
                <a:latin typeface="Tahoma"/>
                <a:cs typeface="Tahoma"/>
              </a:rPr>
              <a:t>&amp;</a:t>
            </a:r>
            <a:r>
              <a:rPr sz="1100" spc="-55" dirty="0">
                <a:solidFill>
                  <a:srgbClr val="6D6A67"/>
                </a:solidFill>
                <a:latin typeface="Tahoma"/>
                <a:cs typeface="Tahoma"/>
              </a:rPr>
              <a:t> purchase </a:t>
            </a:r>
            <a:r>
              <a:rPr sz="1100" spc="-10" dirty="0">
                <a:solidFill>
                  <a:srgbClr val="6D6A67"/>
                </a:solidFill>
                <a:latin typeface="Tahoma"/>
                <a:cs typeface="Tahoma"/>
              </a:rPr>
              <a:t>drivers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642755" y="2696641"/>
            <a:ext cx="1957070" cy="1189990"/>
            <a:chOff x="2642755" y="2696641"/>
            <a:chExt cx="1957070" cy="1189990"/>
          </a:xfrm>
        </p:grpSpPr>
        <p:sp>
          <p:nvSpPr>
            <p:cNvPr id="14" name="object 14"/>
            <p:cNvSpPr/>
            <p:nvPr/>
          </p:nvSpPr>
          <p:spPr>
            <a:xfrm>
              <a:off x="3694315" y="3341877"/>
              <a:ext cx="905510" cy="36830"/>
            </a:xfrm>
            <a:custGeom>
              <a:avLst/>
              <a:gdLst/>
              <a:ahLst/>
              <a:cxnLst/>
              <a:rect l="l" t="t" r="r" b="b"/>
              <a:pathLst>
                <a:path w="905510" h="36829">
                  <a:moveTo>
                    <a:pt x="905040" y="0"/>
                  </a:moveTo>
                  <a:lnTo>
                    <a:pt x="0" y="0"/>
                  </a:lnTo>
                  <a:lnTo>
                    <a:pt x="0" y="36360"/>
                  </a:lnTo>
                  <a:lnTo>
                    <a:pt x="452526" y="36360"/>
                  </a:lnTo>
                  <a:lnTo>
                    <a:pt x="905040" y="36360"/>
                  </a:lnTo>
                  <a:lnTo>
                    <a:pt x="905040" y="0"/>
                  </a:lnTo>
                  <a:close/>
                </a:path>
              </a:pathLst>
            </a:custGeom>
            <a:solidFill>
              <a:srgbClr val="E2D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42755" y="2834639"/>
              <a:ext cx="1051560" cy="1051560"/>
            </a:xfrm>
            <a:custGeom>
              <a:avLst/>
              <a:gdLst/>
              <a:ahLst/>
              <a:cxnLst/>
              <a:rect l="l" t="t" r="r" b="b"/>
              <a:pathLst>
                <a:path w="1051560" h="1051560">
                  <a:moveTo>
                    <a:pt x="525970" y="0"/>
                  </a:moveTo>
                  <a:lnTo>
                    <a:pt x="470740" y="2876"/>
                  </a:lnTo>
                  <a:lnTo>
                    <a:pt x="416378" y="11438"/>
                  </a:lnTo>
                  <a:lnTo>
                    <a:pt x="363313" y="25583"/>
                  </a:lnTo>
                  <a:lnTo>
                    <a:pt x="311977" y="45206"/>
                  </a:lnTo>
                  <a:lnTo>
                    <a:pt x="262801" y="70205"/>
                  </a:lnTo>
                  <a:lnTo>
                    <a:pt x="216542" y="100256"/>
                  </a:lnTo>
                  <a:lnTo>
                    <a:pt x="173880" y="134886"/>
                  </a:lnTo>
                  <a:lnTo>
                    <a:pt x="135122" y="173751"/>
                  </a:lnTo>
                  <a:lnTo>
                    <a:pt x="100579" y="216504"/>
                  </a:lnTo>
                  <a:lnTo>
                    <a:pt x="70561" y="262801"/>
                  </a:lnTo>
                  <a:lnTo>
                    <a:pt x="45393" y="311974"/>
                  </a:lnTo>
                  <a:lnTo>
                    <a:pt x="25665" y="363289"/>
                  </a:lnTo>
                  <a:lnTo>
                    <a:pt x="11465" y="416298"/>
                  </a:lnTo>
                  <a:lnTo>
                    <a:pt x="2880" y="470552"/>
                  </a:lnTo>
                  <a:lnTo>
                    <a:pt x="0" y="525602"/>
                  </a:lnTo>
                  <a:lnTo>
                    <a:pt x="2880" y="580652"/>
                  </a:lnTo>
                  <a:lnTo>
                    <a:pt x="11465" y="634905"/>
                  </a:lnTo>
                  <a:lnTo>
                    <a:pt x="25665" y="687914"/>
                  </a:lnTo>
                  <a:lnTo>
                    <a:pt x="45393" y="739230"/>
                  </a:lnTo>
                  <a:lnTo>
                    <a:pt x="70561" y="788403"/>
                  </a:lnTo>
                  <a:lnTo>
                    <a:pt x="100579" y="834699"/>
                  </a:lnTo>
                  <a:lnTo>
                    <a:pt x="135122" y="877453"/>
                  </a:lnTo>
                  <a:lnTo>
                    <a:pt x="173880" y="916317"/>
                  </a:lnTo>
                  <a:lnTo>
                    <a:pt x="216542" y="950948"/>
                  </a:lnTo>
                  <a:lnTo>
                    <a:pt x="262801" y="980998"/>
                  </a:lnTo>
                  <a:lnTo>
                    <a:pt x="311977" y="1006030"/>
                  </a:lnTo>
                  <a:lnTo>
                    <a:pt x="363313" y="1025741"/>
                  </a:lnTo>
                  <a:lnTo>
                    <a:pt x="416378" y="1039992"/>
                  </a:lnTo>
                  <a:lnTo>
                    <a:pt x="470740" y="1048644"/>
                  </a:lnTo>
                  <a:lnTo>
                    <a:pt x="525970" y="1051560"/>
                  </a:lnTo>
                  <a:lnTo>
                    <a:pt x="581015" y="1048644"/>
                  </a:lnTo>
                  <a:lnTo>
                    <a:pt x="635267" y="1039992"/>
                  </a:lnTo>
                  <a:lnTo>
                    <a:pt x="688276" y="1025741"/>
                  </a:lnTo>
                  <a:lnTo>
                    <a:pt x="739590" y="1006030"/>
                  </a:lnTo>
                  <a:lnTo>
                    <a:pt x="788758" y="980998"/>
                  </a:lnTo>
                  <a:lnTo>
                    <a:pt x="835018" y="950948"/>
                  </a:lnTo>
                  <a:lnTo>
                    <a:pt x="877683" y="916317"/>
                  </a:lnTo>
                  <a:lnTo>
                    <a:pt x="916442" y="877453"/>
                  </a:lnTo>
                  <a:lnTo>
                    <a:pt x="950985" y="834699"/>
                  </a:lnTo>
                  <a:lnTo>
                    <a:pt x="980998" y="788403"/>
                  </a:lnTo>
                  <a:lnTo>
                    <a:pt x="1006171" y="739230"/>
                  </a:lnTo>
                  <a:lnTo>
                    <a:pt x="1025900" y="687914"/>
                  </a:lnTo>
                  <a:lnTo>
                    <a:pt x="1040098" y="634905"/>
                  </a:lnTo>
                  <a:lnTo>
                    <a:pt x="1048680" y="580652"/>
                  </a:lnTo>
                  <a:lnTo>
                    <a:pt x="1051560" y="525602"/>
                  </a:lnTo>
                  <a:lnTo>
                    <a:pt x="1048680" y="470552"/>
                  </a:lnTo>
                  <a:lnTo>
                    <a:pt x="1040098" y="416298"/>
                  </a:lnTo>
                  <a:lnTo>
                    <a:pt x="1025900" y="363289"/>
                  </a:lnTo>
                  <a:lnTo>
                    <a:pt x="1006171" y="311974"/>
                  </a:lnTo>
                  <a:lnTo>
                    <a:pt x="980998" y="262801"/>
                  </a:lnTo>
                  <a:lnTo>
                    <a:pt x="950985" y="216504"/>
                  </a:lnTo>
                  <a:lnTo>
                    <a:pt x="916442" y="173751"/>
                  </a:lnTo>
                  <a:lnTo>
                    <a:pt x="877683" y="134886"/>
                  </a:lnTo>
                  <a:lnTo>
                    <a:pt x="835018" y="100256"/>
                  </a:lnTo>
                  <a:lnTo>
                    <a:pt x="788758" y="70205"/>
                  </a:lnTo>
                  <a:lnTo>
                    <a:pt x="739590" y="45206"/>
                  </a:lnTo>
                  <a:lnTo>
                    <a:pt x="688276" y="25583"/>
                  </a:lnTo>
                  <a:lnTo>
                    <a:pt x="635267" y="11438"/>
                  </a:lnTo>
                  <a:lnTo>
                    <a:pt x="581015" y="2876"/>
                  </a:lnTo>
                  <a:lnTo>
                    <a:pt x="525970" y="0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95117" y="3086633"/>
              <a:ext cx="546480" cy="5464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438004" y="270648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19" y="6432"/>
                  </a:lnTo>
                  <a:lnTo>
                    <a:pt x="96113" y="25552"/>
                  </a:lnTo>
                  <a:lnTo>
                    <a:pt x="56246" y="56068"/>
                  </a:lnTo>
                  <a:lnTo>
                    <a:pt x="25552" y="95758"/>
                  </a:lnTo>
                  <a:lnTo>
                    <a:pt x="6565" y="142062"/>
                  </a:lnTo>
                  <a:lnTo>
                    <a:pt x="0" y="191871"/>
                  </a:lnTo>
                  <a:lnTo>
                    <a:pt x="1663" y="217069"/>
                  </a:lnTo>
                  <a:lnTo>
                    <a:pt x="14573" y="265436"/>
                  </a:lnTo>
                  <a:lnTo>
                    <a:pt x="39619" y="308888"/>
                  </a:lnTo>
                  <a:lnTo>
                    <a:pt x="75167" y="344187"/>
                  </a:lnTo>
                  <a:lnTo>
                    <a:pt x="118675" y="369382"/>
                  </a:lnTo>
                  <a:lnTo>
                    <a:pt x="167042" y="382442"/>
                  </a:lnTo>
                  <a:lnTo>
                    <a:pt x="192239" y="384111"/>
                  </a:lnTo>
                  <a:lnTo>
                    <a:pt x="217224" y="382442"/>
                  </a:lnTo>
                  <a:lnTo>
                    <a:pt x="265441" y="369382"/>
                  </a:lnTo>
                  <a:lnTo>
                    <a:pt x="308943" y="344187"/>
                  </a:lnTo>
                  <a:lnTo>
                    <a:pt x="344492" y="308888"/>
                  </a:lnTo>
                  <a:lnTo>
                    <a:pt x="369538" y="265436"/>
                  </a:lnTo>
                  <a:lnTo>
                    <a:pt x="382447" y="217069"/>
                  </a:lnTo>
                  <a:lnTo>
                    <a:pt x="384111" y="191871"/>
                  </a:lnTo>
                  <a:lnTo>
                    <a:pt x="382447" y="166681"/>
                  </a:lnTo>
                  <a:lnTo>
                    <a:pt x="369538" y="118319"/>
                  </a:lnTo>
                  <a:lnTo>
                    <a:pt x="344492" y="74867"/>
                  </a:lnTo>
                  <a:lnTo>
                    <a:pt x="308943" y="39563"/>
                  </a:lnTo>
                  <a:lnTo>
                    <a:pt x="265441" y="14423"/>
                  </a:lnTo>
                  <a:lnTo>
                    <a:pt x="217224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D3AE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38004" y="270648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71"/>
                  </a:moveTo>
                  <a:lnTo>
                    <a:pt x="1663" y="166681"/>
                  </a:lnTo>
                  <a:lnTo>
                    <a:pt x="6565" y="142062"/>
                  </a:lnTo>
                  <a:lnTo>
                    <a:pt x="25552" y="95758"/>
                  </a:lnTo>
                  <a:lnTo>
                    <a:pt x="56246" y="56068"/>
                  </a:lnTo>
                  <a:lnTo>
                    <a:pt x="96113" y="25552"/>
                  </a:lnTo>
                  <a:lnTo>
                    <a:pt x="142419" y="6432"/>
                  </a:lnTo>
                  <a:lnTo>
                    <a:pt x="192239" y="0"/>
                  </a:lnTo>
                  <a:lnTo>
                    <a:pt x="241738" y="6432"/>
                  </a:lnTo>
                  <a:lnTo>
                    <a:pt x="287997" y="25552"/>
                  </a:lnTo>
                  <a:lnTo>
                    <a:pt x="327864" y="56068"/>
                  </a:lnTo>
                  <a:lnTo>
                    <a:pt x="358559" y="95758"/>
                  </a:lnTo>
                  <a:lnTo>
                    <a:pt x="377545" y="142062"/>
                  </a:lnTo>
                  <a:lnTo>
                    <a:pt x="384111" y="191871"/>
                  </a:lnTo>
                  <a:lnTo>
                    <a:pt x="382447" y="217069"/>
                  </a:lnTo>
                  <a:lnTo>
                    <a:pt x="377545" y="241692"/>
                  </a:lnTo>
                  <a:lnTo>
                    <a:pt x="358559" y="287997"/>
                  </a:lnTo>
                  <a:lnTo>
                    <a:pt x="327864" y="327685"/>
                  </a:lnTo>
                  <a:lnTo>
                    <a:pt x="287997" y="358190"/>
                  </a:lnTo>
                  <a:lnTo>
                    <a:pt x="241738" y="377499"/>
                  </a:lnTo>
                  <a:lnTo>
                    <a:pt x="192239" y="384111"/>
                  </a:lnTo>
                  <a:lnTo>
                    <a:pt x="142419" y="377499"/>
                  </a:lnTo>
                  <a:lnTo>
                    <a:pt x="96113" y="358190"/>
                  </a:lnTo>
                  <a:lnTo>
                    <a:pt x="56246" y="327685"/>
                  </a:lnTo>
                  <a:lnTo>
                    <a:pt x="25552" y="287997"/>
                  </a:lnTo>
                  <a:lnTo>
                    <a:pt x="6565" y="241692"/>
                  </a:lnTo>
                  <a:lnTo>
                    <a:pt x="1663" y="217069"/>
                  </a:lnTo>
                  <a:lnTo>
                    <a:pt x="0" y="191871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579024" y="278521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131313"/>
                </a:solidFill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01861" y="4071505"/>
            <a:ext cx="53276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31313"/>
                </a:solidFill>
                <a:latin typeface="Times New Roman"/>
                <a:cs typeface="Times New Roman"/>
              </a:rPr>
              <a:t>Region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31694" y="4551019"/>
            <a:ext cx="1471930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70" dirty="0">
                <a:solidFill>
                  <a:srgbClr val="6D6A67"/>
                </a:solidFill>
                <a:latin typeface="Tahoma"/>
                <a:cs typeface="Tahoma"/>
              </a:rPr>
              <a:t>Rank</a:t>
            </a:r>
            <a:r>
              <a:rPr sz="1100" spc="-5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6D6A67"/>
                </a:solidFill>
                <a:latin typeface="Tahoma"/>
                <a:cs typeface="Tahoma"/>
              </a:rPr>
              <a:t>city-</a:t>
            </a:r>
            <a:r>
              <a:rPr sz="1100" spc="-35" dirty="0">
                <a:solidFill>
                  <a:srgbClr val="6D6A67"/>
                </a:solidFill>
                <a:latin typeface="Tahoma"/>
                <a:cs typeface="Tahoma"/>
              </a:rPr>
              <a:t>level</a:t>
            </a:r>
            <a:r>
              <a:rPr sz="1100" spc="-5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6D6A67"/>
                </a:solidFill>
                <a:latin typeface="Tahoma"/>
                <a:cs typeface="Tahoma"/>
              </a:rPr>
              <a:t>opportunity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599355" y="2696641"/>
            <a:ext cx="1957070" cy="1189990"/>
            <a:chOff x="4599355" y="2696641"/>
            <a:chExt cx="1957070" cy="1189990"/>
          </a:xfrm>
        </p:grpSpPr>
        <p:sp>
          <p:nvSpPr>
            <p:cNvPr id="23" name="object 23"/>
            <p:cNvSpPr/>
            <p:nvPr/>
          </p:nvSpPr>
          <p:spPr>
            <a:xfrm>
              <a:off x="5650915" y="3341877"/>
              <a:ext cx="905510" cy="36830"/>
            </a:xfrm>
            <a:custGeom>
              <a:avLst/>
              <a:gdLst/>
              <a:ahLst/>
              <a:cxnLst/>
              <a:rect l="l" t="t" r="r" b="b"/>
              <a:pathLst>
                <a:path w="905509" h="36829">
                  <a:moveTo>
                    <a:pt x="905040" y="0"/>
                  </a:moveTo>
                  <a:lnTo>
                    <a:pt x="0" y="0"/>
                  </a:lnTo>
                  <a:lnTo>
                    <a:pt x="0" y="36360"/>
                  </a:lnTo>
                  <a:lnTo>
                    <a:pt x="452526" y="36360"/>
                  </a:lnTo>
                  <a:lnTo>
                    <a:pt x="905040" y="36360"/>
                  </a:lnTo>
                  <a:lnTo>
                    <a:pt x="905040" y="0"/>
                  </a:lnTo>
                  <a:close/>
                </a:path>
              </a:pathLst>
            </a:custGeom>
            <a:solidFill>
              <a:srgbClr val="E2D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99355" y="2834639"/>
              <a:ext cx="1051560" cy="1051560"/>
            </a:xfrm>
            <a:custGeom>
              <a:avLst/>
              <a:gdLst/>
              <a:ahLst/>
              <a:cxnLst/>
              <a:rect l="l" t="t" r="r" b="b"/>
              <a:pathLst>
                <a:path w="1051560" h="1051560">
                  <a:moveTo>
                    <a:pt x="525970" y="0"/>
                  </a:moveTo>
                  <a:lnTo>
                    <a:pt x="470740" y="2876"/>
                  </a:lnTo>
                  <a:lnTo>
                    <a:pt x="416378" y="11438"/>
                  </a:lnTo>
                  <a:lnTo>
                    <a:pt x="363313" y="25583"/>
                  </a:lnTo>
                  <a:lnTo>
                    <a:pt x="311977" y="45206"/>
                  </a:lnTo>
                  <a:lnTo>
                    <a:pt x="262801" y="70205"/>
                  </a:lnTo>
                  <a:lnTo>
                    <a:pt x="216542" y="100256"/>
                  </a:lnTo>
                  <a:lnTo>
                    <a:pt x="173880" y="134886"/>
                  </a:lnTo>
                  <a:lnTo>
                    <a:pt x="135122" y="173751"/>
                  </a:lnTo>
                  <a:lnTo>
                    <a:pt x="100579" y="216504"/>
                  </a:lnTo>
                  <a:lnTo>
                    <a:pt x="70561" y="262801"/>
                  </a:lnTo>
                  <a:lnTo>
                    <a:pt x="45393" y="311974"/>
                  </a:lnTo>
                  <a:lnTo>
                    <a:pt x="25665" y="363289"/>
                  </a:lnTo>
                  <a:lnTo>
                    <a:pt x="11465" y="416298"/>
                  </a:lnTo>
                  <a:lnTo>
                    <a:pt x="2880" y="470552"/>
                  </a:lnTo>
                  <a:lnTo>
                    <a:pt x="0" y="525602"/>
                  </a:lnTo>
                  <a:lnTo>
                    <a:pt x="2880" y="580652"/>
                  </a:lnTo>
                  <a:lnTo>
                    <a:pt x="11465" y="634905"/>
                  </a:lnTo>
                  <a:lnTo>
                    <a:pt x="25665" y="687914"/>
                  </a:lnTo>
                  <a:lnTo>
                    <a:pt x="45393" y="739230"/>
                  </a:lnTo>
                  <a:lnTo>
                    <a:pt x="70561" y="788403"/>
                  </a:lnTo>
                  <a:lnTo>
                    <a:pt x="100579" y="834699"/>
                  </a:lnTo>
                  <a:lnTo>
                    <a:pt x="135122" y="877453"/>
                  </a:lnTo>
                  <a:lnTo>
                    <a:pt x="173880" y="916317"/>
                  </a:lnTo>
                  <a:lnTo>
                    <a:pt x="216542" y="950948"/>
                  </a:lnTo>
                  <a:lnTo>
                    <a:pt x="262801" y="980998"/>
                  </a:lnTo>
                  <a:lnTo>
                    <a:pt x="311977" y="1006030"/>
                  </a:lnTo>
                  <a:lnTo>
                    <a:pt x="363313" y="1025741"/>
                  </a:lnTo>
                  <a:lnTo>
                    <a:pt x="416378" y="1039992"/>
                  </a:lnTo>
                  <a:lnTo>
                    <a:pt x="470740" y="1048644"/>
                  </a:lnTo>
                  <a:lnTo>
                    <a:pt x="525970" y="1051560"/>
                  </a:lnTo>
                  <a:lnTo>
                    <a:pt x="581015" y="1048644"/>
                  </a:lnTo>
                  <a:lnTo>
                    <a:pt x="635267" y="1039992"/>
                  </a:lnTo>
                  <a:lnTo>
                    <a:pt x="688276" y="1025741"/>
                  </a:lnTo>
                  <a:lnTo>
                    <a:pt x="739590" y="1006030"/>
                  </a:lnTo>
                  <a:lnTo>
                    <a:pt x="788758" y="980998"/>
                  </a:lnTo>
                  <a:lnTo>
                    <a:pt x="835018" y="950948"/>
                  </a:lnTo>
                  <a:lnTo>
                    <a:pt x="877683" y="916317"/>
                  </a:lnTo>
                  <a:lnTo>
                    <a:pt x="916442" y="877453"/>
                  </a:lnTo>
                  <a:lnTo>
                    <a:pt x="950985" y="834699"/>
                  </a:lnTo>
                  <a:lnTo>
                    <a:pt x="980998" y="788403"/>
                  </a:lnTo>
                  <a:lnTo>
                    <a:pt x="1006171" y="739230"/>
                  </a:lnTo>
                  <a:lnTo>
                    <a:pt x="1025900" y="687914"/>
                  </a:lnTo>
                  <a:lnTo>
                    <a:pt x="1040098" y="634905"/>
                  </a:lnTo>
                  <a:lnTo>
                    <a:pt x="1048680" y="580652"/>
                  </a:lnTo>
                  <a:lnTo>
                    <a:pt x="1051560" y="525602"/>
                  </a:lnTo>
                  <a:lnTo>
                    <a:pt x="1048680" y="470552"/>
                  </a:lnTo>
                  <a:lnTo>
                    <a:pt x="1040098" y="416298"/>
                  </a:lnTo>
                  <a:lnTo>
                    <a:pt x="1025900" y="363289"/>
                  </a:lnTo>
                  <a:lnTo>
                    <a:pt x="1006171" y="311974"/>
                  </a:lnTo>
                  <a:lnTo>
                    <a:pt x="980998" y="262801"/>
                  </a:lnTo>
                  <a:lnTo>
                    <a:pt x="950985" y="216504"/>
                  </a:lnTo>
                  <a:lnTo>
                    <a:pt x="916442" y="173751"/>
                  </a:lnTo>
                  <a:lnTo>
                    <a:pt x="877683" y="134886"/>
                  </a:lnTo>
                  <a:lnTo>
                    <a:pt x="835018" y="100256"/>
                  </a:lnTo>
                  <a:lnTo>
                    <a:pt x="788758" y="70205"/>
                  </a:lnTo>
                  <a:lnTo>
                    <a:pt x="739590" y="45206"/>
                  </a:lnTo>
                  <a:lnTo>
                    <a:pt x="688276" y="25583"/>
                  </a:lnTo>
                  <a:lnTo>
                    <a:pt x="635267" y="11438"/>
                  </a:lnTo>
                  <a:lnTo>
                    <a:pt x="581015" y="2876"/>
                  </a:lnTo>
                  <a:lnTo>
                    <a:pt x="525970" y="0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51717" y="3086633"/>
              <a:ext cx="546480" cy="54648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394959" y="270648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2"/>
                  </a:lnTo>
                  <a:lnTo>
                    <a:pt x="96126" y="25552"/>
                  </a:lnTo>
                  <a:lnTo>
                    <a:pt x="56249" y="56068"/>
                  </a:lnTo>
                  <a:lnTo>
                    <a:pt x="25565" y="95758"/>
                  </a:lnTo>
                  <a:lnTo>
                    <a:pt x="6572" y="142062"/>
                  </a:lnTo>
                  <a:lnTo>
                    <a:pt x="0" y="191871"/>
                  </a:lnTo>
                  <a:lnTo>
                    <a:pt x="1665" y="217069"/>
                  </a:lnTo>
                  <a:lnTo>
                    <a:pt x="14583" y="265436"/>
                  </a:lnTo>
                  <a:lnTo>
                    <a:pt x="39624" y="308888"/>
                  </a:lnTo>
                  <a:lnTo>
                    <a:pt x="75173" y="344187"/>
                  </a:lnTo>
                  <a:lnTo>
                    <a:pt x="118686" y="369382"/>
                  </a:lnTo>
                  <a:lnTo>
                    <a:pt x="167044" y="382442"/>
                  </a:lnTo>
                  <a:lnTo>
                    <a:pt x="192239" y="384111"/>
                  </a:lnTo>
                  <a:lnTo>
                    <a:pt x="217224" y="382442"/>
                  </a:lnTo>
                  <a:lnTo>
                    <a:pt x="265441" y="369382"/>
                  </a:lnTo>
                  <a:lnTo>
                    <a:pt x="308945" y="344187"/>
                  </a:lnTo>
                  <a:lnTo>
                    <a:pt x="344497" y="308888"/>
                  </a:lnTo>
                  <a:lnTo>
                    <a:pt x="369540" y="265436"/>
                  </a:lnTo>
                  <a:lnTo>
                    <a:pt x="382458" y="217069"/>
                  </a:lnTo>
                  <a:lnTo>
                    <a:pt x="384124" y="191871"/>
                  </a:lnTo>
                  <a:lnTo>
                    <a:pt x="382458" y="166681"/>
                  </a:lnTo>
                  <a:lnTo>
                    <a:pt x="369540" y="118319"/>
                  </a:lnTo>
                  <a:lnTo>
                    <a:pt x="344497" y="74867"/>
                  </a:lnTo>
                  <a:lnTo>
                    <a:pt x="308945" y="39563"/>
                  </a:lnTo>
                  <a:lnTo>
                    <a:pt x="265441" y="14423"/>
                  </a:lnTo>
                  <a:lnTo>
                    <a:pt x="217224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D3AE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94959" y="270648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71"/>
                  </a:moveTo>
                  <a:lnTo>
                    <a:pt x="1665" y="166681"/>
                  </a:lnTo>
                  <a:lnTo>
                    <a:pt x="6572" y="142062"/>
                  </a:lnTo>
                  <a:lnTo>
                    <a:pt x="25565" y="95758"/>
                  </a:lnTo>
                  <a:lnTo>
                    <a:pt x="56249" y="56068"/>
                  </a:lnTo>
                  <a:lnTo>
                    <a:pt x="96126" y="25552"/>
                  </a:lnTo>
                  <a:lnTo>
                    <a:pt x="142425" y="6432"/>
                  </a:lnTo>
                  <a:lnTo>
                    <a:pt x="192239" y="0"/>
                  </a:lnTo>
                  <a:lnTo>
                    <a:pt x="241738" y="6432"/>
                  </a:lnTo>
                  <a:lnTo>
                    <a:pt x="287997" y="25552"/>
                  </a:lnTo>
                  <a:lnTo>
                    <a:pt x="327869" y="56068"/>
                  </a:lnTo>
                  <a:lnTo>
                    <a:pt x="358559" y="95758"/>
                  </a:lnTo>
                  <a:lnTo>
                    <a:pt x="377551" y="142062"/>
                  </a:lnTo>
                  <a:lnTo>
                    <a:pt x="384124" y="191871"/>
                  </a:lnTo>
                  <a:lnTo>
                    <a:pt x="382458" y="217069"/>
                  </a:lnTo>
                  <a:lnTo>
                    <a:pt x="377551" y="241692"/>
                  </a:lnTo>
                  <a:lnTo>
                    <a:pt x="358559" y="287997"/>
                  </a:lnTo>
                  <a:lnTo>
                    <a:pt x="327869" y="327685"/>
                  </a:lnTo>
                  <a:lnTo>
                    <a:pt x="287997" y="358190"/>
                  </a:lnTo>
                  <a:lnTo>
                    <a:pt x="241738" y="377499"/>
                  </a:lnTo>
                  <a:lnTo>
                    <a:pt x="192239" y="384111"/>
                  </a:lnTo>
                  <a:lnTo>
                    <a:pt x="142425" y="377499"/>
                  </a:lnTo>
                  <a:lnTo>
                    <a:pt x="96126" y="358190"/>
                  </a:lnTo>
                  <a:lnTo>
                    <a:pt x="56249" y="327685"/>
                  </a:lnTo>
                  <a:lnTo>
                    <a:pt x="25565" y="287997"/>
                  </a:lnTo>
                  <a:lnTo>
                    <a:pt x="6572" y="241692"/>
                  </a:lnTo>
                  <a:lnTo>
                    <a:pt x="1665" y="217069"/>
                  </a:lnTo>
                  <a:lnTo>
                    <a:pt x="0" y="191871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535980" y="278521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131313"/>
                </a:solidFill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807343" y="4071505"/>
            <a:ext cx="63500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31313"/>
                </a:solidFill>
                <a:latin typeface="Times New Roman"/>
                <a:cs typeface="Times New Roman"/>
              </a:rPr>
              <a:t>Channel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354817" y="4551019"/>
            <a:ext cx="1537970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5" dirty="0">
                <a:solidFill>
                  <a:srgbClr val="6D6A67"/>
                </a:solidFill>
                <a:latin typeface="Tahoma"/>
                <a:cs typeface="Tahoma"/>
              </a:rPr>
              <a:t>Compare</a:t>
            </a:r>
            <a:r>
              <a:rPr sz="1100" spc="-7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6D6A67"/>
                </a:solidFill>
                <a:latin typeface="Tahoma"/>
                <a:cs typeface="Tahoma"/>
              </a:rPr>
              <a:t>4 </a:t>
            </a:r>
            <a:r>
              <a:rPr sz="1100" spc="-45" dirty="0">
                <a:solidFill>
                  <a:srgbClr val="6D6A67"/>
                </a:solidFill>
                <a:latin typeface="Tahoma"/>
                <a:cs typeface="Tahoma"/>
              </a:rPr>
              <a:t>routes</a:t>
            </a:r>
            <a:r>
              <a:rPr sz="1100" spc="-7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6D6A67"/>
                </a:solidFill>
                <a:latin typeface="Tahoma"/>
                <a:cs typeface="Tahoma"/>
              </a:rPr>
              <a:t>to</a:t>
            </a:r>
            <a:r>
              <a:rPr sz="1100" spc="-7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6D6A67"/>
                </a:solidFill>
                <a:latin typeface="Tahoma"/>
                <a:cs typeface="Tahoma"/>
              </a:rPr>
              <a:t>market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556323" y="2696641"/>
            <a:ext cx="1957070" cy="1189990"/>
            <a:chOff x="6556323" y="2696641"/>
            <a:chExt cx="1957070" cy="1189990"/>
          </a:xfrm>
        </p:grpSpPr>
        <p:sp>
          <p:nvSpPr>
            <p:cNvPr id="32" name="object 32"/>
            <p:cNvSpPr/>
            <p:nvPr/>
          </p:nvSpPr>
          <p:spPr>
            <a:xfrm>
              <a:off x="7607883" y="3341877"/>
              <a:ext cx="905510" cy="36830"/>
            </a:xfrm>
            <a:custGeom>
              <a:avLst/>
              <a:gdLst/>
              <a:ahLst/>
              <a:cxnLst/>
              <a:rect l="l" t="t" r="r" b="b"/>
              <a:pathLst>
                <a:path w="905509" h="36829">
                  <a:moveTo>
                    <a:pt x="905040" y="0"/>
                  </a:moveTo>
                  <a:lnTo>
                    <a:pt x="0" y="0"/>
                  </a:lnTo>
                  <a:lnTo>
                    <a:pt x="0" y="36360"/>
                  </a:lnTo>
                  <a:lnTo>
                    <a:pt x="452513" y="36360"/>
                  </a:lnTo>
                  <a:lnTo>
                    <a:pt x="905040" y="36360"/>
                  </a:lnTo>
                  <a:lnTo>
                    <a:pt x="905040" y="0"/>
                  </a:lnTo>
                  <a:close/>
                </a:path>
              </a:pathLst>
            </a:custGeom>
            <a:solidFill>
              <a:srgbClr val="E2D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556323" y="2834639"/>
              <a:ext cx="1051560" cy="1051560"/>
            </a:xfrm>
            <a:custGeom>
              <a:avLst/>
              <a:gdLst/>
              <a:ahLst/>
              <a:cxnLst/>
              <a:rect l="l" t="t" r="r" b="b"/>
              <a:pathLst>
                <a:path w="1051559" h="1051560">
                  <a:moveTo>
                    <a:pt x="525589" y="0"/>
                  </a:moveTo>
                  <a:lnTo>
                    <a:pt x="470544" y="2876"/>
                  </a:lnTo>
                  <a:lnTo>
                    <a:pt x="416292" y="11438"/>
                  </a:lnTo>
                  <a:lnTo>
                    <a:pt x="363283" y="25583"/>
                  </a:lnTo>
                  <a:lnTo>
                    <a:pt x="311969" y="45206"/>
                  </a:lnTo>
                  <a:lnTo>
                    <a:pt x="262801" y="70205"/>
                  </a:lnTo>
                  <a:lnTo>
                    <a:pt x="216541" y="100256"/>
                  </a:lnTo>
                  <a:lnTo>
                    <a:pt x="173876" y="134886"/>
                  </a:lnTo>
                  <a:lnTo>
                    <a:pt x="135117" y="173751"/>
                  </a:lnTo>
                  <a:lnTo>
                    <a:pt x="100574" y="216504"/>
                  </a:lnTo>
                  <a:lnTo>
                    <a:pt x="70561" y="262801"/>
                  </a:lnTo>
                  <a:lnTo>
                    <a:pt x="45388" y="311974"/>
                  </a:lnTo>
                  <a:lnTo>
                    <a:pt x="25659" y="363289"/>
                  </a:lnTo>
                  <a:lnTo>
                    <a:pt x="11461" y="416298"/>
                  </a:lnTo>
                  <a:lnTo>
                    <a:pt x="2879" y="470552"/>
                  </a:lnTo>
                  <a:lnTo>
                    <a:pt x="0" y="525602"/>
                  </a:lnTo>
                  <a:lnTo>
                    <a:pt x="2879" y="580652"/>
                  </a:lnTo>
                  <a:lnTo>
                    <a:pt x="11461" y="634905"/>
                  </a:lnTo>
                  <a:lnTo>
                    <a:pt x="25659" y="687914"/>
                  </a:lnTo>
                  <a:lnTo>
                    <a:pt x="45388" y="739230"/>
                  </a:lnTo>
                  <a:lnTo>
                    <a:pt x="70561" y="788403"/>
                  </a:lnTo>
                  <a:lnTo>
                    <a:pt x="100574" y="834699"/>
                  </a:lnTo>
                  <a:lnTo>
                    <a:pt x="135117" y="877453"/>
                  </a:lnTo>
                  <a:lnTo>
                    <a:pt x="173876" y="916317"/>
                  </a:lnTo>
                  <a:lnTo>
                    <a:pt x="216541" y="950948"/>
                  </a:lnTo>
                  <a:lnTo>
                    <a:pt x="262801" y="980998"/>
                  </a:lnTo>
                  <a:lnTo>
                    <a:pt x="311969" y="1006030"/>
                  </a:lnTo>
                  <a:lnTo>
                    <a:pt x="363283" y="1025741"/>
                  </a:lnTo>
                  <a:lnTo>
                    <a:pt x="416292" y="1039992"/>
                  </a:lnTo>
                  <a:lnTo>
                    <a:pt x="470544" y="1048644"/>
                  </a:lnTo>
                  <a:lnTo>
                    <a:pt x="525589" y="1051560"/>
                  </a:lnTo>
                  <a:lnTo>
                    <a:pt x="580819" y="1048644"/>
                  </a:lnTo>
                  <a:lnTo>
                    <a:pt x="635181" y="1039992"/>
                  </a:lnTo>
                  <a:lnTo>
                    <a:pt x="688246" y="1025741"/>
                  </a:lnTo>
                  <a:lnTo>
                    <a:pt x="739582" y="1006030"/>
                  </a:lnTo>
                  <a:lnTo>
                    <a:pt x="788758" y="980998"/>
                  </a:lnTo>
                  <a:lnTo>
                    <a:pt x="835017" y="950948"/>
                  </a:lnTo>
                  <a:lnTo>
                    <a:pt x="877679" y="916317"/>
                  </a:lnTo>
                  <a:lnTo>
                    <a:pt x="916437" y="877453"/>
                  </a:lnTo>
                  <a:lnTo>
                    <a:pt x="950980" y="834699"/>
                  </a:lnTo>
                  <a:lnTo>
                    <a:pt x="980998" y="788403"/>
                  </a:lnTo>
                  <a:lnTo>
                    <a:pt x="1006166" y="739230"/>
                  </a:lnTo>
                  <a:lnTo>
                    <a:pt x="1025894" y="687914"/>
                  </a:lnTo>
                  <a:lnTo>
                    <a:pt x="1040094" y="634905"/>
                  </a:lnTo>
                  <a:lnTo>
                    <a:pt x="1048679" y="580652"/>
                  </a:lnTo>
                  <a:lnTo>
                    <a:pt x="1051560" y="525602"/>
                  </a:lnTo>
                  <a:lnTo>
                    <a:pt x="1048679" y="470552"/>
                  </a:lnTo>
                  <a:lnTo>
                    <a:pt x="1040094" y="416298"/>
                  </a:lnTo>
                  <a:lnTo>
                    <a:pt x="1025894" y="363289"/>
                  </a:lnTo>
                  <a:lnTo>
                    <a:pt x="1006166" y="311974"/>
                  </a:lnTo>
                  <a:lnTo>
                    <a:pt x="980998" y="262801"/>
                  </a:lnTo>
                  <a:lnTo>
                    <a:pt x="950980" y="216504"/>
                  </a:lnTo>
                  <a:lnTo>
                    <a:pt x="916437" y="173751"/>
                  </a:lnTo>
                  <a:lnTo>
                    <a:pt x="877679" y="134886"/>
                  </a:lnTo>
                  <a:lnTo>
                    <a:pt x="835017" y="100256"/>
                  </a:lnTo>
                  <a:lnTo>
                    <a:pt x="788758" y="70205"/>
                  </a:lnTo>
                  <a:lnTo>
                    <a:pt x="739582" y="45206"/>
                  </a:lnTo>
                  <a:lnTo>
                    <a:pt x="688246" y="25583"/>
                  </a:lnTo>
                  <a:lnTo>
                    <a:pt x="635181" y="11438"/>
                  </a:lnTo>
                  <a:lnTo>
                    <a:pt x="580819" y="2876"/>
                  </a:lnTo>
                  <a:lnTo>
                    <a:pt x="525589" y="0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08685" y="3086633"/>
              <a:ext cx="546480" cy="54648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351915" y="270648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30" y="6432"/>
                  </a:lnTo>
                  <a:lnTo>
                    <a:pt x="96126" y="25552"/>
                  </a:lnTo>
                  <a:lnTo>
                    <a:pt x="56254" y="56068"/>
                  </a:lnTo>
                  <a:lnTo>
                    <a:pt x="25565" y="95758"/>
                  </a:lnTo>
                  <a:lnTo>
                    <a:pt x="6572" y="142062"/>
                  </a:lnTo>
                  <a:lnTo>
                    <a:pt x="0" y="191871"/>
                  </a:lnTo>
                  <a:lnTo>
                    <a:pt x="1665" y="217069"/>
                  </a:lnTo>
                  <a:lnTo>
                    <a:pt x="14583" y="265436"/>
                  </a:lnTo>
                  <a:lnTo>
                    <a:pt x="39626" y="308888"/>
                  </a:lnTo>
                  <a:lnTo>
                    <a:pt x="75178" y="344187"/>
                  </a:lnTo>
                  <a:lnTo>
                    <a:pt x="118687" y="369382"/>
                  </a:lnTo>
                  <a:lnTo>
                    <a:pt x="167049" y="382442"/>
                  </a:lnTo>
                  <a:lnTo>
                    <a:pt x="192239" y="384111"/>
                  </a:lnTo>
                  <a:lnTo>
                    <a:pt x="217230" y="382442"/>
                  </a:lnTo>
                  <a:lnTo>
                    <a:pt x="265449" y="369382"/>
                  </a:lnTo>
                  <a:lnTo>
                    <a:pt x="308956" y="344187"/>
                  </a:lnTo>
                  <a:lnTo>
                    <a:pt x="344499" y="308888"/>
                  </a:lnTo>
                  <a:lnTo>
                    <a:pt x="369540" y="265436"/>
                  </a:lnTo>
                  <a:lnTo>
                    <a:pt x="382458" y="217069"/>
                  </a:lnTo>
                  <a:lnTo>
                    <a:pt x="384124" y="191871"/>
                  </a:lnTo>
                  <a:lnTo>
                    <a:pt x="382458" y="166681"/>
                  </a:lnTo>
                  <a:lnTo>
                    <a:pt x="369540" y="118319"/>
                  </a:lnTo>
                  <a:lnTo>
                    <a:pt x="344499" y="74867"/>
                  </a:lnTo>
                  <a:lnTo>
                    <a:pt x="308956" y="39563"/>
                  </a:lnTo>
                  <a:lnTo>
                    <a:pt x="265449" y="14423"/>
                  </a:lnTo>
                  <a:lnTo>
                    <a:pt x="217230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D3AE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351915" y="270648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71"/>
                  </a:moveTo>
                  <a:lnTo>
                    <a:pt x="1665" y="166681"/>
                  </a:lnTo>
                  <a:lnTo>
                    <a:pt x="6572" y="142062"/>
                  </a:lnTo>
                  <a:lnTo>
                    <a:pt x="25565" y="95758"/>
                  </a:lnTo>
                  <a:lnTo>
                    <a:pt x="56254" y="56068"/>
                  </a:lnTo>
                  <a:lnTo>
                    <a:pt x="96126" y="25552"/>
                  </a:lnTo>
                  <a:lnTo>
                    <a:pt x="142430" y="6432"/>
                  </a:lnTo>
                  <a:lnTo>
                    <a:pt x="192239" y="0"/>
                  </a:lnTo>
                  <a:lnTo>
                    <a:pt x="241744" y="6432"/>
                  </a:lnTo>
                  <a:lnTo>
                    <a:pt x="288010" y="25552"/>
                  </a:lnTo>
                  <a:lnTo>
                    <a:pt x="327875" y="56068"/>
                  </a:lnTo>
                  <a:lnTo>
                    <a:pt x="358559" y="95758"/>
                  </a:lnTo>
                  <a:lnTo>
                    <a:pt x="377551" y="142062"/>
                  </a:lnTo>
                  <a:lnTo>
                    <a:pt x="384124" y="191871"/>
                  </a:lnTo>
                  <a:lnTo>
                    <a:pt x="382458" y="217069"/>
                  </a:lnTo>
                  <a:lnTo>
                    <a:pt x="377551" y="241692"/>
                  </a:lnTo>
                  <a:lnTo>
                    <a:pt x="358559" y="287997"/>
                  </a:lnTo>
                  <a:lnTo>
                    <a:pt x="327875" y="327685"/>
                  </a:lnTo>
                  <a:lnTo>
                    <a:pt x="288010" y="358190"/>
                  </a:lnTo>
                  <a:lnTo>
                    <a:pt x="241744" y="377499"/>
                  </a:lnTo>
                  <a:lnTo>
                    <a:pt x="192239" y="384111"/>
                  </a:lnTo>
                  <a:lnTo>
                    <a:pt x="142430" y="377499"/>
                  </a:lnTo>
                  <a:lnTo>
                    <a:pt x="96126" y="358190"/>
                  </a:lnTo>
                  <a:lnTo>
                    <a:pt x="56254" y="327685"/>
                  </a:lnTo>
                  <a:lnTo>
                    <a:pt x="25565" y="287997"/>
                  </a:lnTo>
                  <a:lnTo>
                    <a:pt x="6572" y="241692"/>
                  </a:lnTo>
                  <a:lnTo>
                    <a:pt x="1665" y="217069"/>
                  </a:lnTo>
                  <a:lnTo>
                    <a:pt x="0" y="191871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488973" y="2785211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10" dirty="0">
                <a:solidFill>
                  <a:srgbClr val="131313"/>
                </a:solidFill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59626" y="4071505"/>
            <a:ext cx="64579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31313"/>
                </a:solidFill>
                <a:latin typeface="Times New Roman"/>
                <a:cs typeface="Times New Roman"/>
              </a:rPr>
              <a:t>Demand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371894" y="4551019"/>
            <a:ext cx="1417955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10" dirty="0">
                <a:solidFill>
                  <a:srgbClr val="6D6A67"/>
                </a:solidFill>
                <a:latin typeface="Tahoma"/>
                <a:cs typeface="Tahoma"/>
              </a:rPr>
              <a:t>Model</a:t>
            </a:r>
            <a:r>
              <a:rPr sz="1100" spc="-7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6D6A67"/>
                </a:solidFill>
                <a:latin typeface="Tahoma"/>
                <a:cs typeface="Tahoma"/>
              </a:rPr>
              <a:t>seasonality</a:t>
            </a:r>
            <a:r>
              <a:rPr sz="1100" spc="-6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6D6A67"/>
                </a:solidFill>
                <a:latin typeface="Tahoma"/>
                <a:cs typeface="Tahoma"/>
              </a:rPr>
              <a:t>&amp;</a:t>
            </a:r>
            <a:r>
              <a:rPr sz="1100" spc="-6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6D6A67"/>
                </a:solidFill>
                <a:latin typeface="Tahoma"/>
                <a:cs typeface="Tahoma"/>
              </a:rPr>
              <a:t>sales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512924" y="2696641"/>
            <a:ext cx="1957070" cy="1189990"/>
            <a:chOff x="8512924" y="2696641"/>
            <a:chExt cx="1957070" cy="1189990"/>
          </a:xfrm>
        </p:grpSpPr>
        <p:sp>
          <p:nvSpPr>
            <p:cNvPr id="41" name="object 41"/>
            <p:cNvSpPr/>
            <p:nvPr/>
          </p:nvSpPr>
          <p:spPr>
            <a:xfrm>
              <a:off x="9564484" y="3341877"/>
              <a:ext cx="905510" cy="36830"/>
            </a:xfrm>
            <a:custGeom>
              <a:avLst/>
              <a:gdLst/>
              <a:ahLst/>
              <a:cxnLst/>
              <a:rect l="l" t="t" r="r" b="b"/>
              <a:pathLst>
                <a:path w="905509" h="36829">
                  <a:moveTo>
                    <a:pt x="905040" y="0"/>
                  </a:moveTo>
                  <a:lnTo>
                    <a:pt x="0" y="0"/>
                  </a:lnTo>
                  <a:lnTo>
                    <a:pt x="0" y="36360"/>
                  </a:lnTo>
                  <a:lnTo>
                    <a:pt x="452513" y="36360"/>
                  </a:lnTo>
                  <a:lnTo>
                    <a:pt x="905040" y="36360"/>
                  </a:lnTo>
                  <a:lnTo>
                    <a:pt x="905040" y="0"/>
                  </a:lnTo>
                  <a:close/>
                </a:path>
              </a:pathLst>
            </a:custGeom>
            <a:solidFill>
              <a:srgbClr val="E2D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512924" y="2834639"/>
              <a:ext cx="1051560" cy="1051560"/>
            </a:xfrm>
            <a:custGeom>
              <a:avLst/>
              <a:gdLst/>
              <a:ahLst/>
              <a:cxnLst/>
              <a:rect l="l" t="t" r="r" b="b"/>
              <a:pathLst>
                <a:path w="1051559" h="1051560">
                  <a:moveTo>
                    <a:pt x="525957" y="0"/>
                  </a:moveTo>
                  <a:lnTo>
                    <a:pt x="470733" y="2876"/>
                  </a:lnTo>
                  <a:lnTo>
                    <a:pt x="416371" y="11438"/>
                  </a:lnTo>
                  <a:lnTo>
                    <a:pt x="363307" y="25583"/>
                  </a:lnTo>
                  <a:lnTo>
                    <a:pt x="311972" y="45206"/>
                  </a:lnTo>
                  <a:lnTo>
                    <a:pt x="262801" y="70205"/>
                  </a:lnTo>
                  <a:lnTo>
                    <a:pt x="216541" y="100256"/>
                  </a:lnTo>
                  <a:lnTo>
                    <a:pt x="173876" y="134886"/>
                  </a:lnTo>
                  <a:lnTo>
                    <a:pt x="135117" y="173751"/>
                  </a:lnTo>
                  <a:lnTo>
                    <a:pt x="100574" y="216504"/>
                  </a:lnTo>
                  <a:lnTo>
                    <a:pt x="70561" y="262801"/>
                  </a:lnTo>
                  <a:lnTo>
                    <a:pt x="45388" y="311974"/>
                  </a:lnTo>
                  <a:lnTo>
                    <a:pt x="25659" y="363289"/>
                  </a:lnTo>
                  <a:lnTo>
                    <a:pt x="11461" y="416298"/>
                  </a:lnTo>
                  <a:lnTo>
                    <a:pt x="2879" y="470552"/>
                  </a:lnTo>
                  <a:lnTo>
                    <a:pt x="0" y="525602"/>
                  </a:lnTo>
                  <a:lnTo>
                    <a:pt x="2879" y="580652"/>
                  </a:lnTo>
                  <a:lnTo>
                    <a:pt x="11461" y="634905"/>
                  </a:lnTo>
                  <a:lnTo>
                    <a:pt x="25659" y="687914"/>
                  </a:lnTo>
                  <a:lnTo>
                    <a:pt x="45388" y="739230"/>
                  </a:lnTo>
                  <a:lnTo>
                    <a:pt x="70561" y="788403"/>
                  </a:lnTo>
                  <a:lnTo>
                    <a:pt x="100574" y="834699"/>
                  </a:lnTo>
                  <a:lnTo>
                    <a:pt x="135117" y="877453"/>
                  </a:lnTo>
                  <a:lnTo>
                    <a:pt x="173876" y="916317"/>
                  </a:lnTo>
                  <a:lnTo>
                    <a:pt x="216541" y="950948"/>
                  </a:lnTo>
                  <a:lnTo>
                    <a:pt x="262801" y="980998"/>
                  </a:lnTo>
                  <a:lnTo>
                    <a:pt x="311972" y="1006030"/>
                  </a:lnTo>
                  <a:lnTo>
                    <a:pt x="363307" y="1025741"/>
                  </a:lnTo>
                  <a:lnTo>
                    <a:pt x="416371" y="1039992"/>
                  </a:lnTo>
                  <a:lnTo>
                    <a:pt x="470733" y="1048644"/>
                  </a:lnTo>
                  <a:lnTo>
                    <a:pt x="525957" y="1051560"/>
                  </a:lnTo>
                  <a:lnTo>
                    <a:pt x="581007" y="1048644"/>
                  </a:lnTo>
                  <a:lnTo>
                    <a:pt x="635261" y="1039992"/>
                  </a:lnTo>
                  <a:lnTo>
                    <a:pt x="688270" y="1025741"/>
                  </a:lnTo>
                  <a:lnTo>
                    <a:pt x="739585" y="1006030"/>
                  </a:lnTo>
                  <a:lnTo>
                    <a:pt x="788758" y="980998"/>
                  </a:lnTo>
                  <a:lnTo>
                    <a:pt x="835017" y="950948"/>
                  </a:lnTo>
                  <a:lnTo>
                    <a:pt x="877679" y="916317"/>
                  </a:lnTo>
                  <a:lnTo>
                    <a:pt x="916437" y="877453"/>
                  </a:lnTo>
                  <a:lnTo>
                    <a:pt x="950980" y="834699"/>
                  </a:lnTo>
                  <a:lnTo>
                    <a:pt x="980998" y="788403"/>
                  </a:lnTo>
                  <a:lnTo>
                    <a:pt x="1006166" y="739230"/>
                  </a:lnTo>
                  <a:lnTo>
                    <a:pt x="1025894" y="687914"/>
                  </a:lnTo>
                  <a:lnTo>
                    <a:pt x="1040094" y="634905"/>
                  </a:lnTo>
                  <a:lnTo>
                    <a:pt x="1048679" y="580652"/>
                  </a:lnTo>
                  <a:lnTo>
                    <a:pt x="1051560" y="525602"/>
                  </a:lnTo>
                  <a:lnTo>
                    <a:pt x="1048679" y="470552"/>
                  </a:lnTo>
                  <a:lnTo>
                    <a:pt x="1040094" y="416298"/>
                  </a:lnTo>
                  <a:lnTo>
                    <a:pt x="1025894" y="363289"/>
                  </a:lnTo>
                  <a:lnTo>
                    <a:pt x="1006166" y="311974"/>
                  </a:lnTo>
                  <a:lnTo>
                    <a:pt x="980998" y="262801"/>
                  </a:lnTo>
                  <a:lnTo>
                    <a:pt x="950980" y="216504"/>
                  </a:lnTo>
                  <a:lnTo>
                    <a:pt x="916437" y="173751"/>
                  </a:lnTo>
                  <a:lnTo>
                    <a:pt x="877679" y="134886"/>
                  </a:lnTo>
                  <a:lnTo>
                    <a:pt x="835017" y="100256"/>
                  </a:lnTo>
                  <a:lnTo>
                    <a:pt x="788758" y="70205"/>
                  </a:lnTo>
                  <a:lnTo>
                    <a:pt x="739585" y="45206"/>
                  </a:lnTo>
                  <a:lnTo>
                    <a:pt x="688270" y="25583"/>
                  </a:lnTo>
                  <a:lnTo>
                    <a:pt x="635261" y="11438"/>
                  </a:lnTo>
                  <a:lnTo>
                    <a:pt x="581007" y="2876"/>
                  </a:lnTo>
                  <a:lnTo>
                    <a:pt x="525957" y="0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5286" y="3086633"/>
              <a:ext cx="546480" cy="54648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9308516" y="270648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30" y="6432"/>
                  </a:lnTo>
                  <a:lnTo>
                    <a:pt x="96126" y="25552"/>
                  </a:lnTo>
                  <a:lnTo>
                    <a:pt x="56254" y="56068"/>
                  </a:lnTo>
                  <a:lnTo>
                    <a:pt x="25565" y="95758"/>
                  </a:lnTo>
                  <a:lnTo>
                    <a:pt x="6572" y="142062"/>
                  </a:lnTo>
                  <a:lnTo>
                    <a:pt x="0" y="191871"/>
                  </a:lnTo>
                  <a:lnTo>
                    <a:pt x="1665" y="217069"/>
                  </a:lnTo>
                  <a:lnTo>
                    <a:pt x="14583" y="265436"/>
                  </a:lnTo>
                  <a:lnTo>
                    <a:pt x="39626" y="308888"/>
                  </a:lnTo>
                  <a:lnTo>
                    <a:pt x="75178" y="344187"/>
                  </a:lnTo>
                  <a:lnTo>
                    <a:pt x="118687" y="369382"/>
                  </a:lnTo>
                  <a:lnTo>
                    <a:pt x="167049" y="382442"/>
                  </a:lnTo>
                  <a:lnTo>
                    <a:pt x="192239" y="384111"/>
                  </a:lnTo>
                  <a:lnTo>
                    <a:pt x="217230" y="382442"/>
                  </a:lnTo>
                  <a:lnTo>
                    <a:pt x="265443" y="369382"/>
                  </a:lnTo>
                  <a:lnTo>
                    <a:pt x="308951" y="344187"/>
                  </a:lnTo>
                  <a:lnTo>
                    <a:pt x="344499" y="308888"/>
                  </a:lnTo>
                  <a:lnTo>
                    <a:pt x="369540" y="265436"/>
                  </a:lnTo>
                  <a:lnTo>
                    <a:pt x="382458" y="217069"/>
                  </a:lnTo>
                  <a:lnTo>
                    <a:pt x="384124" y="191871"/>
                  </a:lnTo>
                  <a:lnTo>
                    <a:pt x="382458" y="166681"/>
                  </a:lnTo>
                  <a:lnTo>
                    <a:pt x="369540" y="118319"/>
                  </a:lnTo>
                  <a:lnTo>
                    <a:pt x="344499" y="74867"/>
                  </a:lnTo>
                  <a:lnTo>
                    <a:pt x="308951" y="39563"/>
                  </a:lnTo>
                  <a:lnTo>
                    <a:pt x="265443" y="14423"/>
                  </a:lnTo>
                  <a:lnTo>
                    <a:pt x="217230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D3AE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308516" y="270648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71"/>
                  </a:moveTo>
                  <a:lnTo>
                    <a:pt x="1665" y="166681"/>
                  </a:lnTo>
                  <a:lnTo>
                    <a:pt x="6572" y="142062"/>
                  </a:lnTo>
                  <a:lnTo>
                    <a:pt x="25565" y="95758"/>
                  </a:lnTo>
                  <a:lnTo>
                    <a:pt x="56254" y="56068"/>
                  </a:lnTo>
                  <a:lnTo>
                    <a:pt x="96126" y="25552"/>
                  </a:lnTo>
                  <a:lnTo>
                    <a:pt x="142430" y="6432"/>
                  </a:lnTo>
                  <a:lnTo>
                    <a:pt x="192239" y="0"/>
                  </a:lnTo>
                  <a:lnTo>
                    <a:pt x="241742" y="6432"/>
                  </a:lnTo>
                  <a:lnTo>
                    <a:pt x="287997" y="25552"/>
                  </a:lnTo>
                  <a:lnTo>
                    <a:pt x="327874" y="56068"/>
                  </a:lnTo>
                  <a:lnTo>
                    <a:pt x="358559" y="95758"/>
                  </a:lnTo>
                  <a:lnTo>
                    <a:pt x="377551" y="142062"/>
                  </a:lnTo>
                  <a:lnTo>
                    <a:pt x="384124" y="191871"/>
                  </a:lnTo>
                  <a:lnTo>
                    <a:pt x="382458" y="217069"/>
                  </a:lnTo>
                  <a:lnTo>
                    <a:pt x="377551" y="241692"/>
                  </a:lnTo>
                  <a:lnTo>
                    <a:pt x="358559" y="287997"/>
                  </a:lnTo>
                  <a:lnTo>
                    <a:pt x="327874" y="327685"/>
                  </a:lnTo>
                  <a:lnTo>
                    <a:pt x="287997" y="358190"/>
                  </a:lnTo>
                  <a:lnTo>
                    <a:pt x="241742" y="377499"/>
                  </a:lnTo>
                  <a:lnTo>
                    <a:pt x="192239" y="384111"/>
                  </a:lnTo>
                  <a:lnTo>
                    <a:pt x="142430" y="377499"/>
                  </a:lnTo>
                  <a:lnTo>
                    <a:pt x="96126" y="358190"/>
                  </a:lnTo>
                  <a:lnTo>
                    <a:pt x="56254" y="327685"/>
                  </a:lnTo>
                  <a:lnTo>
                    <a:pt x="25565" y="287997"/>
                  </a:lnTo>
                  <a:lnTo>
                    <a:pt x="6572" y="241692"/>
                  </a:lnTo>
                  <a:lnTo>
                    <a:pt x="1665" y="217069"/>
                  </a:lnTo>
                  <a:lnTo>
                    <a:pt x="0" y="191871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9448101" y="2785211"/>
            <a:ext cx="1047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131313"/>
                </a:solidFill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512823" y="4071505"/>
            <a:ext cx="105219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31313"/>
                </a:solidFill>
                <a:latin typeface="Times New Roman"/>
                <a:cs typeface="Times New Roman"/>
              </a:rPr>
              <a:t>Sustainability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411654" y="4551019"/>
            <a:ext cx="1251585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40" dirty="0">
                <a:solidFill>
                  <a:srgbClr val="6D6A67"/>
                </a:solidFill>
                <a:latin typeface="Tahoma"/>
                <a:cs typeface="Tahoma"/>
              </a:rPr>
              <a:t>Align</a:t>
            </a:r>
            <a:r>
              <a:rPr sz="1100" spc="-8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6D6A67"/>
                </a:solidFill>
                <a:latin typeface="Tahoma"/>
                <a:cs typeface="Tahoma"/>
              </a:rPr>
              <a:t>to</a:t>
            </a:r>
            <a:r>
              <a:rPr sz="110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6D6A67"/>
                </a:solidFill>
                <a:latin typeface="Tahoma"/>
                <a:cs typeface="Tahoma"/>
              </a:rPr>
              <a:t>AB</a:t>
            </a:r>
            <a:r>
              <a:rPr sz="1100" spc="-75" dirty="0">
                <a:solidFill>
                  <a:srgbClr val="6D6A67"/>
                </a:solidFill>
                <a:latin typeface="Tahoma"/>
                <a:cs typeface="Tahoma"/>
              </a:rPr>
              <a:t> InBev </a:t>
            </a:r>
            <a:r>
              <a:rPr sz="1100" spc="-20" dirty="0">
                <a:solidFill>
                  <a:srgbClr val="6D6A67"/>
                </a:solidFill>
                <a:latin typeface="Tahoma"/>
                <a:cs typeface="Tahoma"/>
              </a:rPr>
              <a:t>goals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0469880" y="2696944"/>
            <a:ext cx="1189355" cy="1189355"/>
            <a:chOff x="10469880" y="2696944"/>
            <a:chExt cx="1189355" cy="1189355"/>
          </a:xfrm>
        </p:grpSpPr>
        <p:sp>
          <p:nvSpPr>
            <p:cNvPr id="50" name="object 50"/>
            <p:cNvSpPr/>
            <p:nvPr/>
          </p:nvSpPr>
          <p:spPr>
            <a:xfrm>
              <a:off x="10469880" y="2834639"/>
              <a:ext cx="1051560" cy="1051560"/>
            </a:xfrm>
            <a:custGeom>
              <a:avLst/>
              <a:gdLst/>
              <a:ahLst/>
              <a:cxnLst/>
              <a:rect l="l" t="t" r="r" b="b"/>
              <a:pathLst>
                <a:path w="1051559" h="1051560">
                  <a:moveTo>
                    <a:pt x="525957" y="0"/>
                  </a:moveTo>
                  <a:lnTo>
                    <a:pt x="470734" y="2876"/>
                  </a:lnTo>
                  <a:lnTo>
                    <a:pt x="416375" y="11438"/>
                  </a:lnTo>
                  <a:lnTo>
                    <a:pt x="363312" y="25583"/>
                  </a:lnTo>
                  <a:lnTo>
                    <a:pt x="311977" y="45206"/>
                  </a:lnTo>
                  <a:lnTo>
                    <a:pt x="262801" y="70205"/>
                  </a:lnTo>
                  <a:lnTo>
                    <a:pt x="216541" y="100256"/>
                  </a:lnTo>
                  <a:lnTo>
                    <a:pt x="173876" y="134886"/>
                  </a:lnTo>
                  <a:lnTo>
                    <a:pt x="135117" y="173751"/>
                  </a:lnTo>
                  <a:lnTo>
                    <a:pt x="100574" y="216504"/>
                  </a:lnTo>
                  <a:lnTo>
                    <a:pt x="70561" y="262801"/>
                  </a:lnTo>
                  <a:lnTo>
                    <a:pt x="45388" y="311974"/>
                  </a:lnTo>
                  <a:lnTo>
                    <a:pt x="25659" y="363289"/>
                  </a:lnTo>
                  <a:lnTo>
                    <a:pt x="11461" y="416298"/>
                  </a:lnTo>
                  <a:lnTo>
                    <a:pt x="2879" y="470552"/>
                  </a:lnTo>
                  <a:lnTo>
                    <a:pt x="0" y="525602"/>
                  </a:lnTo>
                  <a:lnTo>
                    <a:pt x="2879" y="580652"/>
                  </a:lnTo>
                  <a:lnTo>
                    <a:pt x="11461" y="634905"/>
                  </a:lnTo>
                  <a:lnTo>
                    <a:pt x="25659" y="687914"/>
                  </a:lnTo>
                  <a:lnTo>
                    <a:pt x="45388" y="739230"/>
                  </a:lnTo>
                  <a:lnTo>
                    <a:pt x="70561" y="788403"/>
                  </a:lnTo>
                  <a:lnTo>
                    <a:pt x="100574" y="834699"/>
                  </a:lnTo>
                  <a:lnTo>
                    <a:pt x="135117" y="877453"/>
                  </a:lnTo>
                  <a:lnTo>
                    <a:pt x="173876" y="916317"/>
                  </a:lnTo>
                  <a:lnTo>
                    <a:pt x="216541" y="950948"/>
                  </a:lnTo>
                  <a:lnTo>
                    <a:pt x="262801" y="980998"/>
                  </a:lnTo>
                  <a:lnTo>
                    <a:pt x="311977" y="1006030"/>
                  </a:lnTo>
                  <a:lnTo>
                    <a:pt x="363312" y="1025741"/>
                  </a:lnTo>
                  <a:lnTo>
                    <a:pt x="416375" y="1039992"/>
                  </a:lnTo>
                  <a:lnTo>
                    <a:pt x="470734" y="1048644"/>
                  </a:lnTo>
                  <a:lnTo>
                    <a:pt x="525957" y="1051560"/>
                  </a:lnTo>
                  <a:lnTo>
                    <a:pt x="581007" y="1048644"/>
                  </a:lnTo>
                  <a:lnTo>
                    <a:pt x="635261" y="1039992"/>
                  </a:lnTo>
                  <a:lnTo>
                    <a:pt x="688270" y="1025741"/>
                  </a:lnTo>
                  <a:lnTo>
                    <a:pt x="739585" y="1006030"/>
                  </a:lnTo>
                  <a:lnTo>
                    <a:pt x="788758" y="980998"/>
                  </a:lnTo>
                  <a:lnTo>
                    <a:pt x="835018" y="950948"/>
                  </a:lnTo>
                  <a:lnTo>
                    <a:pt x="877683" y="916317"/>
                  </a:lnTo>
                  <a:lnTo>
                    <a:pt x="916442" y="877453"/>
                  </a:lnTo>
                  <a:lnTo>
                    <a:pt x="950985" y="834699"/>
                  </a:lnTo>
                  <a:lnTo>
                    <a:pt x="980998" y="788403"/>
                  </a:lnTo>
                  <a:lnTo>
                    <a:pt x="1006171" y="739230"/>
                  </a:lnTo>
                  <a:lnTo>
                    <a:pt x="1025900" y="687914"/>
                  </a:lnTo>
                  <a:lnTo>
                    <a:pt x="1040098" y="634905"/>
                  </a:lnTo>
                  <a:lnTo>
                    <a:pt x="1048680" y="580652"/>
                  </a:lnTo>
                  <a:lnTo>
                    <a:pt x="1051560" y="525602"/>
                  </a:lnTo>
                  <a:lnTo>
                    <a:pt x="1048680" y="470552"/>
                  </a:lnTo>
                  <a:lnTo>
                    <a:pt x="1040098" y="416298"/>
                  </a:lnTo>
                  <a:lnTo>
                    <a:pt x="1025900" y="363289"/>
                  </a:lnTo>
                  <a:lnTo>
                    <a:pt x="1006171" y="311974"/>
                  </a:lnTo>
                  <a:lnTo>
                    <a:pt x="980998" y="262801"/>
                  </a:lnTo>
                  <a:lnTo>
                    <a:pt x="950985" y="216504"/>
                  </a:lnTo>
                  <a:lnTo>
                    <a:pt x="916442" y="173751"/>
                  </a:lnTo>
                  <a:lnTo>
                    <a:pt x="877683" y="134886"/>
                  </a:lnTo>
                  <a:lnTo>
                    <a:pt x="835018" y="100256"/>
                  </a:lnTo>
                  <a:lnTo>
                    <a:pt x="788758" y="70205"/>
                  </a:lnTo>
                  <a:lnTo>
                    <a:pt x="739585" y="45206"/>
                  </a:lnTo>
                  <a:lnTo>
                    <a:pt x="688270" y="25583"/>
                  </a:lnTo>
                  <a:lnTo>
                    <a:pt x="635261" y="11438"/>
                  </a:lnTo>
                  <a:lnTo>
                    <a:pt x="581007" y="2876"/>
                  </a:lnTo>
                  <a:lnTo>
                    <a:pt x="525957" y="0"/>
                  </a:lnTo>
                  <a:close/>
                </a:path>
              </a:pathLst>
            </a:custGeom>
            <a:solidFill>
              <a:srgbClr val="C70F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22242" y="3086633"/>
              <a:ext cx="546480" cy="54648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11265484" y="270648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19" y="6432"/>
                  </a:lnTo>
                  <a:lnTo>
                    <a:pt x="96113" y="25552"/>
                  </a:lnTo>
                  <a:lnTo>
                    <a:pt x="56246" y="56068"/>
                  </a:lnTo>
                  <a:lnTo>
                    <a:pt x="25552" y="95758"/>
                  </a:lnTo>
                  <a:lnTo>
                    <a:pt x="6565" y="142062"/>
                  </a:lnTo>
                  <a:lnTo>
                    <a:pt x="0" y="191871"/>
                  </a:lnTo>
                  <a:lnTo>
                    <a:pt x="1663" y="217069"/>
                  </a:lnTo>
                  <a:lnTo>
                    <a:pt x="14573" y="265436"/>
                  </a:lnTo>
                  <a:lnTo>
                    <a:pt x="39619" y="308888"/>
                  </a:lnTo>
                  <a:lnTo>
                    <a:pt x="75167" y="344187"/>
                  </a:lnTo>
                  <a:lnTo>
                    <a:pt x="118675" y="369382"/>
                  </a:lnTo>
                  <a:lnTo>
                    <a:pt x="167042" y="382442"/>
                  </a:lnTo>
                  <a:lnTo>
                    <a:pt x="192239" y="384111"/>
                  </a:lnTo>
                  <a:lnTo>
                    <a:pt x="217224" y="382442"/>
                  </a:lnTo>
                  <a:lnTo>
                    <a:pt x="265441" y="369382"/>
                  </a:lnTo>
                  <a:lnTo>
                    <a:pt x="308943" y="344187"/>
                  </a:lnTo>
                  <a:lnTo>
                    <a:pt x="344492" y="308888"/>
                  </a:lnTo>
                  <a:lnTo>
                    <a:pt x="369538" y="265436"/>
                  </a:lnTo>
                  <a:lnTo>
                    <a:pt x="382447" y="217069"/>
                  </a:lnTo>
                  <a:lnTo>
                    <a:pt x="384111" y="191871"/>
                  </a:lnTo>
                  <a:lnTo>
                    <a:pt x="382447" y="166681"/>
                  </a:lnTo>
                  <a:lnTo>
                    <a:pt x="369538" y="118319"/>
                  </a:lnTo>
                  <a:lnTo>
                    <a:pt x="344492" y="74867"/>
                  </a:lnTo>
                  <a:lnTo>
                    <a:pt x="308943" y="39563"/>
                  </a:lnTo>
                  <a:lnTo>
                    <a:pt x="265441" y="14423"/>
                  </a:lnTo>
                  <a:lnTo>
                    <a:pt x="217224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D3AE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1265484" y="270648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71"/>
                  </a:moveTo>
                  <a:lnTo>
                    <a:pt x="1663" y="166681"/>
                  </a:lnTo>
                  <a:lnTo>
                    <a:pt x="6565" y="142062"/>
                  </a:lnTo>
                  <a:lnTo>
                    <a:pt x="25552" y="95758"/>
                  </a:lnTo>
                  <a:lnTo>
                    <a:pt x="56246" y="56068"/>
                  </a:lnTo>
                  <a:lnTo>
                    <a:pt x="96113" y="25552"/>
                  </a:lnTo>
                  <a:lnTo>
                    <a:pt x="142419" y="6432"/>
                  </a:lnTo>
                  <a:lnTo>
                    <a:pt x="192239" y="0"/>
                  </a:lnTo>
                  <a:lnTo>
                    <a:pt x="241738" y="6432"/>
                  </a:lnTo>
                  <a:lnTo>
                    <a:pt x="287997" y="25552"/>
                  </a:lnTo>
                  <a:lnTo>
                    <a:pt x="327864" y="56068"/>
                  </a:lnTo>
                  <a:lnTo>
                    <a:pt x="358559" y="95758"/>
                  </a:lnTo>
                  <a:lnTo>
                    <a:pt x="377545" y="142062"/>
                  </a:lnTo>
                  <a:lnTo>
                    <a:pt x="384111" y="191871"/>
                  </a:lnTo>
                  <a:lnTo>
                    <a:pt x="382447" y="217069"/>
                  </a:lnTo>
                  <a:lnTo>
                    <a:pt x="377545" y="241692"/>
                  </a:lnTo>
                  <a:lnTo>
                    <a:pt x="358559" y="287997"/>
                  </a:lnTo>
                  <a:lnTo>
                    <a:pt x="327864" y="327685"/>
                  </a:lnTo>
                  <a:lnTo>
                    <a:pt x="287997" y="358190"/>
                  </a:lnTo>
                  <a:lnTo>
                    <a:pt x="241738" y="377499"/>
                  </a:lnTo>
                  <a:lnTo>
                    <a:pt x="192239" y="384111"/>
                  </a:lnTo>
                  <a:lnTo>
                    <a:pt x="142419" y="377499"/>
                  </a:lnTo>
                  <a:lnTo>
                    <a:pt x="96113" y="358190"/>
                  </a:lnTo>
                  <a:lnTo>
                    <a:pt x="56246" y="327685"/>
                  </a:lnTo>
                  <a:lnTo>
                    <a:pt x="25552" y="287997"/>
                  </a:lnTo>
                  <a:lnTo>
                    <a:pt x="6565" y="241692"/>
                  </a:lnTo>
                  <a:lnTo>
                    <a:pt x="1663" y="217069"/>
                  </a:lnTo>
                  <a:lnTo>
                    <a:pt x="0" y="191871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1404345" y="2785211"/>
            <a:ext cx="107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131313"/>
                </a:solidFill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0634294" y="4071505"/>
            <a:ext cx="72263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90" dirty="0">
                <a:solidFill>
                  <a:srgbClr val="131313"/>
                </a:solidFill>
                <a:latin typeface="Times New Roman"/>
                <a:cs typeface="Times New Roman"/>
              </a:rPr>
              <a:t>G</a:t>
            </a:r>
            <a:r>
              <a:rPr lang="en-IN" sz="1300" b="1" spc="-19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300" b="1" spc="-190" dirty="0">
                <a:solidFill>
                  <a:srgbClr val="131313"/>
                </a:solidFill>
                <a:latin typeface="Times New Roman"/>
                <a:cs typeface="Times New Roman"/>
              </a:rPr>
              <a:t>T</a:t>
            </a:r>
            <a:r>
              <a:rPr lang="en-IN" sz="1300" b="1" spc="-19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300" b="1" spc="-190" dirty="0">
                <a:solidFill>
                  <a:srgbClr val="131313"/>
                </a:solidFill>
                <a:latin typeface="Times New Roman"/>
                <a:cs typeface="Times New Roman"/>
              </a:rPr>
              <a:t>M</a:t>
            </a:r>
            <a:r>
              <a:rPr sz="1300" b="1" spc="-3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300" b="1" spc="-20" dirty="0">
                <a:solidFill>
                  <a:srgbClr val="131313"/>
                </a:solidFill>
                <a:latin typeface="Times New Roman"/>
                <a:cs typeface="Times New Roman"/>
              </a:rPr>
              <a:t>Plan</a:t>
            </a:r>
            <a:endParaRPr sz="1300" dirty="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0100424" y="4551019"/>
            <a:ext cx="1789430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solidFill>
                  <a:srgbClr val="6D6A67"/>
                </a:solidFill>
                <a:latin typeface="Tahoma"/>
                <a:cs typeface="Tahoma"/>
              </a:rPr>
              <a:t>One</a:t>
            </a:r>
            <a:r>
              <a:rPr sz="1100" spc="-6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6D6A67"/>
                </a:solidFill>
                <a:latin typeface="Tahoma"/>
                <a:cs typeface="Tahoma"/>
              </a:rPr>
              <a:t>integrated</a:t>
            </a:r>
            <a:r>
              <a:rPr sz="1100" spc="-7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6D6A67"/>
                </a:solidFill>
                <a:latin typeface="Tahoma"/>
                <a:cs typeface="Tahoma"/>
              </a:rPr>
              <a:t>recommendation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35584" y="1487779"/>
            <a:ext cx="8608416" cy="2205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i="1" spc="-70" dirty="0">
                <a:solidFill>
                  <a:srgbClr val="6D6A67"/>
                </a:solidFill>
                <a:latin typeface="Trebuchet MS"/>
                <a:cs typeface="Trebuchet MS"/>
              </a:rPr>
              <a:t>Each</a:t>
            </a:r>
            <a:r>
              <a:rPr sz="1350" i="1" spc="-80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350" i="1" spc="-90" dirty="0">
                <a:solidFill>
                  <a:srgbClr val="6D6A67"/>
                </a:solidFill>
                <a:latin typeface="Trebuchet MS"/>
                <a:cs typeface="Trebuchet MS"/>
              </a:rPr>
              <a:t>step</a:t>
            </a:r>
            <a:r>
              <a:rPr sz="1350" i="1" spc="-75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350" i="1" spc="-80" dirty="0">
                <a:solidFill>
                  <a:srgbClr val="6D6A67"/>
                </a:solidFill>
                <a:latin typeface="Trebuchet MS"/>
                <a:cs typeface="Trebuchet MS"/>
              </a:rPr>
              <a:t>below</a:t>
            </a:r>
            <a:r>
              <a:rPr sz="1350" i="1" spc="-85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350" i="1" spc="-80" dirty="0">
                <a:solidFill>
                  <a:srgbClr val="6D6A67"/>
                </a:solidFill>
                <a:latin typeface="Trebuchet MS"/>
                <a:cs typeface="Trebuchet MS"/>
              </a:rPr>
              <a:t>builds </a:t>
            </a:r>
            <a:r>
              <a:rPr sz="1350" i="1" spc="-95" dirty="0">
                <a:solidFill>
                  <a:srgbClr val="6D6A67"/>
                </a:solidFill>
                <a:latin typeface="Trebuchet MS"/>
                <a:cs typeface="Trebuchet MS"/>
              </a:rPr>
              <a:t>directly</a:t>
            </a:r>
            <a:r>
              <a:rPr sz="1350" i="1" spc="-70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350" i="1" spc="-55" dirty="0">
                <a:solidFill>
                  <a:srgbClr val="6D6A67"/>
                </a:solidFill>
                <a:latin typeface="Trebuchet MS"/>
                <a:cs typeface="Trebuchet MS"/>
              </a:rPr>
              <a:t>on</a:t>
            </a:r>
            <a:r>
              <a:rPr sz="1350" i="1" spc="-80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350" i="1" spc="-95" dirty="0">
                <a:solidFill>
                  <a:srgbClr val="6D6A67"/>
                </a:solidFill>
                <a:latin typeface="Trebuchet MS"/>
                <a:cs typeface="Trebuchet MS"/>
              </a:rPr>
              <a:t>the</a:t>
            </a:r>
            <a:r>
              <a:rPr sz="1350" i="1" spc="-75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350" i="1" spc="-65" dirty="0">
                <a:solidFill>
                  <a:srgbClr val="6D6A67"/>
                </a:solidFill>
                <a:latin typeface="Trebuchet MS"/>
                <a:cs typeface="Trebuchet MS"/>
              </a:rPr>
              <a:t>one</a:t>
            </a:r>
            <a:r>
              <a:rPr sz="1350" i="1" spc="-75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350" i="1" spc="-95" dirty="0">
                <a:solidFill>
                  <a:srgbClr val="6D6A67"/>
                </a:solidFill>
                <a:latin typeface="Trebuchet MS"/>
                <a:cs typeface="Trebuchet MS"/>
              </a:rPr>
              <a:t>before</a:t>
            </a:r>
            <a:r>
              <a:rPr sz="1350" i="1" spc="-75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350" i="1" spc="-125" dirty="0">
                <a:solidFill>
                  <a:srgbClr val="6D6A67"/>
                </a:solidFill>
                <a:latin typeface="Trebuchet MS"/>
                <a:cs typeface="Trebuchet MS"/>
              </a:rPr>
              <a:t>it</a:t>
            </a:r>
            <a:r>
              <a:rPr sz="1350" i="1" spc="-70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350" i="1" spc="215" dirty="0">
                <a:solidFill>
                  <a:srgbClr val="6D6A67"/>
                </a:solidFill>
                <a:latin typeface="Trebuchet MS"/>
                <a:cs typeface="Trebuchet MS"/>
              </a:rPr>
              <a:t>—</a:t>
            </a:r>
            <a:r>
              <a:rPr sz="1350" i="1" spc="-75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350" i="1" spc="-90" dirty="0">
                <a:solidFill>
                  <a:srgbClr val="6D6A67"/>
                </a:solidFill>
                <a:latin typeface="Trebuchet MS"/>
                <a:cs typeface="Trebuchet MS"/>
              </a:rPr>
              <a:t>from </a:t>
            </a:r>
            <a:r>
              <a:rPr sz="1350" i="1" spc="-55" dirty="0">
                <a:solidFill>
                  <a:srgbClr val="6D6A67"/>
                </a:solidFill>
                <a:latin typeface="Trebuchet MS"/>
                <a:cs typeface="Trebuchet MS"/>
              </a:rPr>
              <a:t>who</a:t>
            </a:r>
            <a:r>
              <a:rPr sz="1350" i="1" spc="-75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350" i="1" spc="-80" dirty="0">
                <a:solidFill>
                  <a:srgbClr val="6D6A67"/>
                </a:solidFill>
                <a:latin typeface="Trebuchet MS"/>
                <a:cs typeface="Trebuchet MS"/>
              </a:rPr>
              <a:t>buys,</a:t>
            </a:r>
            <a:r>
              <a:rPr sz="1350" i="1" spc="-65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350" i="1" spc="-90" dirty="0">
                <a:solidFill>
                  <a:srgbClr val="6D6A67"/>
                </a:solidFill>
                <a:latin typeface="Trebuchet MS"/>
                <a:cs typeface="Trebuchet MS"/>
              </a:rPr>
              <a:t>to</a:t>
            </a:r>
            <a:r>
              <a:rPr sz="1350" i="1" spc="-85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350" i="1" spc="-95" dirty="0">
                <a:solidFill>
                  <a:srgbClr val="6D6A67"/>
                </a:solidFill>
                <a:latin typeface="Trebuchet MS"/>
                <a:cs typeface="Trebuchet MS"/>
              </a:rPr>
              <a:t>where,</a:t>
            </a:r>
            <a:r>
              <a:rPr sz="1350" i="1" spc="-65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350" i="1" spc="-95" dirty="0">
                <a:solidFill>
                  <a:srgbClr val="6D6A67"/>
                </a:solidFill>
                <a:latin typeface="Trebuchet MS"/>
                <a:cs typeface="Trebuchet MS"/>
              </a:rPr>
              <a:t>to</a:t>
            </a:r>
            <a:r>
              <a:rPr sz="1350" i="1" spc="-80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350" i="1" spc="-100" dirty="0">
                <a:solidFill>
                  <a:srgbClr val="6D6A67"/>
                </a:solidFill>
                <a:latin typeface="Trebuchet MS"/>
                <a:cs typeface="Trebuchet MS"/>
              </a:rPr>
              <a:t>how,</a:t>
            </a:r>
            <a:r>
              <a:rPr sz="1350" i="1" spc="-80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350" i="1" spc="-95" dirty="0">
                <a:solidFill>
                  <a:srgbClr val="6D6A67"/>
                </a:solidFill>
                <a:latin typeface="Trebuchet MS"/>
                <a:cs typeface="Trebuchet MS"/>
              </a:rPr>
              <a:t>to</a:t>
            </a:r>
            <a:r>
              <a:rPr sz="1350" i="1" spc="-70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350" i="1" spc="-60" dirty="0">
                <a:solidFill>
                  <a:srgbClr val="6D6A67"/>
                </a:solidFill>
                <a:latin typeface="Trebuchet MS"/>
                <a:cs typeface="Trebuchet MS"/>
              </a:rPr>
              <a:t>how</a:t>
            </a:r>
            <a:r>
              <a:rPr sz="1350" i="1" spc="-70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350" i="1" spc="-90" dirty="0">
                <a:solidFill>
                  <a:srgbClr val="6D6A67"/>
                </a:solidFill>
                <a:latin typeface="Trebuchet MS"/>
                <a:cs typeface="Trebuchet MS"/>
              </a:rPr>
              <a:t>much,</a:t>
            </a:r>
            <a:r>
              <a:rPr sz="1350" i="1" spc="-65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350" i="1" spc="-100" dirty="0">
                <a:solidFill>
                  <a:srgbClr val="6D6A67"/>
                </a:solidFill>
                <a:latin typeface="Trebuchet MS"/>
                <a:cs typeface="Trebuchet MS"/>
              </a:rPr>
              <a:t>to</a:t>
            </a:r>
            <a:r>
              <a:rPr sz="1350" i="1" spc="-70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350" i="1" spc="-55" dirty="0">
                <a:solidFill>
                  <a:srgbClr val="6D6A67"/>
                </a:solidFill>
                <a:latin typeface="Trebuchet MS"/>
                <a:cs typeface="Trebuchet MS"/>
              </a:rPr>
              <a:t>how</a:t>
            </a:r>
            <a:r>
              <a:rPr sz="1350" i="1" spc="-80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350" i="1" spc="-30" dirty="0">
                <a:solidFill>
                  <a:srgbClr val="6D6A67"/>
                </a:solidFill>
                <a:latin typeface="Trebuchet MS"/>
                <a:cs typeface="Trebuchet MS"/>
              </a:rPr>
              <a:t>responsibly.</a:t>
            </a:r>
            <a:endParaRPr sz="1350" dirty="0">
              <a:latin typeface="Trebuchet MS"/>
              <a:cs typeface="Trebuchet M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44144" y="6584301"/>
            <a:ext cx="47307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Approach</a:t>
            </a:r>
            <a:endParaRPr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831857" y="6584301"/>
            <a:ext cx="191643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Budweiser</a:t>
            </a:r>
            <a:r>
              <a:rPr sz="900" spc="-5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Beats</a:t>
            </a:r>
            <a:r>
              <a:rPr sz="900" spc="-5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900" spc="-5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5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India</a:t>
            </a:r>
            <a:r>
              <a:rPr sz="900" spc="-4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3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Growth</a:t>
            </a:r>
            <a:r>
              <a:rPr sz="900" spc="-5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3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Strategy</a:t>
            </a:r>
            <a:endParaRPr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400" y="381000"/>
            <a:ext cx="3200400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CC0523"/>
                </a:solidFill>
                <a:latin typeface="Arial"/>
                <a:cs typeface="Arial"/>
              </a:rPr>
              <a:t>CONSUMER</a:t>
            </a:r>
            <a:r>
              <a:rPr sz="1250" b="1" spc="-10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CC0523"/>
                </a:solidFill>
                <a:latin typeface="Arial"/>
                <a:cs typeface="Arial"/>
              </a:rPr>
              <a:t>&amp;</a:t>
            </a:r>
            <a:r>
              <a:rPr sz="1250" b="1" spc="-15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CC0523"/>
                </a:solidFill>
                <a:latin typeface="Arial"/>
                <a:cs typeface="Arial"/>
              </a:rPr>
              <a:t>MARKET</a:t>
            </a:r>
            <a:r>
              <a:rPr sz="1250" b="1" spc="-15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CC0523"/>
                </a:solidFill>
                <a:latin typeface="Arial"/>
                <a:cs typeface="Arial"/>
              </a:rPr>
              <a:t>ANALYSIS</a:t>
            </a:r>
            <a:r>
              <a:rPr sz="1250" b="1" spc="-5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CC0523"/>
                </a:solidFill>
                <a:latin typeface="Arial"/>
                <a:cs typeface="Arial"/>
              </a:rPr>
              <a:t>·</a:t>
            </a:r>
            <a:r>
              <a:rPr sz="1250" b="1" spc="-10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250" b="1" spc="-50" dirty="0">
                <a:solidFill>
                  <a:srgbClr val="CC0523"/>
                </a:solidFill>
                <a:latin typeface="Arial"/>
                <a:cs typeface="Arial"/>
              </a:rPr>
              <a:t>2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41414"/>
                </a:solidFill>
              </a:rPr>
              <a:t>Two</a:t>
            </a:r>
            <a:r>
              <a:rPr spc="-45" dirty="0">
                <a:solidFill>
                  <a:srgbClr val="141414"/>
                </a:solidFill>
              </a:rPr>
              <a:t> </a:t>
            </a:r>
            <a:r>
              <a:rPr dirty="0">
                <a:solidFill>
                  <a:srgbClr val="141414"/>
                </a:solidFill>
              </a:rPr>
              <a:t>Priority</a:t>
            </a:r>
            <a:r>
              <a:rPr spc="-40" dirty="0">
                <a:solidFill>
                  <a:srgbClr val="141414"/>
                </a:solidFill>
              </a:rPr>
              <a:t> </a:t>
            </a:r>
            <a:r>
              <a:rPr dirty="0">
                <a:solidFill>
                  <a:srgbClr val="141414"/>
                </a:solidFill>
              </a:rPr>
              <a:t>Consumers,</a:t>
            </a:r>
            <a:r>
              <a:rPr spc="-40" dirty="0">
                <a:solidFill>
                  <a:srgbClr val="141414"/>
                </a:solidFill>
              </a:rPr>
              <a:t> </a:t>
            </a:r>
            <a:r>
              <a:rPr dirty="0">
                <a:solidFill>
                  <a:srgbClr val="141414"/>
                </a:solidFill>
              </a:rPr>
              <a:t>One</a:t>
            </a:r>
            <a:r>
              <a:rPr spc="-45" dirty="0">
                <a:solidFill>
                  <a:srgbClr val="141414"/>
                </a:solidFill>
              </a:rPr>
              <a:t> </a:t>
            </a:r>
            <a:r>
              <a:rPr dirty="0">
                <a:solidFill>
                  <a:srgbClr val="141414"/>
                </a:solidFill>
              </a:rPr>
              <a:t>Common</a:t>
            </a:r>
            <a:r>
              <a:rPr spc="-40" dirty="0">
                <a:solidFill>
                  <a:srgbClr val="141414"/>
                </a:solidFill>
              </a:rPr>
              <a:t> </a:t>
            </a:r>
            <a:r>
              <a:rPr dirty="0">
                <a:solidFill>
                  <a:srgbClr val="141414"/>
                </a:solidFill>
              </a:rPr>
              <a:t>Trigger:</a:t>
            </a:r>
            <a:r>
              <a:rPr spc="-40" dirty="0">
                <a:solidFill>
                  <a:srgbClr val="141414"/>
                </a:solidFill>
              </a:rPr>
              <a:t> </a:t>
            </a:r>
            <a:r>
              <a:rPr dirty="0">
                <a:solidFill>
                  <a:srgbClr val="141414"/>
                </a:solidFill>
              </a:rPr>
              <a:t>Time</a:t>
            </a:r>
            <a:r>
              <a:rPr spc="-45" dirty="0">
                <a:solidFill>
                  <a:srgbClr val="141414"/>
                </a:solidFill>
              </a:rPr>
              <a:t> </a:t>
            </a:r>
            <a:r>
              <a:rPr spc="-10" dirty="0">
                <a:solidFill>
                  <a:srgbClr val="141414"/>
                </a:solidFill>
              </a:rPr>
              <a:t>Pressure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3400" y="1181100"/>
            <a:ext cx="531431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666666"/>
                </a:solidFill>
                <a:latin typeface="Arial"/>
                <a:cs typeface="Arial"/>
              </a:rPr>
              <a:t>Strategic</a:t>
            </a:r>
            <a:r>
              <a:rPr sz="110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666666"/>
                </a:solidFill>
                <a:latin typeface="Arial"/>
                <a:cs typeface="Arial"/>
              </a:rPr>
              <a:t>hypotheses</a:t>
            </a:r>
            <a:r>
              <a:rPr sz="110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666666"/>
                </a:solidFill>
                <a:latin typeface="Arial"/>
                <a:cs typeface="Arial"/>
              </a:rPr>
              <a:t>based</a:t>
            </a:r>
            <a:r>
              <a:rPr sz="110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666666"/>
                </a:solidFill>
                <a:latin typeface="Arial"/>
                <a:cs typeface="Arial"/>
              </a:rPr>
              <a:t>on</a:t>
            </a:r>
            <a:r>
              <a:rPr sz="110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666666"/>
                </a:solidFill>
                <a:latin typeface="Arial"/>
                <a:cs typeface="Arial"/>
              </a:rPr>
              <a:t>public</a:t>
            </a:r>
            <a:r>
              <a:rPr sz="110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666666"/>
                </a:solidFill>
                <a:latin typeface="Arial"/>
                <a:cs typeface="Arial"/>
              </a:rPr>
              <a:t>category/channel</a:t>
            </a:r>
            <a:r>
              <a:rPr sz="110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666666"/>
                </a:solidFill>
                <a:latin typeface="Arial"/>
                <a:cs typeface="Arial"/>
              </a:rPr>
              <a:t>evidence</a:t>
            </a:r>
            <a:r>
              <a:rPr sz="110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sz="110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666666"/>
                </a:solidFill>
                <a:latin typeface="Arial"/>
                <a:cs typeface="Arial"/>
              </a:rPr>
              <a:t>not</a:t>
            </a:r>
            <a:r>
              <a:rPr sz="110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666666"/>
                </a:solidFill>
                <a:latin typeface="Arial"/>
                <a:cs typeface="Arial"/>
              </a:rPr>
              <a:t>survey</a:t>
            </a:r>
            <a:r>
              <a:rPr sz="1100" spc="-10" dirty="0">
                <a:solidFill>
                  <a:srgbClr val="666666"/>
                </a:solidFill>
                <a:latin typeface="Arial"/>
                <a:cs typeface="Arial"/>
              </a:rPr>
              <a:t> shares.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9750" y="1771650"/>
            <a:ext cx="5410200" cy="1693411"/>
          </a:xfrm>
          <a:prstGeom prst="rect">
            <a:avLst/>
          </a:prstGeom>
          <a:solidFill>
            <a:srgbClr val="F2EFED"/>
          </a:solidFill>
          <a:ln w="3175">
            <a:solidFill>
              <a:srgbClr val="F2EFED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84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</a:pPr>
            <a:r>
              <a:rPr sz="1100" b="1" dirty="0">
                <a:solidFill>
                  <a:srgbClr val="CC0523"/>
                </a:solidFill>
                <a:latin typeface="Arial"/>
                <a:cs typeface="Arial"/>
              </a:rPr>
              <a:t>CAMPUS</a:t>
            </a:r>
            <a:r>
              <a:rPr sz="1100" b="1" spc="-50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CC0523"/>
                </a:solidFill>
                <a:latin typeface="Arial"/>
                <a:cs typeface="Arial"/>
              </a:rPr>
              <a:t>HUSTLERS</a:t>
            </a:r>
            <a:endParaRPr sz="1100" dirty="0"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880"/>
              </a:spcBef>
            </a:pPr>
            <a:r>
              <a:rPr sz="1100" b="1" dirty="0">
                <a:solidFill>
                  <a:srgbClr val="606060"/>
                </a:solidFill>
                <a:latin typeface="Arial"/>
                <a:cs typeface="Arial"/>
              </a:rPr>
              <a:t>18</a:t>
            </a:r>
            <a:r>
              <a:rPr lang="en-IN" sz="1100" b="1" dirty="0">
                <a:solidFill>
                  <a:srgbClr val="606060"/>
                </a:solidFill>
                <a:latin typeface="Arial"/>
                <a:cs typeface="Arial"/>
              </a:rPr>
              <a:t>-</a:t>
            </a:r>
            <a:r>
              <a:rPr sz="1100" b="1" dirty="0">
                <a:solidFill>
                  <a:srgbClr val="606060"/>
                </a:solidFill>
                <a:latin typeface="Arial"/>
                <a:cs typeface="Arial"/>
              </a:rPr>
              <a:t>24</a:t>
            </a:r>
            <a:r>
              <a:rPr sz="1100" b="1" spc="-2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06060"/>
                </a:solidFill>
                <a:latin typeface="Arial"/>
                <a:cs typeface="Arial"/>
              </a:rPr>
              <a:t>·</a:t>
            </a:r>
            <a:r>
              <a:rPr sz="1100" b="1" spc="-2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06060"/>
                </a:solidFill>
                <a:latin typeface="Arial"/>
                <a:cs typeface="Arial"/>
              </a:rPr>
              <a:t>students</a:t>
            </a:r>
            <a:r>
              <a:rPr sz="1100" b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06060"/>
                </a:solidFill>
                <a:latin typeface="Arial"/>
                <a:cs typeface="Arial"/>
              </a:rPr>
              <a:t>&amp;</a:t>
            </a:r>
            <a:r>
              <a:rPr sz="1100" b="1" spc="-2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06060"/>
                </a:solidFill>
                <a:latin typeface="Arial"/>
                <a:cs typeface="Arial"/>
              </a:rPr>
              <a:t>early</a:t>
            </a:r>
            <a:r>
              <a:rPr sz="1100" b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606060"/>
                </a:solidFill>
                <a:latin typeface="Arial"/>
                <a:cs typeface="Arial"/>
              </a:rPr>
              <a:t>professionals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800" dirty="0"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</a:pPr>
            <a:r>
              <a:rPr sz="1050" i="1" dirty="0">
                <a:solidFill>
                  <a:srgbClr val="141414"/>
                </a:solidFill>
                <a:latin typeface="Arial"/>
                <a:cs typeface="Arial"/>
              </a:rPr>
              <a:t>Long study/work sessions; convenience-led purchases; digital </a:t>
            </a:r>
            <a:r>
              <a:rPr sz="1050" i="1" spc="-10" dirty="0">
                <a:solidFill>
                  <a:srgbClr val="141414"/>
                </a:solidFill>
                <a:latin typeface="Arial"/>
                <a:cs typeface="Arial"/>
              </a:rPr>
              <a:t>engagement.</a:t>
            </a: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900" dirty="0"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</a:pPr>
            <a:r>
              <a:rPr sz="1000" b="1" dirty="0">
                <a:solidFill>
                  <a:srgbClr val="CC0523"/>
                </a:solidFill>
                <a:latin typeface="Arial"/>
                <a:cs typeface="Arial"/>
              </a:rPr>
              <a:t>TRIAL + </a:t>
            </a:r>
            <a:r>
              <a:rPr sz="1000" b="1" spc="-10" dirty="0">
                <a:solidFill>
                  <a:srgbClr val="CC0523"/>
                </a:solidFill>
                <a:latin typeface="Arial"/>
                <a:cs typeface="Arial"/>
              </a:rPr>
              <a:t>REPEAT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2050" y="1771650"/>
            <a:ext cx="5410200" cy="1693411"/>
          </a:xfrm>
          <a:prstGeom prst="rect">
            <a:avLst/>
          </a:prstGeom>
          <a:solidFill>
            <a:srgbClr val="F2EFED"/>
          </a:solidFill>
          <a:ln w="3175">
            <a:solidFill>
              <a:srgbClr val="F2EFED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84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</a:pPr>
            <a:r>
              <a:rPr sz="1100" b="1" dirty="0">
                <a:solidFill>
                  <a:srgbClr val="CC0523"/>
                </a:solidFill>
                <a:latin typeface="Arial"/>
                <a:cs typeface="Arial"/>
              </a:rPr>
              <a:t>METRO</a:t>
            </a:r>
            <a:r>
              <a:rPr sz="1100" b="1" spc="-40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CC0523"/>
                </a:solidFill>
                <a:latin typeface="Arial"/>
                <a:cs typeface="Arial"/>
              </a:rPr>
              <a:t>GRINDERS</a:t>
            </a:r>
            <a:endParaRPr sz="1100" dirty="0"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880"/>
              </a:spcBef>
            </a:pPr>
            <a:r>
              <a:rPr sz="1100" b="1" dirty="0">
                <a:solidFill>
                  <a:srgbClr val="606060"/>
                </a:solidFill>
                <a:latin typeface="Arial"/>
                <a:cs typeface="Arial"/>
              </a:rPr>
              <a:t>24</a:t>
            </a:r>
            <a:r>
              <a:rPr lang="en-IN" sz="1100" b="1" dirty="0">
                <a:solidFill>
                  <a:srgbClr val="606060"/>
                </a:solidFill>
                <a:latin typeface="Arial"/>
                <a:cs typeface="Arial"/>
              </a:rPr>
              <a:t>-</a:t>
            </a:r>
            <a:r>
              <a:rPr sz="1100" b="1" dirty="0">
                <a:solidFill>
                  <a:srgbClr val="606060"/>
                </a:solidFill>
                <a:latin typeface="Arial"/>
                <a:cs typeface="Arial"/>
              </a:rPr>
              <a:t>32</a:t>
            </a:r>
            <a:r>
              <a:rPr sz="1100" b="1" spc="-2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06060"/>
                </a:solidFill>
                <a:latin typeface="Arial"/>
                <a:cs typeface="Arial"/>
              </a:rPr>
              <a:t>·</a:t>
            </a:r>
            <a:r>
              <a:rPr sz="1100" b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06060"/>
                </a:solidFill>
                <a:latin typeface="Arial"/>
                <a:cs typeface="Arial"/>
              </a:rPr>
              <a:t>young</a:t>
            </a:r>
            <a:r>
              <a:rPr sz="1100" b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06060"/>
                </a:solidFill>
                <a:latin typeface="Arial"/>
                <a:cs typeface="Arial"/>
              </a:rPr>
              <a:t>urban</a:t>
            </a:r>
            <a:r>
              <a:rPr sz="1100" b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606060"/>
                </a:solidFill>
                <a:latin typeface="Arial"/>
                <a:cs typeface="Arial"/>
              </a:rPr>
              <a:t>professionals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800" dirty="0"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</a:pPr>
            <a:r>
              <a:rPr sz="1050" i="1" dirty="0">
                <a:solidFill>
                  <a:srgbClr val="141414"/>
                </a:solidFill>
                <a:latin typeface="Arial"/>
                <a:cs typeface="Arial"/>
              </a:rPr>
              <a:t>Long working hours; on-the-go occasions; convenience-oriented </a:t>
            </a:r>
            <a:r>
              <a:rPr sz="1050" i="1" spc="-10" dirty="0">
                <a:solidFill>
                  <a:srgbClr val="141414"/>
                </a:solidFill>
                <a:latin typeface="Arial"/>
                <a:cs typeface="Arial"/>
              </a:rPr>
              <a:t>shopping.</a:t>
            </a: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900" dirty="0"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</a:pPr>
            <a:r>
              <a:rPr sz="1000" b="1" dirty="0">
                <a:solidFill>
                  <a:srgbClr val="CC0523"/>
                </a:solidFill>
                <a:latin typeface="Arial"/>
                <a:cs typeface="Arial"/>
              </a:rPr>
              <a:t>REPEAT</a:t>
            </a:r>
            <a:r>
              <a:rPr sz="1000" b="1" spc="-15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0523"/>
                </a:solidFill>
                <a:latin typeface="Arial"/>
                <a:cs typeface="Arial"/>
              </a:rPr>
              <a:t>+</a:t>
            </a:r>
            <a:r>
              <a:rPr sz="1000" b="1" spc="-15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CC0523"/>
                </a:solidFill>
                <a:latin typeface="Arial"/>
                <a:cs typeface="Arial"/>
              </a:rPr>
              <a:t>PREMIUMISATION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9750" y="3867150"/>
            <a:ext cx="5410200" cy="1693411"/>
          </a:xfrm>
          <a:prstGeom prst="rect">
            <a:avLst/>
          </a:prstGeom>
          <a:solidFill>
            <a:srgbClr val="F2EFED"/>
          </a:solidFill>
          <a:ln w="3175">
            <a:solidFill>
              <a:srgbClr val="F2EFED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84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</a:pPr>
            <a:r>
              <a:rPr sz="1100" b="1" dirty="0">
                <a:solidFill>
                  <a:srgbClr val="CC0523"/>
                </a:solidFill>
                <a:latin typeface="Arial"/>
                <a:cs typeface="Arial"/>
              </a:rPr>
              <a:t>SECONDARY:</a:t>
            </a:r>
            <a:r>
              <a:rPr sz="1100" b="1" spc="-50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C0523"/>
                </a:solidFill>
                <a:latin typeface="Arial"/>
                <a:cs typeface="Arial"/>
              </a:rPr>
              <a:t>CREATOR</a:t>
            </a:r>
            <a:r>
              <a:rPr sz="1100" b="1" spc="-45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C0523"/>
                </a:solidFill>
                <a:latin typeface="Arial"/>
                <a:cs typeface="Arial"/>
              </a:rPr>
              <a:t>&amp;</a:t>
            </a:r>
            <a:r>
              <a:rPr sz="1100" b="1" spc="-45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CC0523"/>
                </a:solidFill>
                <a:latin typeface="Arial"/>
                <a:cs typeface="Arial"/>
              </a:rPr>
              <a:t>GAMER</a:t>
            </a:r>
            <a:endParaRPr sz="1100" dirty="0"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880"/>
              </a:spcBef>
            </a:pPr>
            <a:r>
              <a:rPr sz="1100" b="1" dirty="0">
                <a:solidFill>
                  <a:srgbClr val="606060"/>
                </a:solidFill>
                <a:latin typeface="Arial"/>
                <a:cs typeface="Arial"/>
              </a:rPr>
              <a:t>18</a:t>
            </a:r>
            <a:r>
              <a:rPr lang="en-IN" sz="1100" b="1" dirty="0">
                <a:solidFill>
                  <a:srgbClr val="606060"/>
                </a:solidFill>
                <a:latin typeface="Arial"/>
                <a:cs typeface="Arial"/>
              </a:rPr>
              <a:t>-</a:t>
            </a:r>
            <a:r>
              <a:rPr sz="1100" b="1" dirty="0">
                <a:solidFill>
                  <a:srgbClr val="606060"/>
                </a:solidFill>
                <a:latin typeface="Arial"/>
                <a:cs typeface="Arial"/>
              </a:rPr>
              <a:t>28</a:t>
            </a:r>
            <a:r>
              <a:rPr sz="1100" b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06060"/>
                </a:solidFill>
                <a:latin typeface="Arial"/>
                <a:cs typeface="Arial"/>
              </a:rPr>
              <a:t>·</a:t>
            </a:r>
            <a:r>
              <a:rPr sz="1100" b="1" spc="-1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06060"/>
                </a:solidFill>
                <a:latin typeface="Arial"/>
                <a:cs typeface="Arial"/>
              </a:rPr>
              <a:t>high</a:t>
            </a:r>
            <a:r>
              <a:rPr sz="1100" b="1" spc="-1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06060"/>
                </a:solidFill>
                <a:latin typeface="Arial"/>
                <a:cs typeface="Arial"/>
              </a:rPr>
              <a:t>digital</a:t>
            </a:r>
            <a:r>
              <a:rPr sz="1100" b="1" spc="-10" dirty="0">
                <a:solidFill>
                  <a:srgbClr val="606060"/>
                </a:solidFill>
                <a:latin typeface="Arial"/>
                <a:cs typeface="Arial"/>
              </a:rPr>
              <a:t> engagement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800" dirty="0"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</a:pPr>
            <a:r>
              <a:rPr sz="1050" i="1" dirty="0">
                <a:solidFill>
                  <a:srgbClr val="141414"/>
                </a:solidFill>
                <a:latin typeface="Arial"/>
                <a:cs typeface="Arial"/>
              </a:rPr>
              <a:t>Potential occasion-led growth through creator/gaming </a:t>
            </a:r>
            <a:r>
              <a:rPr sz="1050" i="1" spc="-10" dirty="0">
                <a:solidFill>
                  <a:srgbClr val="141414"/>
                </a:solidFill>
                <a:latin typeface="Arial"/>
                <a:cs typeface="Arial"/>
              </a:rPr>
              <a:t>ecosystems.</a:t>
            </a: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900" dirty="0"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</a:pPr>
            <a:r>
              <a:rPr sz="1000" b="1" dirty="0">
                <a:solidFill>
                  <a:srgbClr val="CC0523"/>
                </a:solidFill>
                <a:latin typeface="Arial"/>
                <a:cs typeface="Arial"/>
              </a:rPr>
              <a:t>TARGETED </a:t>
            </a:r>
            <a:r>
              <a:rPr sz="1000" b="1" spc="-10" dirty="0">
                <a:solidFill>
                  <a:srgbClr val="CC0523"/>
                </a:solidFill>
                <a:latin typeface="Arial"/>
                <a:cs typeface="Arial"/>
              </a:rPr>
              <a:t>ACTIVATION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42050" y="3867150"/>
            <a:ext cx="5410200" cy="1693411"/>
          </a:xfrm>
          <a:prstGeom prst="rect">
            <a:avLst/>
          </a:prstGeom>
          <a:solidFill>
            <a:srgbClr val="F2EFED"/>
          </a:solidFill>
          <a:ln w="3175">
            <a:solidFill>
              <a:srgbClr val="F2EFED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84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</a:pPr>
            <a:r>
              <a:rPr sz="1100" b="1" dirty="0">
                <a:solidFill>
                  <a:srgbClr val="CC0523"/>
                </a:solidFill>
                <a:latin typeface="Arial"/>
                <a:cs typeface="Arial"/>
              </a:rPr>
              <a:t>SECONDARY:</a:t>
            </a:r>
            <a:r>
              <a:rPr sz="1100" b="1" spc="-70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CC0523"/>
                </a:solidFill>
                <a:latin typeface="Arial"/>
                <a:cs typeface="Arial"/>
              </a:rPr>
              <a:t>WEEKEND</a:t>
            </a:r>
            <a:r>
              <a:rPr sz="1100" b="1" spc="-65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CC0523"/>
                </a:solidFill>
                <a:latin typeface="Arial"/>
                <a:cs typeface="Arial"/>
              </a:rPr>
              <a:t>SOCIAL</a:t>
            </a:r>
            <a:endParaRPr sz="1100" dirty="0"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880"/>
              </a:spcBef>
            </a:pPr>
            <a:r>
              <a:rPr sz="1100" b="1" dirty="0">
                <a:solidFill>
                  <a:srgbClr val="606060"/>
                </a:solidFill>
                <a:latin typeface="Arial"/>
                <a:cs typeface="Arial"/>
              </a:rPr>
              <a:t>21</a:t>
            </a:r>
            <a:r>
              <a:rPr lang="en-IN" sz="1100" b="1" dirty="0">
                <a:solidFill>
                  <a:srgbClr val="606060"/>
                </a:solidFill>
                <a:latin typeface="Arial"/>
                <a:cs typeface="Arial"/>
              </a:rPr>
              <a:t>-</a:t>
            </a:r>
            <a:r>
              <a:rPr sz="1100" b="1" dirty="0">
                <a:solidFill>
                  <a:srgbClr val="606060"/>
                </a:solidFill>
                <a:latin typeface="Arial"/>
                <a:cs typeface="Arial"/>
              </a:rPr>
              <a:t>30</a:t>
            </a:r>
            <a:r>
              <a:rPr sz="1100" b="1" spc="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06060"/>
                </a:solidFill>
                <a:latin typeface="Arial"/>
                <a:cs typeface="Arial"/>
              </a:rPr>
              <a:t>·</a:t>
            </a:r>
            <a:r>
              <a:rPr sz="1100" b="1" spc="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606060"/>
                </a:solidFill>
                <a:latin typeface="Arial"/>
                <a:cs typeface="Arial"/>
              </a:rPr>
              <a:t>occasion-</a:t>
            </a:r>
            <a:r>
              <a:rPr sz="1100" b="1" spc="-25" dirty="0">
                <a:solidFill>
                  <a:srgbClr val="606060"/>
                </a:solidFill>
                <a:latin typeface="Arial"/>
                <a:cs typeface="Arial"/>
              </a:rPr>
              <a:t>led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800" dirty="0"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</a:pPr>
            <a:r>
              <a:rPr sz="1050" i="1" dirty="0">
                <a:solidFill>
                  <a:srgbClr val="141414"/>
                </a:solidFill>
                <a:latin typeface="Arial"/>
                <a:cs typeface="Arial"/>
              </a:rPr>
              <a:t>Party / nightlife / social occasions; lower priority for initial digital </a:t>
            </a:r>
            <a:r>
              <a:rPr sz="1050" i="1" spc="-10" dirty="0">
                <a:solidFill>
                  <a:srgbClr val="141414"/>
                </a:solidFill>
                <a:latin typeface="Arial"/>
                <a:cs typeface="Arial"/>
              </a:rPr>
              <a:t>push.</a:t>
            </a: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900" dirty="0"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</a:pPr>
            <a:r>
              <a:rPr sz="1000" b="1" dirty="0">
                <a:solidFill>
                  <a:srgbClr val="CC0523"/>
                </a:solidFill>
                <a:latin typeface="Arial"/>
                <a:cs typeface="Arial"/>
              </a:rPr>
              <a:t>OCCASIONAL </a:t>
            </a:r>
            <a:r>
              <a:rPr sz="1000" b="1" spc="-10" dirty="0">
                <a:solidFill>
                  <a:srgbClr val="CC0523"/>
                </a:solidFill>
                <a:latin typeface="Arial"/>
                <a:cs typeface="Arial"/>
              </a:rPr>
              <a:t>REACH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9750" y="5810250"/>
            <a:ext cx="11112500" cy="312265"/>
          </a:xfrm>
          <a:prstGeom prst="rect">
            <a:avLst/>
          </a:prstGeom>
          <a:solidFill>
            <a:srgbClr val="F4EDE5"/>
          </a:solidFill>
          <a:ln w="3175">
            <a:solidFill>
              <a:srgbClr val="F4EDE5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75"/>
              </a:spcBef>
            </a:pPr>
            <a:endParaRPr sz="900" dirty="0">
              <a:latin typeface="Times New Roman"/>
              <a:cs typeface="Times New Roman"/>
            </a:endParaRPr>
          </a:p>
          <a:p>
            <a:pPr marL="222250">
              <a:lnSpc>
                <a:spcPct val="100000"/>
              </a:lnSpc>
            </a:pPr>
            <a:r>
              <a:rPr sz="900" b="1" dirty="0">
                <a:solidFill>
                  <a:srgbClr val="141414"/>
                </a:solidFill>
                <a:latin typeface="Arial"/>
                <a:cs typeface="Arial"/>
              </a:rPr>
              <a:t>Why</a:t>
            </a:r>
            <a:r>
              <a:rPr sz="900" b="1" spc="-10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41414"/>
                </a:solidFill>
                <a:latin typeface="Arial"/>
                <a:cs typeface="Arial"/>
              </a:rPr>
              <a:t>these</a:t>
            </a:r>
            <a:r>
              <a:rPr sz="9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41414"/>
                </a:solidFill>
                <a:latin typeface="Arial"/>
                <a:cs typeface="Arial"/>
              </a:rPr>
              <a:t>two</a:t>
            </a:r>
            <a:r>
              <a:rPr lang="en-IN" sz="900" b="1" dirty="0">
                <a:solidFill>
                  <a:srgbClr val="141414"/>
                </a:solidFill>
                <a:latin typeface="Arial"/>
                <a:cs typeface="Arial"/>
              </a:rPr>
              <a:t> Rs. </a:t>
            </a:r>
            <a:r>
              <a:rPr sz="900" b="1" spc="240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41414"/>
                </a:solidFill>
                <a:latin typeface="Arial"/>
                <a:cs typeface="Arial"/>
              </a:rPr>
              <a:t>|</a:t>
            </a:r>
            <a:r>
              <a:rPr sz="900" b="1" spc="240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41414"/>
                </a:solidFill>
                <a:latin typeface="Arial"/>
                <a:cs typeface="Arial"/>
              </a:rPr>
              <a:t>They</a:t>
            </a:r>
            <a:r>
              <a:rPr sz="9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41414"/>
                </a:solidFill>
                <a:latin typeface="Arial"/>
                <a:cs typeface="Arial"/>
              </a:rPr>
              <a:t>combine</a:t>
            </a:r>
            <a:r>
              <a:rPr sz="9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41414"/>
                </a:solidFill>
                <a:latin typeface="Arial"/>
                <a:cs typeface="Arial"/>
              </a:rPr>
              <a:t>the</a:t>
            </a:r>
            <a:r>
              <a:rPr sz="9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41414"/>
                </a:solidFill>
                <a:latin typeface="Arial"/>
                <a:cs typeface="Arial"/>
              </a:rPr>
              <a:t>strongest</a:t>
            </a:r>
            <a:r>
              <a:rPr sz="9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41414"/>
                </a:solidFill>
                <a:latin typeface="Arial"/>
                <a:cs typeface="Arial"/>
              </a:rPr>
              <a:t>fit</a:t>
            </a:r>
            <a:r>
              <a:rPr sz="9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41414"/>
                </a:solidFill>
                <a:latin typeface="Arial"/>
                <a:cs typeface="Arial"/>
              </a:rPr>
              <a:t>with</a:t>
            </a:r>
            <a:r>
              <a:rPr sz="9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41414"/>
                </a:solidFill>
                <a:latin typeface="Arial"/>
                <a:cs typeface="Arial"/>
              </a:rPr>
              <a:t>Beats</a:t>
            </a:r>
            <a:r>
              <a:rPr lang="en-IN" sz="900" b="1" dirty="0">
                <a:solidFill>
                  <a:srgbClr val="141414"/>
                </a:solidFill>
                <a:latin typeface="Arial"/>
                <a:cs typeface="Arial"/>
              </a:rPr>
              <a:t> Rs. </a:t>
            </a:r>
            <a:r>
              <a:rPr sz="9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41414"/>
                </a:solidFill>
                <a:latin typeface="Arial"/>
                <a:cs typeface="Arial"/>
              </a:rPr>
              <a:t>functional,</a:t>
            </a:r>
            <a:r>
              <a:rPr sz="9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41414"/>
                </a:solidFill>
                <a:latin typeface="Arial"/>
                <a:cs typeface="Arial"/>
              </a:rPr>
              <a:t>time-pressed</a:t>
            </a:r>
            <a:r>
              <a:rPr sz="9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41414"/>
                </a:solidFill>
                <a:latin typeface="Arial"/>
                <a:cs typeface="Arial"/>
              </a:rPr>
              <a:t>positioning</a:t>
            </a:r>
            <a:r>
              <a:rPr sz="9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41414"/>
                </a:solidFill>
                <a:latin typeface="Arial"/>
                <a:cs typeface="Arial"/>
              </a:rPr>
              <a:t>and</a:t>
            </a:r>
            <a:r>
              <a:rPr sz="9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41414"/>
                </a:solidFill>
                <a:latin typeface="Arial"/>
                <a:cs typeface="Arial"/>
              </a:rPr>
              <a:t>the</a:t>
            </a:r>
            <a:r>
              <a:rPr sz="9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41414"/>
                </a:solidFill>
                <a:latin typeface="Arial"/>
                <a:cs typeface="Arial"/>
              </a:rPr>
              <a:t>urban</a:t>
            </a:r>
            <a:r>
              <a:rPr sz="9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41414"/>
                </a:solidFill>
                <a:latin typeface="Arial"/>
                <a:cs typeface="Arial"/>
              </a:rPr>
              <a:t>/</a:t>
            </a:r>
            <a:r>
              <a:rPr sz="9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41414"/>
                </a:solidFill>
                <a:latin typeface="Arial"/>
                <a:cs typeface="Arial"/>
              </a:rPr>
              <a:t>quick-commerce</a:t>
            </a:r>
            <a:r>
              <a:rPr sz="9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41414"/>
                </a:solidFill>
                <a:latin typeface="Arial"/>
                <a:cs typeface="Arial"/>
              </a:rPr>
              <a:t>channel</a:t>
            </a:r>
            <a:r>
              <a:rPr sz="9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41414"/>
                </a:solidFill>
                <a:latin typeface="Arial"/>
                <a:cs typeface="Arial"/>
              </a:rPr>
              <a:t>thesis.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3400" y="6579419"/>
            <a:ext cx="5668645" cy="191077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Section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1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Consumer &amp;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Market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Analysis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77400" y="6578601"/>
            <a:ext cx="216471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solidFill>
                  <a:srgbClr val="666666"/>
                </a:solidFill>
                <a:latin typeface="Arial"/>
                <a:cs typeface="Arial"/>
              </a:rPr>
              <a:t>Budweiser</a:t>
            </a:r>
            <a:r>
              <a:rPr sz="900" i="1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66666"/>
                </a:solidFill>
                <a:latin typeface="Arial"/>
                <a:cs typeface="Arial"/>
              </a:rPr>
              <a:t>Beats</a:t>
            </a:r>
            <a:r>
              <a:rPr sz="900" i="1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sz="900" i="1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66666"/>
                </a:solidFill>
                <a:latin typeface="Arial"/>
                <a:cs typeface="Arial"/>
              </a:rPr>
              <a:t>India</a:t>
            </a:r>
            <a:r>
              <a:rPr sz="900" i="1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66666"/>
                </a:solidFill>
                <a:latin typeface="Arial"/>
                <a:cs typeface="Arial"/>
              </a:rPr>
              <a:t>Growth</a:t>
            </a:r>
            <a:r>
              <a:rPr sz="900" i="1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666666"/>
                </a:solidFill>
                <a:latin typeface="Arial"/>
                <a:cs typeface="Arial"/>
              </a:rPr>
              <a:t>Strategy</a:t>
            </a:r>
            <a:endParaRPr sz="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584" y="404177"/>
            <a:ext cx="3579216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-114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250" b="1" spc="-19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3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250" b="1" spc="-1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2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250" b="1" spc="-17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6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250" b="1" spc="-1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4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1250" b="1" spc="-1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15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1250" b="1" spc="-1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114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50" b="1" spc="-19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250" b="1" spc="21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250" b="1" spc="21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sz="1250" b="1" spc="29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15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1250" b="1" spc="-1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4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250" b="1" spc="-1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7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250" b="1" spc="-17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10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sz="1250" b="1" spc="-19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114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50" b="1" spc="-17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250" b="1" spc="2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4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250" b="1" spc="-1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2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250" b="1" spc="-17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4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250" b="1" spc="-1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10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sz="1250" b="1" spc="-204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6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250" b="1" spc="-1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2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250" b="1" spc="-17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250" b="1" spc="29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15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1250" b="1" spc="2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5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5584" y="709460"/>
            <a:ext cx="78752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5" dirty="0">
                <a:solidFill>
                  <a:srgbClr val="131313"/>
                </a:solidFill>
                <a:latin typeface="Times New Roman"/>
                <a:cs typeface="Times New Roman"/>
              </a:rPr>
              <a:t>High-</a:t>
            </a:r>
            <a:r>
              <a:rPr sz="3000" spc="70" dirty="0">
                <a:solidFill>
                  <a:srgbClr val="131313"/>
                </a:solidFill>
                <a:latin typeface="Times New Roman"/>
                <a:cs typeface="Times New Roman"/>
              </a:rPr>
              <a:t>Potential</a:t>
            </a:r>
            <a:r>
              <a:rPr sz="3000" spc="-5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131313"/>
                </a:solidFill>
                <a:latin typeface="Times New Roman"/>
                <a:cs typeface="Times New Roman"/>
              </a:rPr>
              <a:t>Segments:</a:t>
            </a:r>
            <a:r>
              <a:rPr sz="3000" spc="-5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131313"/>
                </a:solidFill>
                <a:latin typeface="Times New Roman"/>
                <a:cs typeface="Times New Roman"/>
              </a:rPr>
              <a:t>Size</a:t>
            </a:r>
            <a:r>
              <a:rPr sz="3000" spc="-5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131313"/>
                </a:solidFill>
                <a:latin typeface="Times New Roman"/>
                <a:cs typeface="Times New Roman"/>
              </a:rPr>
              <a:t>Meets</a:t>
            </a:r>
            <a:r>
              <a:rPr sz="3000" spc="-4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131313"/>
                </a:solidFill>
                <a:latin typeface="Times New Roman"/>
                <a:cs typeface="Times New Roman"/>
              </a:rPr>
              <a:t>Brand</a:t>
            </a:r>
            <a:r>
              <a:rPr sz="3000" spc="-4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131313"/>
                </a:solidFill>
                <a:latin typeface="Times New Roman"/>
                <a:cs typeface="Times New Roman"/>
              </a:rPr>
              <a:t>Fit</a:t>
            </a:r>
            <a:endParaRPr sz="3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17319" y="1691639"/>
            <a:ext cx="5532120" cy="4160520"/>
            <a:chOff x="1417319" y="1691639"/>
            <a:chExt cx="5532120" cy="4160520"/>
          </a:xfrm>
        </p:grpSpPr>
        <p:sp>
          <p:nvSpPr>
            <p:cNvPr id="5" name="object 5"/>
            <p:cNvSpPr/>
            <p:nvPr/>
          </p:nvSpPr>
          <p:spPr>
            <a:xfrm>
              <a:off x="1417319" y="1691639"/>
              <a:ext cx="5532120" cy="4160520"/>
            </a:xfrm>
            <a:custGeom>
              <a:avLst/>
              <a:gdLst/>
              <a:ahLst/>
              <a:cxnLst/>
              <a:rect l="l" t="t" r="r" b="b"/>
              <a:pathLst>
                <a:path w="5532120" h="4160520">
                  <a:moveTo>
                    <a:pt x="5531764" y="0"/>
                  </a:moveTo>
                  <a:lnTo>
                    <a:pt x="0" y="0"/>
                  </a:lnTo>
                  <a:lnTo>
                    <a:pt x="0" y="4160164"/>
                  </a:lnTo>
                  <a:lnTo>
                    <a:pt x="2765882" y="4160164"/>
                  </a:lnTo>
                  <a:lnTo>
                    <a:pt x="5531764" y="4160164"/>
                  </a:lnTo>
                  <a:lnTo>
                    <a:pt x="5531764" y="0"/>
                  </a:lnTo>
                  <a:close/>
                </a:path>
              </a:pathLst>
            </a:custGeom>
            <a:solidFill>
              <a:srgbClr val="FAF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64123" y="1883155"/>
              <a:ext cx="531495" cy="531495"/>
            </a:xfrm>
            <a:custGeom>
              <a:avLst/>
              <a:gdLst/>
              <a:ahLst/>
              <a:cxnLst/>
              <a:rect l="l" t="t" r="r" b="b"/>
              <a:pathLst>
                <a:path w="531495" h="531494">
                  <a:moveTo>
                    <a:pt x="265671" y="0"/>
                  </a:moveTo>
                  <a:lnTo>
                    <a:pt x="196823" y="9047"/>
                  </a:lnTo>
                  <a:lnTo>
                    <a:pt x="132842" y="35648"/>
                  </a:lnTo>
                  <a:lnTo>
                    <a:pt x="77895" y="77897"/>
                  </a:lnTo>
                  <a:lnTo>
                    <a:pt x="35636" y="132842"/>
                  </a:lnTo>
                  <a:lnTo>
                    <a:pt x="9045" y="196834"/>
                  </a:lnTo>
                  <a:lnTo>
                    <a:pt x="0" y="265684"/>
                  </a:lnTo>
                  <a:lnTo>
                    <a:pt x="2278" y="300513"/>
                  </a:lnTo>
                  <a:lnTo>
                    <a:pt x="20198" y="367339"/>
                  </a:lnTo>
                  <a:lnTo>
                    <a:pt x="55028" y="427433"/>
                  </a:lnTo>
                  <a:lnTo>
                    <a:pt x="103934" y="476333"/>
                  </a:lnTo>
                  <a:lnTo>
                    <a:pt x="164021" y="511163"/>
                  </a:lnTo>
                  <a:lnTo>
                    <a:pt x="230841" y="529089"/>
                  </a:lnTo>
                  <a:lnTo>
                    <a:pt x="265671" y="531368"/>
                  </a:lnTo>
                  <a:lnTo>
                    <a:pt x="300501" y="529089"/>
                  </a:lnTo>
                  <a:lnTo>
                    <a:pt x="367326" y="511163"/>
                  </a:lnTo>
                  <a:lnTo>
                    <a:pt x="427421" y="476333"/>
                  </a:lnTo>
                  <a:lnTo>
                    <a:pt x="476326" y="427433"/>
                  </a:lnTo>
                  <a:lnTo>
                    <a:pt x="511156" y="367339"/>
                  </a:lnTo>
                  <a:lnTo>
                    <a:pt x="529076" y="300513"/>
                  </a:lnTo>
                  <a:lnTo>
                    <a:pt x="531355" y="265684"/>
                  </a:lnTo>
                  <a:lnTo>
                    <a:pt x="529076" y="230854"/>
                  </a:lnTo>
                  <a:lnTo>
                    <a:pt x="511156" y="164028"/>
                  </a:lnTo>
                  <a:lnTo>
                    <a:pt x="476326" y="103934"/>
                  </a:lnTo>
                  <a:lnTo>
                    <a:pt x="427421" y="55034"/>
                  </a:lnTo>
                  <a:lnTo>
                    <a:pt x="367326" y="20204"/>
                  </a:lnTo>
                  <a:lnTo>
                    <a:pt x="300501" y="2278"/>
                  </a:lnTo>
                  <a:lnTo>
                    <a:pt x="265671" y="0"/>
                  </a:lnTo>
                  <a:close/>
                </a:path>
              </a:pathLst>
            </a:custGeom>
            <a:solidFill>
              <a:srgbClr val="C70F2D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64123" y="1883155"/>
              <a:ext cx="531495" cy="531495"/>
            </a:xfrm>
            <a:custGeom>
              <a:avLst/>
              <a:gdLst/>
              <a:ahLst/>
              <a:cxnLst/>
              <a:rect l="l" t="t" r="r" b="b"/>
              <a:pathLst>
                <a:path w="531495" h="531494">
                  <a:moveTo>
                    <a:pt x="0" y="265684"/>
                  </a:moveTo>
                  <a:lnTo>
                    <a:pt x="2278" y="230854"/>
                  </a:lnTo>
                  <a:lnTo>
                    <a:pt x="9045" y="196834"/>
                  </a:lnTo>
                  <a:lnTo>
                    <a:pt x="35636" y="132842"/>
                  </a:lnTo>
                  <a:lnTo>
                    <a:pt x="77895" y="77897"/>
                  </a:lnTo>
                  <a:lnTo>
                    <a:pt x="132842" y="35648"/>
                  </a:lnTo>
                  <a:lnTo>
                    <a:pt x="196823" y="9047"/>
                  </a:lnTo>
                  <a:lnTo>
                    <a:pt x="265671" y="0"/>
                  </a:lnTo>
                  <a:lnTo>
                    <a:pt x="334521" y="9047"/>
                  </a:lnTo>
                  <a:lnTo>
                    <a:pt x="398513" y="35648"/>
                  </a:lnTo>
                  <a:lnTo>
                    <a:pt x="453459" y="77897"/>
                  </a:lnTo>
                  <a:lnTo>
                    <a:pt x="495719" y="132842"/>
                  </a:lnTo>
                  <a:lnTo>
                    <a:pt x="522309" y="196834"/>
                  </a:lnTo>
                  <a:lnTo>
                    <a:pt x="531355" y="265684"/>
                  </a:lnTo>
                  <a:lnTo>
                    <a:pt x="529076" y="300513"/>
                  </a:lnTo>
                  <a:lnTo>
                    <a:pt x="522309" y="334533"/>
                  </a:lnTo>
                  <a:lnTo>
                    <a:pt x="495719" y="398526"/>
                  </a:lnTo>
                  <a:lnTo>
                    <a:pt x="453459" y="453470"/>
                  </a:lnTo>
                  <a:lnTo>
                    <a:pt x="398513" y="495719"/>
                  </a:lnTo>
                  <a:lnTo>
                    <a:pt x="334521" y="522320"/>
                  </a:lnTo>
                  <a:lnTo>
                    <a:pt x="265671" y="531368"/>
                  </a:lnTo>
                  <a:lnTo>
                    <a:pt x="196823" y="522320"/>
                  </a:lnTo>
                  <a:lnTo>
                    <a:pt x="132842" y="495719"/>
                  </a:lnTo>
                  <a:lnTo>
                    <a:pt x="77895" y="453470"/>
                  </a:lnTo>
                  <a:lnTo>
                    <a:pt x="35636" y="398526"/>
                  </a:lnTo>
                  <a:lnTo>
                    <a:pt x="9045" y="334533"/>
                  </a:lnTo>
                  <a:lnTo>
                    <a:pt x="2278" y="300513"/>
                  </a:lnTo>
                  <a:lnTo>
                    <a:pt x="0" y="265684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82235" y="2708998"/>
              <a:ext cx="462280" cy="462280"/>
            </a:xfrm>
            <a:custGeom>
              <a:avLst/>
              <a:gdLst/>
              <a:ahLst/>
              <a:cxnLst/>
              <a:rect l="l" t="t" r="r" b="b"/>
              <a:pathLst>
                <a:path w="462279" h="462280">
                  <a:moveTo>
                    <a:pt x="231127" y="0"/>
                  </a:moveTo>
                  <a:lnTo>
                    <a:pt x="171186" y="7740"/>
                  </a:lnTo>
                  <a:lnTo>
                    <a:pt x="115570" y="30606"/>
                  </a:lnTo>
                  <a:lnTo>
                    <a:pt x="67598" y="67498"/>
                  </a:lnTo>
                  <a:lnTo>
                    <a:pt x="30962" y="115201"/>
                  </a:lnTo>
                  <a:lnTo>
                    <a:pt x="7923" y="170956"/>
                  </a:lnTo>
                  <a:lnTo>
                    <a:pt x="0" y="230758"/>
                  </a:lnTo>
                  <a:lnTo>
                    <a:pt x="2003" y="261014"/>
                  </a:lnTo>
                  <a:lnTo>
                    <a:pt x="17621" y="319096"/>
                  </a:lnTo>
                  <a:lnTo>
                    <a:pt x="47729" y="371384"/>
                  </a:lnTo>
                  <a:lnTo>
                    <a:pt x="90302" y="413956"/>
                  </a:lnTo>
                  <a:lnTo>
                    <a:pt x="142634" y="444264"/>
                  </a:lnTo>
                  <a:lnTo>
                    <a:pt x="200819" y="459882"/>
                  </a:lnTo>
                  <a:lnTo>
                    <a:pt x="231127" y="461886"/>
                  </a:lnTo>
                  <a:lnTo>
                    <a:pt x="261227" y="459882"/>
                  </a:lnTo>
                  <a:lnTo>
                    <a:pt x="319265" y="444264"/>
                  </a:lnTo>
                  <a:lnTo>
                    <a:pt x="371596" y="413956"/>
                  </a:lnTo>
                  <a:lnTo>
                    <a:pt x="414164" y="371384"/>
                  </a:lnTo>
                  <a:lnTo>
                    <a:pt x="444264" y="319096"/>
                  </a:lnTo>
                  <a:lnTo>
                    <a:pt x="459882" y="261014"/>
                  </a:lnTo>
                  <a:lnTo>
                    <a:pt x="461886" y="230758"/>
                  </a:lnTo>
                  <a:lnTo>
                    <a:pt x="459882" y="200503"/>
                  </a:lnTo>
                  <a:lnTo>
                    <a:pt x="444264" y="142421"/>
                  </a:lnTo>
                  <a:lnTo>
                    <a:pt x="414164" y="90134"/>
                  </a:lnTo>
                  <a:lnTo>
                    <a:pt x="371596" y="47566"/>
                  </a:lnTo>
                  <a:lnTo>
                    <a:pt x="319265" y="17316"/>
                  </a:lnTo>
                  <a:lnTo>
                    <a:pt x="261227" y="1946"/>
                  </a:lnTo>
                  <a:lnTo>
                    <a:pt x="231127" y="0"/>
                  </a:lnTo>
                  <a:close/>
                </a:path>
              </a:pathLst>
            </a:custGeom>
            <a:solidFill>
              <a:srgbClr val="C70F2D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82235" y="2708998"/>
              <a:ext cx="462280" cy="462280"/>
            </a:xfrm>
            <a:custGeom>
              <a:avLst/>
              <a:gdLst/>
              <a:ahLst/>
              <a:cxnLst/>
              <a:rect l="l" t="t" r="r" b="b"/>
              <a:pathLst>
                <a:path w="462279" h="462280">
                  <a:moveTo>
                    <a:pt x="0" y="230758"/>
                  </a:moveTo>
                  <a:lnTo>
                    <a:pt x="2003" y="200503"/>
                  </a:lnTo>
                  <a:lnTo>
                    <a:pt x="7923" y="170956"/>
                  </a:lnTo>
                  <a:lnTo>
                    <a:pt x="30962" y="115201"/>
                  </a:lnTo>
                  <a:lnTo>
                    <a:pt x="67598" y="67498"/>
                  </a:lnTo>
                  <a:lnTo>
                    <a:pt x="115570" y="30606"/>
                  </a:lnTo>
                  <a:lnTo>
                    <a:pt x="171186" y="7740"/>
                  </a:lnTo>
                  <a:lnTo>
                    <a:pt x="231127" y="0"/>
                  </a:lnTo>
                  <a:lnTo>
                    <a:pt x="290752" y="7740"/>
                  </a:lnTo>
                  <a:lnTo>
                    <a:pt x="346329" y="30606"/>
                  </a:lnTo>
                  <a:lnTo>
                    <a:pt x="394298" y="67498"/>
                  </a:lnTo>
                  <a:lnTo>
                    <a:pt x="430923" y="115201"/>
                  </a:lnTo>
                  <a:lnTo>
                    <a:pt x="453963" y="170956"/>
                  </a:lnTo>
                  <a:lnTo>
                    <a:pt x="461886" y="230758"/>
                  </a:lnTo>
                  <a:lnTo>
                    <a:pt x="459882" y="261014"/>
                  </a:lnTo>
                  <a:lnTo>
                    <a:pt x="453963" y="290561"/>
                  </a:lnTo>
                  <a:lnTo>
                    <a:pt x="430923" y="346316"/>
                  </a:lnTo>
                  <a:lnTo>
                    <a:pt x="394298" y="394020"/>
                  </a:lnTo>
                  <a:lnTo>
                    <a:pt x="346329" y="430923"/>
                  </a:lnTo>
                  <a:lnTo>
                    <a:pt x="290752" y="453963"/>
                  </a:lnTo>
                  <a:lnTo>
                    <a:pt x="231127" y="461886"/>
                  </a:lnTo>
                  <a:lnTo>
                    <a:pt x="171186" y="453963"/>
                  </a:lnTo>
                  <a:lnTo>
                    <a:pt x="115570" y="430923"/>
                  </a:lnTo>
                  <a:lnTo>
                    <a:pt x="67598" y="394020"/>
                  </a:lnTo>
                  <a:lnTo>
                    <a:pt x="30962" y="346316"/>
                  </a:lnTo>
                  <a:lnTo>
                    <a:pt x="7923" y="290561"/>
                  </a:lnTo>
                  <a:lnTo>
                    <a:pt x="2003" y="261014"/>
                  </a:lnTo>
                  <a:lnTo>
                    <a:pt x="0" y="230758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44960" y="4175277"/>
              <a:ext cx="357505" cy="357505"/>
            </a:xfrm>
            <a:custGeom>
              <a:avLst/>
              <a:gdLst/>
              <a:ahLst/>
              <a:cxnLst/>
              <a:rect l="l" t="t" r="r" b="b"/>
              <a:pathLst>
                <a:path w="357504" h="357504">
                  <a:moveTo>
                    <a:pt x="178917" y="0"/>
                  </a:moveTo>
                  <a:lnTo>
                    <a:pt x="132480" y="6119"/>
                  </a:lnTo>
                  <a:lnTo>
                    <a:pt x="89280" y="24117"/>
                  </a:lnTo>
                  <a:lnTo>
                    <a:pt x="52379" y="52562"/>
                  </a:lnTo>
                  <a:lnTo>
                    <a:pt x="24117" y="89636"/>
                  </a:lnTo>
                  <a:lnTo>
                    <a:pt x="6119" y="132657"/>
                  </a:lnTo>
                  <a:lnTo>
                    <a:pt x="0" y="178917"/>
                  </a:lnTo>
                  <a:lnTo>
                    <a:pt x="1541" y="202288"/>
                  </a:lnTo>
                  <a:lnTo>
                    <a:pt x="13667" y="247263"/>
                  </a:lnTo>
                  <a:lnTo>
                    <a:pt x="37033" y="287755"/>
                  </a:lnTo>
                  <a:lnTo>
                    <a:pt x="69885" y="320648"/>
                  </a:lnTo>
                  <a:lnTo>
                    <a:pt x="110373" y="344117"/>
                  </a:lnTo>
                  <a:lnTo>
                    <a:pt x="155396" y="355995"/>
                  </a:lnTo>
                  <a:lnTo>
                    <a:pt x="178917" y="357479"/>
                  </a:lnTo>
                  <a:lnTo>
                    <a:pt x="202233" y="355995"/>
                  </a:lnTo>
                  <a:lnTo>
                    <a:pt x="247111" y="344117"/>
                  </a:lnTo>
                  <a:lnTo>
                    <a:pt x="287594" y="320648"/>
                  </a:lnTo>
                  <a:lnTo>
                    <a:pt x="320446" y="287755"/>
                  </a:lnTo>
                  <a:lnTo>
                    <a:pt x="343811" y="247263"/>
                  </a:lnTo>
                  <a:lnTo>
                    <a:pt x="355938" y="202288"/>
                  </a:lnTo>
                  <a:lnTo>
                    <a:pt x="357479" y="178917"/>
                  </a:lnTo>
                  <a:lnTo>
                    <a:pt x="355938" y="155551"/>
                  </a:lnTo>
                  <a:lnTo>
                    <a:pt x="343811" y="110573"/>
                  </a:lnTo>
                  <a:lnTo>
                    <a:pt x="320446" y="70087"/>
                  </a:lnTo>
                  <a:lnTo>
                    <a:pt x="287594" y="37194"/>
                  </a:lnTo>
                  <a:lnTo>
                    <a:pt x="247111" y="13667"/>
                  </a:lnTo>
                  <a:lnTo>
                    <a:pt x="202233" y="1541"/>
                  </a:lnTo>
                  <a:lnTo>
                    <a:pt x="178917" y="0"/>
                  </a:lnTo>
                  <a:close/>
                </a:path>
              </a:pathLst>
            </a:custGeom>
            <a:solidFill>
              <a:srgbClr val="D3AE36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44960" y="4175277"/>
              <a:ext cx="357505" cy="357505"/>
            </a:xfrm>
            <a:custGeom>
              <a:avLst/>
              <a:gdLst/>
              <a:ahLst/>
              <a:cxnLst/>
              <a:rect l="l" t="t" r="r" b="b"/>
              <a:pathLst>
                <a:path w="357504" h="357504">
                  <a:moveTo>
                    <a:pt x="0" y="178917"/>
                  </a:moveTo>
                  <a:lnTo>
                    <a:pt x="1541" y="155551"/>
                  </a:lnTo>
                  <a:lnTo>
                    <a:pt x="6119" y="132657"/>
                  </a:lnTo>
                  <a:lnTo>
                    <a:pt x="24117" y="89636"/>
                  </a:lnTo>
                  <a:lnTo>
                    <a:pt x="52379" y="52562"/>
                  </a:lnTo>
                  <a:lnTo>
                    <a:pt x="89280" y="24117"/>
                  </a:lnTo>
                  <a:lnTo>
                    <a:pt x="132480" y="6119"/>
                  </a:lnTo>
                  <a:lnTo>
                    <a:pt x="178917" y="0"/>
                  </a:lnTo>
                  <a:lnTo>
                    <a:pt x="225043" y="6119"/>
                  </a:lnTo>
                  <a:lnTo>
                    <a:pt x="268198" y="24117"/>
                  </a:lnTo>
                  <a:lnTo>
                    <a:pt x="305100" y="52562"/>
                  </a:lnTo>
                  <a:lnTo>
                    <a:pt x="333362" y="89636"/>
                  </a:lnTo>
                  <a:lnTo>
                    <a:pt x="351359" y="132657"/>
                  </a:lnTo>
                  <a:lnTo>
                    <a:pt x="357479" y="178917"/>
                  </a:lnTo>
                  <a:lnTo>
                    <a:pt x="355938" y="202288"/>
                  </a:lnTo>
                  <a:lnTo>
                    <a:pt x="351359" y="225182"/>
                  </a:lnTo>
                  <a:lnTo>
                    <a:pt x="333362" y="268198"/>
                  </a:lnTo>
                  <a:lnTo>
                    <a:pt x="305100" y="305282"/>
                  </a:lnTo>
                  <a:lnTo>
                    <a:pt x="268198" y="333717"/>
                  </a:lnTo>
                  <a:lnTo>
                    <a:pt x="225043" y="351542"/>
                  </a:lnTo>
                  <a:lnTo>
                    <a:pt x="178917" y="357479"/>
                  </a:lnTo>
                  <a:lnTo>
                    <a:pt x="132480" y="351542"/>
                  </a:lnTo>
                  <a:lnTo>
                    <a:pt x="89280" y="333717"/>
                  </a:lnTo>
                  <a:lnTo>
                    <a:pt x="52379" y="305282"/>
                  </a:lnTo>
                  <a:lnTo>
                    <a:pt x="24117" y="268198"/>
                  </a:lnTo>
                  <a:lnTo>
                    <a:pt x="6119" y="225182"/>
                  </a:lnTo>
                  <a:lnTo>
                    <a:pt x="1541" y="202288"/>
                  </a:lnTo>
                  <a:lnTo>
                    <a:pt x="0" y="178917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04756" y="4525924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161645" y="0"/>
                  </a:moveTo>
                  <a:lnTo>
                    <a:pt x="119654" y="5399"/>
                  </a:lnTo>
                  <a:lnTo>
                    <a:pt x="80644" y="21589"/>
                  </a:lnTo>
                  <a:lnTo>
                    <a:pt x="47209" y="47201"/>
                  </a:lnTo>
                  <a:lnTo>
                    <a:pt x="21602" y="80632"/>
                  </a:lnTo>
                  <a:lnTo>
                    <a:pt x="5538" y="119468"/>
                  </a:lnTo>
                  <a:lnTo>
                    <a:pt x="0" y="161277"/>
                  </a:lnTo>
                  <a:lnTo>
                    <a:pt x="1401" y="182430"/>
                  </a:lnTo>
                  <a:lnTo>
                    <a:pt x="12306" y="222985"/>
                  </a:lnTo>
                  <a:lnTo>
                    <a:pt x="33310" y="259491"/>
                  </a:lnTo>
                  <a:lnTo>
                    <a:pt x="63065" y="289249"/>
                  </a:lnTo>
                  <a:lnTo>
                    <a:pt x="99625" y="310458"/>
                  </a:lnTo>
                  <a:lnTo>
                    <a:pt x="140429" y="321504"/>
                  </a:lnTo>
                  <a:lnTo>
                    <a:pt x="161645" y="322910"/>
                  </a:lnTo>
                  <a:lnTo>
                    <a:pt x="182649" y="321504"/>
                  </a:lnTo>
                  <a:lnTo>
                    <a:pt x="223303" y="310458"/>
                  </a:lnTo>
                  <a:lnTo>
                    <a:pt x="259859" y="289249"/>
                  </a:lnTo>
                  <a:lnTo>
                    <a:pt x="289617" y="259491"/>
                  </a:lnTo>
                  <a:lnTo>
                    <a:pt x="310621" y="222985"/>
                  </a:lnTo>
                  <a:lnTo>
                    <a:pt x="321522" y="182430"/>
                  </a:lnTo>
                  <a:lnTo>
                    <a:pt x="322922" y="161277"/>
                  </a:lnTo>
                  <a:lnTo>
                    <a:pt x="321522" y="140118"/>
                  </a:lnTo>
                  <a:lnTo>
                    <a:pt x="310621" y="99562"/>
                  </a:lnTo>
                  <a:lnTo>
                    <a:pt x="289617" y="63057"/>
                  </a:lnTo>
                  <a:lnTo>
                    <a:pt x="259859" y="33299"/>
                  </a:lnTo>
                  <a:lnTo>
                    <a:pt x="223303" y="12146"/>
                  </a:lnTo>
                  <a:lnTo>
                    <a:pt x="182649" y="1349"/>
                  </a:lnTo>
                  <a:lnTo>
                    <a:pt x="161645" y="0"/>
                  </a:lnTo>
                  <a:close/>
                </a:path>
              </a:pathLst>
            </a:custGeom>
            <a:solidFill>
              <a:srgbClr val="6D6A67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04756" y="4525924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0" y="161277"/>
                  </a:moveTo>
                  <a:lnTo>
                    <a:pt x="1401" y="140118"/>
                  </a:lnTo>
                  <a:lnTo>
                    <a:pt x="5538" y="119468"/>
                  </a:lnTo>
                  <a:lnTo>
                    <a:pt x="21602" y="80632"/>
                  </a:lnTo>
                  <a:lnTo>
                    <a:pt x="47209" y="47201"/>
                  </a:lnTo>
                  <a:lnTo>
                    <a:pt x="80644" y="21589"/>
                  </a:lnTo>
                  <a:lnTo>
                    <a:pt x="119654" y="5399"/>
                  </a:lnTo>
                  <a:lnTo>
                    <a:pt x="161645" y="0"/>
                  </a:lnTo>
                  <a:lnTo>
                    <a:pt x="203314" y="5399"/>
                  </a:lnTo>
                  <a:lnTo>
                    <a:pt x="242277" y="21589"/>
                  </a:lnTo>
                  <a:lnTo>
                    <a:pt x="275718" y="47201"/>
                  </a:lnTo>
                  <a:lnTo>
                    <a:pt x="301320" y="80632"/>
                  </a:lnTo>
                  <a:lnTo>
                    <a:pt x="317388" y="119468"/>
                  </a:lnTo>
                  <a:lnTo>
                    <a:pt x="322922" y="161277"/>
                  </a:lnTo>
                  <a:lnTo>
                    <a:pt x="321522" y="182430"/>
                  </a:lnTo>
                  <a:lnTo>
                    <a:pt x="317388" y="203079"/>
                  </a:lnTo>
                  <a:lnTo>
                    <a:pt x="301320" y="241909"/>
                  </a:lnTo>
                  <a:lnTo>
                    <a:pt x="275718" y="275350"/>
                  </a:lnTo>
                  <a:lnTo>
                    <a:pt x="242277" y="300951"/>
                  </a:lnTo>
                  <a:lnTo>
                    <a:pt x="203314" y="317331"/>
                  </a:lnTo>
                  <a:lnTo>
                    <a:pt x="161645" y="322910"/>
                  </a:lnTo>
                  <a:lnTo>
                    <a:pt x="119654" y="317331"/>
                  </a:lnTo>
                  <a:lnTo>
                    <a:pt x="80644" y="300951"/>
                  </a:lnTo>
                  <a:lnTo>
                    <a:pt x="47209" y="275350"/>
                  </a:lnTo>
                  <a:lnTo>
                    <a:pt x="21602" y="241909"/>
                  </a:lnTo>
                  <a:lnTo>
                    <a:pt x="5538" y="203079"/>
                  </a:lnTo>
                  <a:lnTo>
                    <a:pt x="1401" y="182430"/>
                  </a:lnTo>
                  <a:lnTo>
                    <a:pt x="0" y="161277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4" name="objec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976419"/>
              </p:ext>
            </p:extLst>
          </p:nvPr>
        </p:nvGraphicFramePr>
        <p:xfrm>
          <a:off x="1411020" y="1685340"/>
          <a:ext cx="5531485" cy="4159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5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802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sz="950" b="1" spc="50" dirty="0">
                          <a:solidFill>
                            <a:srgbClr val="6D6A67"/>
                          </a:solidFill>
                          <a:latin typeface="Trebuchet MS"/>
                          <a:cs typeface="Trebuchet MS"/>
                        </a:rPr>
                        <a:t>MONITOR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E2DFDA"/>
                      </a:solidFill>
                      <a:prstDash val="solid"/>
                    </a:lnL>
                    <a:lnR w="19050">
                      <a:solidFill>
                        <a:srgbClr val="E2DFDA"/>
                      </a:solidFill>
                      <a:prstDash val="sysDash"/>
                    </a:lnR>
                    <a:lnT w="12700">
                      <a:solidFill>
                        <a:srgbClr val="E2DFDA"/>
                      </a:solidFill>
                      <a:prstDash val="solid"/>
                    </a:lnT>
                    <a:lnB w="19050">
                      <a:solidFill>
                        <a:srgbClr val="E2DFD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950" dirty="0">
                        <a:latin typeface="Times New Roman"/>
                        <a:cs typeface="Times New Roman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sz="950" b="1" spc="-10" dirty="0">
                          <a:solidFill>
                            <a:srgbClr val="C70F2D"/>
                          </a:solidFill>
                          <a:latin typeface="Trebuchet MS"/>
                          <a:cs typeface="Trebuchet MS"/>
                        </a:rPr>
                        <a:t>PRIORITISE</a:t>
                      </a:r>
                      <a:endParaRPr sz="950" dirty="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 dirty="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endParaRPr lang="en-IN" sz="950" b="0" spc="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endParaRPr lang="en-IN" sz="950" b="0" spc="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850" b="1" spc="-10" dirty="0">
                          <a:solidFill>
                            <a:srgbClr val="131313"/>
                          </a:solidFill>
                          <a:latin typeface="Trebuchet MS"/>
                          <a:cs typeface="Trebuchet MS"/>
                        </a:rPr>
                        <a:t>                                                   </a:t>
                      </a:r>
                      <a:r>
                        <a:rPr sz="850" b="1" spc="-10" dirty="0">
                          <a:solidFill>
                            <a:srgbClr val="131313"/>
                          </a:solidFill>
                          <a:latin typeface="Trebuchet MS"/>
                          <a:cs typeface="Trebuchet MS"/>
                        </a:rPr>
                        <a:t>Campus</a:t>
                      </a:r>
                      <a:r>
                        <a:rPr lang="en-IN" sz="850" b="1" spc="-10" dirty="0">
                          <a:solidFill>
                            <a:srgbClr val="131313"/>
                          </a:solidFill>
                          <a:latin typeface="Trebuchet MS"/>
                          <a:cs typeface="Trebuchet MS"/>
                        </a:rPr>
                        <a:t> Hustlers    </a:t>
                      </a:r>
                      <a:endParaRPr sz="850" dirty="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 marL="438150">
                        <a:lnSpc>
                          <a:spcPct val="100000"/>
                        </a:lnSpc>
                      </a:pPr>
                      <a:r>
                        <a:rPr sz="850" b="1" spc="-30" dirty="0">
                          <a:solidFill>
                            <a:srgbClr val="131313"/>
                          </a:solidFill>
                          <a:latin typeface="Trebuchet MS"/>
                          <a:cs typeface="Trebuchet MS"/>
                        </a:rPr>
                        <a:t>Metro</a:t>
                      </a:r>
                      <a:r>
                        <a:rPr sz="850" b="1" spc="-25" dirty="0">
                          <a:solidFill>
                            <a:srgbClr val="131313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131313"/>
                          </a:solidFill>
                          <a:latin typeface="Trebuchet MS"/>
                          <a:cs typeface="Trebuchet MS"/>
                        </a:rPr>
                        <a:t>Grinders</a:t>
                      </a:r>
                      <a:endParaRPr sz="850" dirty="0">
                        <a:latin typeface="Trebuchet MS"/>
                        <a:cs typeface="Trebuchet MS"/>
                      </a:endParaRPr>
                    </a:p>
                  </a:txBody>
                  <a:tcPr marL="0" marR="0" marT="7620" marB="0">
                    <a:lnL w="19050">
                      <a:solidFill>
                        <a:srgbClr val="E2DFDA"/>
                      </a:solidFill>
                      <a:prstDash val="sysDash"/>
                    </a:lnL>
                    <a:lnR w="12700">
                      <a:solidFill>
                        <a:srgbClr val="E2DFDA"/>
                      </a:solidFill>
                      <a:prstDash val="solid"/>
                    </a:lnR>
                    <a:lnT w="12700">
                      <a:solidFill>
                        <a:srgbClr val="E2DFDA"/>
                      </a:solidFill>
                      <a:prstDash val="solid"/>
                    </a:lnT>
                    <a:lnB w="19050">
                      <a:solidFill>
                        <a:srgbClr val="E2DFDA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9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 marL="953769">
                        <a:lnSpc>
                          <a:spcPct val="100000"/>
                        </a:lnSpc>
                      </a:pPr>
                      <a:r>
                        <a:rPr sz="850" b="1" spc="-60" dirty="0">
                          <a:solidFill>
                            <a:srgbClr val="131313"/>
                          </a:solidFill>
                          <a:latin typeface="Trebuchet MS"/>
                          <a:cs typeface="Trebuchet MS"/>
                        </a:rPr>
                        <a:t>Weekend</a:t>
                      </a:r>
                      <a:r>
                        <a:rPr sz="850" b="1" spc="-25" dirty="0">
                          <a:solidFill>
                            <a:srgbClr val="131313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50" b="1" spc="-55" dirty="0">
                          <a:solidFill>
                            <a:srgbClr val="131313"/>
                          </a:solidFill>
                          <a:latin typeface="Trebuchet MS"/>
                          <a:cs typeface="Trebuchet MS"/>
                        </a:rPr>
                        <a:t>Social</a:t>
                      </a:r>
                      <a:r>
                        <a:rPr sz="850" b="1" spc="-20" dirty="0">
                          <a:solidFill>
                            <a:srgbClr val="131313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131313"/>
                          </a:solidFill>
                          <a:latin typeface="Trebuchet MS"/>
                          <a:cs typeface="Trebuchet MS"/>
                        </a:rPr>
                        <a:t>Energizers</a:t>
                      </a:r>
                      <a:endParaRPr sz="850" dirty="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sz="950" b="1" spc="-10" dirty="0">
                          <a:solidFill>
                            <a:srgbClr val="6D6A67"/>
                          </a:solidFill>
                          <a:latin typeface="Trebuchet MS"/>
                          <a:cs typeface="Trebuchet MS"/>
                        </a:rPr>
                        <a:t>OPPORTUNISTIC</a:t>
                      </a:r>
                      <a:endParaRPr sz="95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E2DFDA"/>
                      </a:solidFill>
                      <a:prstDash val="solid"/>
                    </a:lnL>
                    <a:lnR w="19050">
                      <a:solidFill>
                        <a:srgbClr val="E2DFDA"/>
                      </a:solidFill>
                      <a:prstDash val="sysDash"/>
                    </a:lnR>
                    <a:lnT w="19050">
                      <a:solidFill>
                        <a:srgbClr val="E2DFDA"/>
                      </a:solidFill>
                      <a:prstDash val="sysDash"/>
                    </a:lnT>
                    <a:lnB w="12700">
                      <a:solidFill>
                        <a:srgbClr val="E2DF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 marL="6769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50" b="1" spc="-65" dirty="0">
                          <a:solidFill>
                            <a:srgbClr val="131313"/>
                          </a:solidFill>
                          <a:latin typeface="Trebuchet MS"/>
                          <a:cs typeface="Trebuchet MS"/>
                        </a:rPr>
                        <a:t>Creator</a:t>
                      </a:r>
                      <a:r>
                        <a:rPr sz="850" b="1" spc="-45" dirty="0">
                          <a:solidFill>
                            <a:srgbClr val="131313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131313"/>
                          </a:solidFill>
                          <a:latin typeface="Trebuchet MS"/>
                          <a:cs typeface="Trebuchet MS"/>
                        </a:rPr>
                        <a:t>&amp;</a:t>
                      </a:r>
                      <a:r>
                        <a:rPr sz="850" b="1" spc="-40" dirty="0">
                          <a:solidFill>
                            <a:srgbClr val="131313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50" b="1" spc="-55" dirty="0">
                          <a:solidFill>
                            <a:srgbClr val="131313"/>
                          </a:solidFill>
                          <a:latin typeface="Trebuchet MS"/>
                          <a:cs typeface="Trebuchet MS"/>
                        </a:rPr>
                        <a:t>Gamer</a:t>
                      </a:r>
                      <a:r>
                        <a:rPr sz="850" b="1" spc="-40" dirty="0">
                          <a:solidFill>
                            <a:srgbClr val="131313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131313"/>
                          </a:solidFill>
                          <a:latin typeface="Trebuchet MS"/>
                          <a:cs typeface="Trebuchet MS"/>
                        </a:rPr>
                        <a:t>Circuit</a:t>
                      </a:r>
                      <a:endParaRPr sz="850" dirty="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sz="950" b="1" spc="-10" dirty="0">
                          <a:solidFill>
                            <a:srgbClr val="D3AE36"/>
                          </a:solidFill>
                          <a:latin typeface="Trebuchet MS"/>
                          <a:cs typeface="Trebuchet MS"/>
                        </a:rPr>
                        <a:t>SELECTIVE</a:t>
                      </a:r>
                      <a:endParaRPr sz="95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9050">
                      <a:solidFill>
                        <a:srgbClr val="E2DFDA"/>
                      </a:solidFill>
                      <a:prstDash val="sysDash"/>
                    </a:lnL>
                    <a:lnR w="12700">
                      <a:solidFill>
                        <a:srgbClr val="E2DFDA"/>
                      </a:solidFill>
                      <a:prstDash val="solid"/>
                    </a:lnR>
                    <a:lnT w="19050">
                      <a:solidFill>
                        <a:srgbClr val="E2DFDA"/>
                      </a:solidFill>
                      <a:prstDash val="sysDash"/>
                    </a:lnT>
                    <a:lnB w="12700">
                      <a:solidFill>
                        <a:srgbClr val="E2DF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915584" y="2377720"/>
            <a:ext cx="196215" cy="1416685"/>
          </a:xfrm>
          <a:prstGeom prst="rect">
            <a:avLst/>
          </a:prstGeom>
        </p:spPr>
        <p:txBody>
          <a:bodyPr vert="vert270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100" spc="445" dirty="0">
                <a:solidFill>
                  <a:srgbClr val="6D6A67"/>
                </a:solidFill>
                <a:latin typeface="Tahoma"/>
                <a:cs typeface="Tahoma"/>
              </a:rPr>
              <a:t>↑</a:t>
            </a:r>
            <a:r>
              <a:rPr sz="1100" spc="-7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6D6A67"/>
                </a:solidFill>
                <a:latin typeface="Tahoma"/>
                <a:cs typeface="Tahoma"/>
              </a:rPr>
              <a:t>Positioning</a:t>
            </a:r>
            <a:r>
              <a:rPr sz="110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6D6A67"/>
                </a:solidFill>
                <a:latin typeface="Tahoma"/>
                <a:cs typeface="Tahoma"/>
              </a:rPr>
              <a:t>/</a:t>
            </a:r>
            <a:r>
              <a:rPr sz="1100" spc="-6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6D6A67"/>
                </a:solidFill>
                <a:latin typeface="Tahoma"/>
                <a:cs typeface="Tahoma"/>
              </a:rPr>
              <a:t>brand</a:t>
            </a:r>
            <a:r>
              <a:rPr sz="110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6D6A67"/>
                </a:solidFill>
                <a:latin typeface="Tahoma"/>
                <a:cs typeface="Tahoma"/>
              </a:rPr>
              <a:t>fit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635240" y="1554480"/>
            <a:ext cx="82550" cy="1143000"/>
          </a:xfrm>
          <a:custGeom>
            <a:avLst/>
            <a:gdLst/>
            <a:ahLst/>
            <a:cxnLst/>
            <a:rect l="l" t="t" r="r" b="b"/>
            <a:pathLst>
              <a:path w="82550" h="1143000">
                <a:moveTo>
                  <a:pt x="82080" y="0"/>
                </a:moveTo>
                <a:lnTo>
                  <a:pt x="0" y="0"/>
                </a:lnTo>
                <a:lnTo>
                  <a:pt x="0" y="1142644"/>
                </a:lnTo>
                <a:lnTo>
                  <a:pt x="41033" y="1142644"/>
                </a:lnTo>
                <a:lnTo>
                  <a:pt x="82080" y="1142644"/>
                </a:lnTo>
                <a:lnTo>
                  <a:pt x="82080" y="0"/>
                </a:lnTo>
                <a:close/>
              </a:path>
            </a:pathLst>
          </a:custGeom>
          <a:solidFill>
            <a:srgbClr val="C70F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635240" y="2971800"/>
            <a:ext cx="82550" cy="1143000"/>
          </a:xfrm>
          <a:custGeom>
            <a:avLst/>
            <a:gdLst/>
            <a:ahLst/>
            <a:cxnLst/>
            <a:rect l="l" t="t" r="r" b="b"/>
            <a:pathLst>
              <a:path w="82550" h="1143000">
                <a:moveTo>
                  <a:pt x="82080" y="0"/>
                </a:moveTo>
                <a:lnTo>
                  <a:pt x="0" y="0"/>
                </a:lnTo>
                <a:lnTo>
                  <a:pt x="0" y="1142644"/>
                </a:lnTo>
                <a:lnTo>
                  <a:pt x="41033" y="1142644"/>
                </a:lnTo>
                <a:lnTo>
                  <a:pt x="82080" y="1142644"/>
                </a:lnTo>
                <a:lnTo>
                  <a:pt x="82080" y="0"/>
                </a:lnTo>
                <a:close/>
              </a:path>
            </a:pathLst>
          </a:custGeom>
          <a:solidFill>
            <a:srgbClr val="D3AE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954874" y="1549336"/>
            <a:ext cx="4410075" cy="2577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635">
              <a:lnSpc>
                <a:spcPct val="100000"/>
              </a:lnSpc>
              <a:spcBef>
                <a:spcPts val="100"/>
              </a:spcBef>
            </a:pPr>
            <a:r>
              <a:rPr sz="1600" b="1" spc="10" dirty="0">
                <a:solidFill>
                  <a:srgbClr val="131313"/>
                </a:solidFill>
                <a:latin typeface="Times New Roman"/>
                <a:cs typeface="Times New Roman"/>
              </a:rPr>
              <a:t>Prioritise</a:t>
            </a:r>
            <a:r>
              <a:rPr sz="1600" b="1" spc="21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600" b="1" spc="-25" dirty="0">
                <a:solidFill>
                  <a:srgbClr val="131313"/>
                </a:solidFill>
                <a:latin typeface="Times New Roman"/>
                <a:cs typeface="Times New Roman"/>
              </a:rPr>
              <a:t>now</a:t>
            </a:r>
            <a:endParaRPr sz="1600" dirty="0">
              <a:latin typeface="Times New Roman"/>
              <a:cs typeface="Times New Roman"/>
            </a:endParaRPr>
          </a:p>
          <a:p>
            <a:pPr marL="889635" marR="5080">
              <a:lnSpc>
                <a:spcPct val="120000"/>
              </a:lnSpc>
            </a:pPr>
            <a:endParaRPr lang="en-IN" sz="1400" spc="-60" dirty="0">
              <a:solidFill>
                <a:srgbClr val="6D6A67"/>
              </a:solidFill>
              <a:latin typeface="Times New Roman"/>
              <a:cs typeface="Times New Roman"/>
            </a:endParaRPr>
          </a:p>
          <a:p>
            <a:pPr marL="889635" marR="5080">
              <a:lnSpc>
                <a:spcPct val="120000"/>
              </a:lnSpc>
            </a:pPr>
            <a:r>
              <a:rPr sz="1250" spc="-60" dirty="0">
                <a:solidFill>
                  <a:srgbClr val="6D6A67"/>
                </a:solidFill>
                <a:latin typeface="Tahoma"/>
                <a:cs typeface="Tahoma"/>
              </a:rPr>
              <a:t>Campus</a:t>
            </a:r>
            <a:r>
              <a:rPr sz="1250" spc="-5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6D6A67"/>
                </a:solidFill>
                <a:latin typeface="Tahoma"/>
                <a:cs typeface="Tahoma"/>
              </a:rPr>
              <a:t>Hustlers</a:t>
            </a:r>
            <a:r>
              <a:rPr sz="1250" spc="-5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6D6A67"/>
                </a:solidFill>
                <a:latin typeface="Tahoma"/>
                <a:cs typeface="Tahoma"/>
              </a:rPr>
              <a:t>&amp;</a:t>
            </a:r>
            <a:r>
              <a:rPr sz="1250" spc="-6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6D6A67"/>
                </a:solidFill>
                <a:latin typeface="Tahoma"/>
                <a:cs typeface="Tahoma"/>
              </a:rPr>
              <a:t>Metro</a:t>
            </a:r>
            <a:r>
              <a:rPr sz="1250" spc="-6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6D6A67"/>
                </a:solidFill>
                <a:latin typeface="Tahoma"/>
                <a:cs typeface="Tahoma"/>
              </a:rPr>
              <a:t>Grinders</a:t>
            </a:r>
            <a:r>
              <a:rPr sz="125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6D6A67"/>
                </a:solidFill>
                <a:latin typeface="Tahoma"/>
                <a:cs typeface="Tahoma"/>
              </a:rPr>
              <a:t>—</a:t>
            </a:r>
            <a:r>
              <a:rPr sz="1250" spc="-55" dirty="0">
                <a:solidFill>
                  <a:srgbClr val="6D6A67"/>
                </a:solidFill>
                <a:latin typeface="Tahoma"/>
                <a:cs typeface="Tahoma"/>
              </a:rPr>
              <a:t> large,</a:t>
            </a:r>
            <a:r>
              <a:rPr sz="125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spc="-60" dirty="0">
                <a:solidFill>
                  <a:srgbClr val="6D6A67"/>
                </a:solidFill>
                <a:latin typeface="Tahoma"/>
                <a:cs typeface="Tahoma"/>
              </a:rPr>
              <a:t>fast-</a:t>
            </a:r>
            <a:r>
              <a:rPr sz="1250" spc="-55" dirty="0">
                <a:solidFill>
                  <a:srgbClr val="6D6A67"/>
                </a:solidFill>
                <a:latin typeface="Tahoma"/>
                <a:cs typeface="Tahoma"/>
              </a:rPr>
              <a:t>growing,</a:t>
            </a:r>
            <a:r>
              <a:rPr sz="1250" spc="-7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6D6A67"/>
                </a:solidFill>
                <a:latin typeface="Tahoma"/>
                <a:cs typeface="Tahoma"/>
              </a:rPr>
              <a:t>and </a:t>
            </a:r>
            <a:r>
              <a:rPr sz="1250" spc="-40" dirty="0">
                <a:solidFill>
                  <a:srgbClr val="6D6A67"/>
                </a:solidFill>
                <a:latin typeface="Tahoma"/>
                <a:cs typeface="Tahoma"/>
              </a:rPr>
              <a:t>closest</a:t>
            </a:r>
            <a:r>
              <a:rPr sz="1250" spc="-6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6D6A67"/>
                </a:solidFill>
                <a:latin typeface="Tahoma"/>
                <a:cs typeface="Tahoma"/>
              </a:rPr>
              <a:t>to</a:t>
            </a:r>
            <a:r>
              <a:rPr sz="1250" spc="-3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6D6A67"/>
                </a:solidFill>
                <a:latin typeface="Tahoma"/>
                <a:cs typeface="Tahoma"/>
              </a:rPr>
              <a:t>Beats’</a:t>
            </a:r>
            <a:r>
              <a:rPr sz="1250" spc="-4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6D6A67"/>
                </a:solidFill>
                <a:latin typeface="Tahoma"/>
                <a:cs typeface="Tahoma"/>
              </a:rPr>
              <a:t>"cognitive</a:t>
            </a:r>
            <a:r>
              <a:rPr sz="1250" spc="-4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spc="-50" dirty="0">
                <a:solidFill>
                  <a:srgbClr val="6D6A67"/>
                </a:solidFill>
                <a:latin typeface="Tahoma"/>
                <a:cs typeface="Tahoma"/>
              </a:rPr>
              <a:t>energy"</a:t>
            </a:r>
            <a:r>
              <a:rPr sz="1250" spc="-5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6D6A67"/>
                </a:solidFill>
                <a:latin typeface="Tahoma"/>
                <a:cs typeface="Tahoma"/>
              </a:rPr>
              <a:t>positioning.</a:t>
            </a:r>
            <a:endParaRPr sz="12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850" dirty="0">
              <a:latin typeface="Trebuchet MS"/>
              <a:cs typeface="Trebuchet MS"/>
            </a:endParaRPr>
          </a:p>
          <a:p>
            <a:pPr marL="889635">
              <a:lnSpc>
                <a:spcPct val="100000"/>
              </a:lnSpc>
            </a:pPr>
            <a:r>
              <a:rPr sz="1600" b="1" dirty="0">
                <a:solidFill>
                  <a:srgbClr val="131313"/>
                </a:solidFill>
                <a:latin typeface="Times New Roman"/>
                <a:cs typeface="Times New Roman"/>
              </a:rPr>
              <a:t>Invest</a:t>
            </a:r>
            <a:r>
              <a:rPr sz="1600" b="1" spc="114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131313"/>
                </a:solidFill>
                <a:latin typeface="Times New Roman"/>
                <a:cs typeface="Times New Roman"/>
              </a:rPr>
              <a:t>selectively</a:t>
            </a:r>
            <a:endParaRPr sz="1600" dirty="0">
              <a:latin typeface="Times New Roman"/>
              <a:cs typeface="Times New Roman"/>
            </a:endParaRPr>
          </a:p>
          <a:p>
            <a:pPr marL="889635" marR="227329">
              <a:lnSpc>
                <a:spcPct val="120000"/>
              </a:lnSpc>
            </a:pPr>
            <a:endParaRPr lang="en-IN" sz="1400" spc="-45" dirty="0">
              <a:solidFill>
                <a:srgbClr val="6D6A67"/>
              </a:solidFill>
              <a:latin typeface="Times New Roman"/>
              <a:cs typeface="Times New Roman"/>
            </a:endParaRPr>
          </a:p>
          <a:p>
            <a:pPr marL="889635" marR="227329">
              <a:lnSpc>
                <a:spcPct val="120000"/>
              </a:lnSpc>
            </a:pPr>
            <a:r>
              <a:rPr sz="1250" spc="-45" dirty="0">
                <a:solidFill>
                  <a:srgbClr val="6D6A67"/>
                </a:solidFill>
                <a:latin typeface="Tahoma"/>
                <a:cs typeface="Tahoma"/>
              </a:rPr>
              <a:t>Creator</a:t>
            </a:r>
            <a:r>
              <a:rPr sz="125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6D6A67"/>
                </a:solidFill>
                <a:latin typeface="Tahoma"/>
                <a:cs typeface="Tahoma"/>
              </a:rPr>
              <a:t>&amp;</a:t>
            </a:r>
            <a:r>
              <a:rPr sz="1250" spc="-7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6D6A67"/>
                </a:solidFill>
                <a:latin typeface="Tahoma"/>
                <a:cs typeface="Tahoma"/>
              </a:rPr>
              <a:t>Gamer</a:t>
            </a:r>
            <a:r>
              <a:rPr sz="125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6D6A67"/>
                </a:solidFill>
                <a:latin typeface="Tahoma"/>
                <a:cs typeface="Tahoma"/>
              </a:rPr>
              <a:t>Circuit</a:t>
            </a:r>
            <a:r>
              <a:rPr sz="1250" spc="-7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6D6A67"/>
                </a:solidFill>
                <a:latin typeface="Tahoma"/>
                <a:cs typeface="Tahoma"/>
              </a:rPr>
              <a:t>—</a:t>
            </a:r>
            <a:r>
              <a:rPr sz="125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6D6A67"/>
                </a:solidFill>
                <a:latin typeface="Tahoma"/>
                <a:cs typeface="Tahoma"/>
              </a:rPr>
              <a:t>smaller</a:t>
            </a:r>
            <a:r>
              <a:rPr sz="1250" spc="-60" dirty="0">
                <a:solidFill>
                  <a:srgbClr val="6D6A67"/>
                </a:solidFill>
                <a:latin typeface="Tahoma"/>
                <a:cs typeface="Tahoma"/>
              </a:rPr>
              <a:t> base, </a:t>
            </a:r>
            <a:r>
              <a:rPr sz="1250" spc="-35" dirty="0">
                <a:solidFill>
                  <a:srgbClr val="6D6A67"/>
                </a:solidFill>
                <a:latin typeface="Tahoma"/>
                <a:cs typeface="Tahoma"/>
              </a:rPr>
              <a:t>but</a:t>
            </a:r>
            <a:r>
              <a:rPr sz="1250" spc="-6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spc="-55" dirty="0">
                <a:solidFill>
                  <a:srgbClr val="6D6A67"/>
                </a:solidFill>
                <a:latin typeface="Tahoma"/>
                <a:cs typeface="Tahoma"/>
              </a:rPr>
              <a:t>strong</a:t>
            </a:r>
            <a:r>
              <a:rPr sz="125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6D6A67"/>
                </a:solidFill>
                <a:latin typeface="Tahoma"/>
                <a:cs typeface="Tahoma"/>
              </a:rPr>
              <a:t>brand </a:t>
            </a:r>
            <a:r>
              <a:rPr sz="1250" spc="-60" dirty="0">
                <a:solidFill>
                  <a:srgbClr val="6D6A67"/>
                </a:solidFill>
                <a:latin typeface="Tahoma"/>
                <a:cs typeface="Tahoma"/>
              </a:rPr>
              <a:t>advocacy</a:t>
            </a:r>
            <a:r>
              <a:rPr sz="1250" spc="-5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6D6A67"/>
                </a:solidFill>
                <a:latin typeface="Tahoma"/>
                <a:cs typeface="Tahoma"/>
              </a:rPr>
              <a:t>value</a:t>
            </a:r>
            <a:r>
              <a:rPr sz="1250" spc="-5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6D6A67"/>
                </a:solidFill>
                <a:latin typeface="Tahoma"/>
                <a:cs typeface="Tahoma"/>
              </a:rPr>
              <a:t>through</a:t>
            </a:r>
            <a:r>
              <a:rPr sz="1250" spc="-5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6D6A67"/>
                </a:solidFill>
                <a:latin typeface="Tahoma"/>
                <a:cs typeface="Tahoma"/>
              </a:rPr>
              <a:t>sponsorships.</a:t>
            </a:r>
            <a:endParaRPr sz="125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635240" y="4389120"/>
            <a:ext cx="82550" cy="1143000"/>
          </a:xfrm>
          <a:custGeom>
            <a:avLst/>
            <a:gdLst/>
            <a:ahLst/>
            <a:cxnLst/>
            <a:rect l="l" t="t" r="r" b="b"/>
            <a:pathLst>
              <a:path w="82550" h="1143000">
                <a:moveTo>
                  <a:pt x="82080" y="0"/>
                </a:moveTo>
                <a:lnTo>
                  <a:pt x="0" y="0"/>
                </a:lnTo>
                <a:lnTo>
                  <a:pt x="0" y="1142644"/>
                </a:lnTo>
                <a:lnTo>
                  <a:pt x="41033" y="1142644"/>
                </a:lnTo>
                <a:lnTo>
                  <a:pt x="82080" y="1142644"/>
                </a:lnTo>
                <a:lnTo>
                  <a:pt x="82080" y="0"/>
                </a:lnTo>
                <a:close/>
              </a:path>
            </a:pathLst>
          </a:custGeom>
          <a:solidFill>
            <a:srgbClr val="6D6A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832420" y="4383976"/>
            <a:ext cx="3492500" cy="9241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131313"/>
                </a:solidFill>
                <a:latin typeface="Times New Roman"/>
                <a:cs typeface="Times New Roman"/>
              </a:rPr>
              <a:t>Opportunistic</a:t>
            </a:r>
            <a:endParaRPr lang="en-IN" sz="1600" b="1" spc="-10" dirty="0">
              <a:solidFill>
                <a:srgbClr val="131313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 marR="5080">
              <a:lnSpc>
                <a:spcPct val="120000"/>
              </a:lnSpc>
            </a:pPr>
            <a:r>
              <a:rPr sz="1250" spc="-55" dirty="0">
                <a:solidFill>
                  <a:srgbClr val="6D6A67"/>
                </a:solidFill>
                <a:latin typeface="Tahoma"/>
                <a:cs typeface="Tahoma"/>
              </a:rPr>
              <a:t>Weekend</a:t>
            </a:r>
            <a:r>
              <a:rPr sz="1250" spc="-3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6D6A67"/>
                </a:solidFill>
                <a:latin typeface="Tahoma"/>
                <a:cs typeface="Tahoma"/>
              </a:rPr>
              <a:t>Social</a:t>
            </a:r>
            <a:r>
              <a:rPr sz="1250" spc="-55" dirty="0">
                <a:solidFill>
                  <a:srgbClr val="6D6A67"/>
                </a:solidFill>
                <a:latin typeface="Tahoma"/>
                <a:cs typeface="Tahoma"/>
              </a:rPr>
              <a:t> Energizers</a:t>
            </a:r>
            <a:r>
              <a:rPr sz="1250" spc="-4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6D6A67"/>
                </a:solidFill>
                <a:latin typeface="Tahoma"/>
                <a:cs typeface="Tahoma"/>
              </a:rPr>
              <a:t>—</a:t>
            </a:r>
            <a:r>
              <a:rPr sz="1250" spc="-4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6D6A67"/>
                </a:solidFill>
                <a:latin typeface="Tahoma"/>
                <a:cs typeface="Tahoma"/>
              </a:rPr>
              <a:t>tactical,</a:t>
            </a:r>
            <a:r>
              <a:rPr sz="1250" spc="-45" dirty="0">
                <a:solidFill>
                  <a:srgbClr val="6D6A67"/>
                </a:solidFill>
                <a:latin typeface="Tahoma"/>
                <a:cs typeface="Tahoma"/>
              </a:rPr>
              <a:t> occasion-led</a:t>
            </a:r>
            <a:r>
              <a:rPr sz="1250" spc="-5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6D6A67"/>
                </a:solidFill>
                <a:latin typeface="Tahoma"/>
                <a:cs typeface="Tahoma"/>
              </a:rPr>
              <a:t>activation </a:t>
            </a:r>
            <a:r>
              <a:rPr sz="1250" spc="-40" dirty="0">
                <a:solidFill>
                  <a:srgbClr val="6D6A67"/>
                </a:solidFill>
                <a:latin typeface="Tahoma"/>
                <a:cs typeface="Tahoma"/>
              </a:rPr>
              <a:t>rather</a:t>
            </a:r>
            <a:r>
              <a:rPr sz="1250" spc="-5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6D6A67"/>
                </a:solidFill>
                <a:latin typeface="Tahoma"/>
                <a:cs typeface="Tahoma"/>
              </a:rPr>
              <a:t>than</a:t>
            </a:r>
            <a:r>
              <a:rPr sz="1250" spc="-55" dirty="0">
                <a:solidFill>
                  <a:srgbClr val="6D6A67"/>
                </a:solidFill>
                <a:latin typeface="Tahoma"/>
                <a:cs typeface="Tahoma"/>
              </a:rPr>
              <a:t> always-on</a:t>
            </a:r>
            <a:r>
              <a:rPr sz="1250" spc="-5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6D6A67"/>
                </a:solidFill>
                <a:latin typeface="Tahoma"/>
                <a:cs typeface="Tahoma"/>
              </a:rPr>
              <a:t>spend.</a:t>
            </a:r>
            <a:endParaRPr sz="125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4143" y="6584301"/>
            <a:ext cx="2338489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r>
              <a:rPr sz="900" spc="-5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900" spc="-5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900" spc="-5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Consumer</a:t>
            </a:r>
            <a:r>
              <a:rPr sz="900" spc="-5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sz="900" spc="-5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2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</a:t>
            </a:r>
            <a:r>
              <a:rPr sz="900" spc="-6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2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831857" y="6584302"/>
            <a:ext cx="2360388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Budweiser</a:t>
            </a:r>
            <a:r>
              <a:rPr sz="900" spc="-5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Beats</a:t>
            </a:r>
            <a:r>
              <a:rPr sz="900" spc="-5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900" spc="-5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5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India</a:t>
            </a:r>
            <a:r>
              <a:rPr sz="900" spc="-4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3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Growth</a:t>
            </a:r>
            <a:r>
              <a:rPr sz="900" spc="-5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3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Strategy</a:t>
            </a:r>
            <a:endParaRPr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F80A03-3D9E-14D3-8D3D-EDD67368883B}"/>
              </a:ext>
            </a:extLst>
          </p:cNvPr>
          <p:cNvSpPr txBox="1"/>
          <p:nvPr/>
        </p:nvSpPr>
        <p:spPr>
          <a:xfrm>
            <a:off x="2782633" y="5877180"/>
            <a:ext cx="2322767" cy="271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Category demand &amp; growth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400" y="381000"/>
            <a:ext cx="3276600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CC0523"/>
                </a:solidFill>
                <a:latin typeface="Arial"/>
                <a:cs typeface="Arial"/>
              </a:rPr>
              <a:t>REGIONAL</a:t>
            </a:r>
            <a:r>
              <a:rPr sz="1250" b="1" spc="-5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CC0523"/>
                </a:solidFill>
                <a:latin typeface="Arial"/>
                <a:cs typeface="Arial"/>
              </a:rPr>
              <a:t>OPPORTUNITY ANALYSIS </a:t>
            </a:r>
            <a:r>
              <a:rPr lang="en-IN" sz="1250" b="1" dirty="0">
                <a:solidFill>
                  <a:srgbClr val="CC0523"/>
                </a:solidFill>
                <a:latin typeface="Arial"/>
                <a:cs typeface="Arial"/>
              </a:rPr>
              <a:t>-</a:t>
            </a:r>
            <a:r>
              <a:rPr sz="1250" b="1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250" b="1" spc="-50" dirty="0">
                <a:solidFill>
                  <a:srgbClr val="CC0523"/>
                </a:solidFill>
                <a:latin typeface="Arial"/>
                <a:cs typeface="Arial"/>
              </a:rPr>
              <a:t>1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41414"/>
                </a:solidFill>
              </a:rPr>
              <a:t>City</a:t>
            </a:r>
            <a:r>
              <a:rPr spc="-75" dirty="0">
                <a:solidFill>
                  <a:srgbClr val="141414"/>
                </a:solidFill>
              </a:rPr>
              <a:t> </a:t>
            </a:r>
            <a:r>
              <a:rPr dirty="0">
                <a:solidFill>
                  <a:srgbClr val="141414"/>
                </a:solidFill>
              </a:rPr>
              <a:t>Prioritization:</a:t>
            </a:r>
            <a:r>
              <a:rPr spc="-70" dirty="0">
                <a:solidFill>
                  <a:srgbClr val="141414"/>
                </a:solidFill>
              </a:rPr>
              <a:t> </a:t>
            </a:r>
            <a:r>
              <a:rPr dirty="0">
                <a:solidFill>
                  <a:srgbClr val="141414"/>
                </a:solidFill>
              </a:rPr>
              <a:t>Start</a:t>
            </a:r>
            <a:r>
              <a:rPr spc="-70" dirty="0">
                <a:solidFill>
                  <a:srgbClr val="141414"/>
                </a:solidFill>
              </a:rPr>
              <a:t> </a:t>
            </a:r>
            <a:r>
              <a:rPr dirty="0">
                <a:solidFill>
                  <a:srgbClr val="141414"/>
                </a:solidFill>
              </a:rPr>
              <a:t>Where</a:t>
            </a:r>
            <a:r>
              <a:rPr spc="-70" dirty="0">
                <a:solidFill>
                  <a:srgbClr val="141414"/>
                </a:solidFill>
              </a:rPr>
              <a:t> </a:t>
            </a:r>
            <a:r>
              <a:rPr dirty="0">
                <a:solidFill>
                  <a:srgbClr val="141414"/>
                </a:solidFill>
              </a:rPr>
              <a:t>Digital</a:t>
            </a:r>
            <a:r>
              <a:rPr spc="-70" dirty="0">
                <a:solidFill>
                  <a:srgbClr val="141414"/>
                </a:solidFill>
              </a:rPr>
              <a:t> </a:t>
            </a:r>
            <a:r>
              <a:rPr dirty="0">
                <a:solidFill>
                  <a:srgbClr val="141414"/>
                </a:solidFill>
              </a:rPr>
              <a:t>Availability</a:t>
            </a:r>
            <a:r>
              <a:rPr spc="-70" dirty="0">
                <a:solidFill>
                  <a:srgbClr val="141414"/>
                </a:solidFill>
              </a:rPr>
              <a:t> </a:t>
            </a:r>
            <a:r>
              <a:rPr dirty="0">
                <a:solidFill>
                  <a:srgbClr val="141414"/>
                </a:solidFill>
              </a:rPr>
              <a:t>Is</a:t>
            </a:r>
            <a:r>
              <a:rPr spc="-75" dirty="0">
                <a:solidFill>
                  <a:srgbClr val="141414"/>
                </a:solidFill>
              </a:rPr>
              <a:t> </a:t>
            </a:r>
            <a:r>
              <a:rPr spc="-10" dirty="0">
                <a:solidFill>
                  <a:srgbClr val="141414"/>
                </a:solidFill>
              </a:rPr>
              <a:t>Densest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3400" y="1181100"/>
            <a:ext cx="65246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Quick-commerce</a:t>
            </a:r>
            <a:r>
              <a:rPr sz="1100" i="1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footprint</a:t>
            </a:r>
            <a:r>
              <a:rPr sz="1100" i="1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is</a:t>
            </a:r>
            <a:r>
              <a:rPr sz="1100" i="1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1100" i="1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measurable</a:t>
            </a:r>
            <a:r>
              <a:rPr sz="1100" i="1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first</a:t>
            </a:r>
            <a:r>
              <a:rPr sz="1100" i="1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filter;</a:t>
            </a:r>
            <a:r>
              <a:rPr sz="1100" i="1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consumer</a:t>
            </a:r>
            <a:r>
              <a:rPr sz="1100" i="1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opportunity</a:t>
            </a:r>
            <a:r>
              <a:rPr sz="1100" i="1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is</a:t>
            </a:r>
            <a:r>
              <a:rPr sz="1100" i="1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1100" i="1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strategic</a:t>
            </a:r>
            <a:r>
              <a:rPr sz="1100" i="1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second</a:t>
            </a:r>
            <a:r>
              <a:rPr sz="1100" i="1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666666"/>
                </a:solidFill>
                <a:latin typeface="Arial"/>
                <a:cs typeface="Arial"/>
              </a:rPr>
              <a:t>filter.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8800" y="1866900"/>
            <a:ext cx="5911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41414"/>
                </a:solidFill>
                <a:latin typeface="Arial"/>
                <a:cs typeface="Arial"/>
              </a:rPr>
              <a:t>Bengaluru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898650" y="1835150"/>
            <a:ext cx="6362700" cy="266700"/>
            <a:chOff x="1898650" y="1835150"/>
            <a:chExt cx="6362700" cy="266700"/>
          </a:xfrm>
        </p:grpSpPr>
        <p:sp>
          <p:nvSpPr>
            <p:cNvPr id="7" name="object 7"/>
            <p:cNvSpPr/>
            <p:nvPr/>
          </p:nvSpPr>
          <p:spPr>
            <a:xfrm>
              <a:off x="1905000" y="1841500"/>
              <a:ext cx="6350000" cy="254000"/>
            </a:xfrm>
            <a:custGeom>
              <a:avLst/>
              <a:gdLst/>
              <a:ahLst/>
              <a:cxnLst/>
              <a:rect l="l" t="t" r="r" b="b"/>
              <a:pathLst>
                <a:path w="6350000" h="254000">
                  <a:moveTo>
                    <a:pt x="0" y="254000"/>
                  </a:moveTo>
                  <a:lnTo>
                    <a:pt x="6350000" y="254000"/>
                  </a:lnTo>
                  <a:lnTo>
                    <a:pt x="6350000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ln w="12700">
              <a:solidFill>
                <a:srgbClr val="E8E5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05000" y="1841500"/>
              <a:ext cx="6350000" cy="254000"/>
            </a:xfrm>
            <a:custGeom>
              <a:avLst/>
              <a:gdLst/>
              <a:ahLst/>
              <a:cxnLst/>
              <a:rect l="l" t="t" r="r" b="b"/>
              <a:pathLst>
                <a:path w="6350000" h="254000">
                  <a:moveTo>
                    <a:pt x="6350000" y="0"/>
                  </a:moveTo>
                  <a:lnTo>
                    <a:pt x="0" y="0"/>
                  </a:lnTo>
                  <a:lnTo>
                    <a:pt x="0" y="254000"/>
                  </a:lnTo>
                  <a:lnTo>
                    <a:pt x="6350000" y="254000"/>
                  </a:lnTo>
                  <a:lnTo>
                    <a:pt x="6350000" y="0"/>
                  </a:lnTo>
                  <a:close/>
                </a:path>
              </a:pathLst>
            </a:custGeom>
            <a:solidFill>
              <a:srgbClr val="CC05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05000" y="1841500"/>
              <a:ext cx="6350000" cy="254000"/>
            </a:xfrm>
            <a:custGeom>
              <a:avLst/>
              <a:gdLst/>
              <a:ahLst/>
              <a:cxnLst/>
              <a:rect l="l" t="t" r="r" b="b"/>
              <a:pathLst>
                <a:path w="6350000" h="254000">
                  <a:moveTo>
                    <a:pt x="0" y="254000"/>
                  </a:moveTo>
                  <a:lnTo>
                    <a:pt x="6350000" y="254000"/>
                  </a:lnTo>
                  <a:lnTo>
                    <a:pt x="6350000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ln w="12700">
              <a:solidFill>
                <a:srgbClr val="CC05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369300" y="1892300"/>
            <a:ext cx="216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141414"/>
                </a:solidFill>
                <a:latin typeface="Arial"/>
                <a:cs typeface="Arial"/>
              </a:rPr>
              <a:t>629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8800" y="2324100"/>
            <a:ext cx="6292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141414"/>
                </a:solidFill>
                <a:latin typeface="Arial"/>
                <a:cs typeface="Arial"/>
              </a:rPr>
              <a:t>Delhi </a:t>
            </a:r>
            <a:r>
              <a:rPr sz="900" b="1" spc="-20" dirty="0">
                <a:solidFill>
                  <a:srgbClr val="141414"/>
                </a:solidFill>
                <a:latin typeface="Arial"/>
                <a:cs typeface="Arial"/>
              </a:rPr>
              <a:t>NCR*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898650" y="2292350"/>
            <a:ext cx="6362700" cy="266700"/>
            <a:chOff x="1898650" y="2292350"/>
            <a:chExt cx="6362700" cy="266700"/>
          </a:xfrm>
        </p:grpSpPr>
        <p:sp>
          <p:nvSpPr>
            <p:cNvPr id="13" name="object 13"/>
            <p:cNvSpPr/>
            <p:nvPr/>
          </p:nvSpPr>
          <p:spPr>
            <a:xfrm>
              <a:off x="6690214" y="2298700"/>
              <a:ext cx="1565275" cy="254000"/>
            </a:xfrm>
            <a:custGeom>
              <a:avLst/>
              <a:gdLst/>
              <a:ahLst/>
              <a:cxnLst/>
              <a:rect l="l" t="t" r="r" b="b"/>
              <a:pathLst>
                <a:path w="1565275" h="254000">
                  <a:moveTo>
                    <a:pt x="0" y="254000"/>
                  </a:moveTo>
                  <a:lnTo>
                    <a:pt x="1564785" y="254000"/>
                  </a:lnTo>
                  <a:lnTo>
                    <a:pt x="1564785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E8E5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05000" y="2298700"/>
              <a:ext cx="6350000" cy="254000"/>
            </a:xfrm>
            <a:custGeom>
              <a:avLst/>
              <a:gdLst/>
              <a:ahLst/>
              <a:cxnLst/>
              <a:rect l="l" t="t" r="r" b="b"/>
              <a:pathLst>
                <a:path w="6350000" h="254000">
                  <a:moveTo>
                    <a:pt x="0" y="254000"/>
                  </a:moveTo>
                  <a:lnTo>
                    <a:pt x="6350000" y="254000"/>
                  </a:lnTo>
                  <a:lnTo>
                    <a:pt x="6350000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ln w="12700">
              <a:solidFill>
                <a:srgbClr val="E8E5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05000" y="2298700"/>
              <a:ext cx="4785360" cy="254000"/>
            </a:xfrm>
            <a:custGeom>
              <a:avLst/>
              <a:gdLst/>
              <a:ahLst/>
              <a:cxnLst/>
              <a:rect l="l" t="t" r="r" b="b"/>
              <a:pathLst>
                <a:path w="4785359" h="254000">
                  <a:moveTo>
                    <a:pt x="4785214" y="0"/>
                  </a:moveTo>
                  <a:lnTo>
                    <a:pt x="0" y="0"/>
                  </a:lnTo>
                  <a:lnTo>
                    <a:pt x="0" y="254000"/>
                  </a:lnTo>
                  <a:lnTo>
                    <a:pt x="4785214" y="254000"/>
                  </a:lnTo>
                  <a:lnTo>
                    <a:pt x="4785214" y="0"/>
                  </a:lnTo>
                  <a:close/>
                </a:path>
              </a:pathLst>
            </a:custGeom>
            <a:solidFill>
              <a:srgbClr val="CC05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05000" y="2298700"/>
              <a:ext cx="4785360" cy="254000"/>
            </a:xfrm>
            <a:custGeom>
              <a:avLst/>
              <a:gdLst/>
              <a:ahLst/>
              <a:cxnLst/>
              <a:rect l="l" t="t" r="r" b="b"/>
              <a:pathLst>
                <a:path w="4785359" h="254000">
                  <a:moveTo>
                    <a:pt x="0" y="254000"/>
                  </a:moveTo>
                  <a:lnTo>
                    <a:pt x="4785214" y="254000"/>
                  </a:lnTo>
                  <a:lnTo>
                    <a:pt x="4785214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ln w="12700">
              <a:solidFill>
                <a:srgbClr val="CC05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369300" y="2349500"/>
            <a:ext cx="216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141414"/>
                </a:solidFill>
                <a:latin typeface="Arial"/>
                <a:cs typeface="Arial"/>
              </a:rPr>
              <a:t>474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8800" y="2781300"/>
            <a:ext cx="6165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41414"/>
                </a:solidFill>
                <a:latin typeface="Arial"/>
                <a:cs typeface="Arial"/>
              </a:rPr>
              <a:t>Hyderabad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898650" y="2749550"/>
            <a:ext cx="6362700" cy="266700"/>
            <a:chOff x="1898650" y="2749550"/>
            <a:chExt cx="6362700" cy="266700"/>
          </a:xfrm>
        </p:grpSpPr>
        <p:sp>
          <p:nvSpPr>
            <p:cNvPr id="20" name="object 20"/>
            <p:cNvSpPr/>
            <p:nvPr/>
          </p:nvSpPr>
          <p:spPr>
            <a:xfrm>
              <a:off x="6003728" y="2755900"/>
              <a:ext cx="2251710" cy="254000"/>
            </a:xfrm>
            <a:custGeom>
              <a:avLst/>
              <a:gdLst/>
              <a:ahLst/>
              <a:cxnLst/>
              <a:rect l="l" t="t" r="r" b="b"/>
              <a:pathLst>
                <a:path w="2251709" h="254000">
                  <a:moveTo>
                    <a:pt x="0" y="254000"/>
                  </a:moveTo>
                  <a:lnTo>
                    <a:pt x="2251271" y="254000"/>
                  </a:lnTo>
                  <a:lnTo>
                    <a:pt x="2251271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E8E5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05000" y="2755900"/>
              <a:ext cx="6350000" cy="254000"/>
            </a:xfrm>
            <a:custGeom>
              <a:avLst/>
              <a:gdLst/>
              <a:ahLst/>
              <a:cxnLst/>
              <a:rect l="l" t="t" r="r" b="b"/>
              <a:pathLst>
                <a:path w="6350000" h="254000">
                  <a:moveTo>
                    <a:pt x="0" y="254000"/>
                  </a:moveTo>
                  <a:lnTo>
                    <a:pt x="6350000" y="254000"/>
                  </a:lnTo>
                  <a:lnTo>
                    <a:pt x="6350000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ln w="12700">
              <a:solidFill>
                <a:srgbClr val="E8E5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05000" y="2755900"/>
              <a:ext cx="4098925" cy="254000"/>
            </a:xfrm>
            <a:custGeom>
              <a:avLst/>
              <a:gdLst/>
              <a:ahLst/>
              <a:cxnLst/>
              <a:rect l="l" t="t" r="r" b="b"/>
              <a:pathLst>
                <a:path w="4098925" h="254000">
                  <a:moveTo>
                    <a:pt x="4098728" y="0"/>
                  </a:moveTo>
                  <a:lnTo>
                    <a:pt x="0" y="0"/>
                  </a:lnTo>
                  <a:lnTo>
                    <a:pt x="0" y="254000"/>
                  </a:lnTo>
                  <a:lnTo>
                    <a:pt x="4098728" y="254000"/>
                  </a:lnTo>
                  <a:lnTo>
                    <a:pt x="4098728" y="0"/>
                  </a:lnTo>
                  <a:close/>
                </a:path>
              </a:pathLst>
            </a:custGeom>
            <a:solidFill>
              <a:srgbClr val="CC05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05000" y="2755900"/>
              <a:ext cx="4098925" cy="254000"/>
            </a:xfrm>
            <a:custGeom>
              <a:avLst/>
              <a:gdLst/>
              <a:ahLst/>
              <a:cxnLst/>
              <a:rect l="l" t="t" r="r" b="b"/>
              <a:pathLst>
                <a:path w="4098925" h="254000">
                  <a:moveTo>
                    <a:pt x="0" y="254000"/>
                  </a:moveTo>
                  <a:lnTo>
                    <a:pt x="4098728" y="254000"/>
                  </a:lnTo>
                  <a:lnTo>
                    <a:pt x="4098728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ln w="12700">
              <a:solidFill>
                <a:srgbClr val="CC05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369300" y="2806700"/>
            <a:ext cx="216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141414"/>
                </a:solidFill>
                <a:latin typeface="Arial"/>
                <a:cs typeface="Arial"/>
              </a:rPr>
              <a:t>406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8800" y="3238500"/>
            <a:ext cx="47688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41414"/>
                </a:solidFill>
                <a:latin typeface="Arial"/>
                <a:cs typeface="Arial"/>
              </a:rPr>
              <a:t>Chennai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898650" y="3206750"/>
            <a:ext cx="6362700" cy="266700"/>
            <a:chOff x="1898650" y="3206750"/>
            <a:chExt cx="6362700" cy="266700"/>
          </a:xfrm>
        </p:grpSpPr>
        <p:sp>
          <p:nvSpPr>
            <p:cNvPr id="27" name="object 27"/>
            <p:cNvSpPr/>
            <p:nvPr/>
          </p:nvSpPr>
          <p:spPr>
            <a:xfrm>
              <a:off x="5135524" y="3213100"/>
              <a:ext cx="3119755" cy="254000"/>
            </a:xfrm>
            <a:custGeom>
              <a:avLst/>
              <a:gdLst/>
              <a:ahLst/>
              <a:cxnLst/>
              <a:rect l="l" t="t" r="r" b="b"/>
              <a:pathLst>
                <a:path w="3119754" h="254000">
                  <a:moveTo>
                    <a:pt x="0" y="254000"/>
                  </a:moveTo>
                  <a:lnTo>
                    <a:pt x="3119475" y="254000"/>
                  </a:lnTo>
                  <a:lnTo>
                    <a:pt x="3119475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E8E5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05000" y="3213100"/>
              <a:ext cx="6350000" cy="254000"/>
            </a:xfrm>
            <a:custGeom>
              <a:avLst/>
              <a:gdLst/>
              <a:ahLst/>
              <a:cxnLst/>
              <a:rect l="l" t="t" r="r" b="b"/>
              <a:pathLst>
                <a:path w="6350000" h="254000">
                  <a:moveTo>
                    <a:pt x="0" y="254000"/>
                  </a:moveTo>
                  <a:lnTo>
                    <a:pt x="6350000" y="254000"/>
                  </a:lnTo>
                  <a:lnTo>
                    <a:pt x="6350000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ln w="12700">
              <a:solidFill>
                <a:srgbClr val="E8E5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05000" y="3213100"/>
              <a:ext cx="3230880" cy="254000"/>
            </a:xfrm>
            <a:custGeom>
              <a:avLst/>
              <a:gdLst/>
              <a:ahLst/>
              <a:cxnLst/>
              <a:rect l="l" t="t" r="r" b="b"/>
              <a:pathLst>
                <a:path w="3230879" h="254000">
                  <a:moveTo>
                    <a:pt x="3230524" y="0"/>
                  </a:moveTo>
                  <a:lnTo>
                    <a:pt x="0" y="0"/>
                  </a:lnTo>
                  <a:lnTo>
                    <a:pt x="0" y="254000"/>
                  </a:lnTo>
                  <a:lnTo>
                    <a:pt x="3230524" y="254000"/>
                  </a:lnTo>
                  <a:lnTo>
                    <a:pt x="3230524" y="0"/>
                  </a:lnTo>
                  <a:close/>
                </a:path>
              </a:pathLst>
            </a:custGeom>
            <a:solidFill>
              <a:srgbClr val="CC05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05000" y="3213100"/>
              <a:ext cx="3230880" cy="254000"/>
            </a:xfrm>
            <a:custGeom>
              <a:avLst/>
              <a:gdLst/>
              <a:ahLst/>
              <a:cxnLst/>
              <a:rect l="l" t="t" r="r" b="b"/>
              <a:pathLst>
                <a:path w="3230879" h="254000">
                  <a:moveTo>
                    <a:pt x="0" y="254000"/>
                  </a:moveTo>
                  <a:lnTo>
                    <a:pt x="3230524" y="254000"/>
                  </a:lnTo>
                  <a:lnTo>
                    <a:pt x="3230524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ln w="12700">
              <a:solidFill>
                <a:srgbClr val="CC05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369300" y="3263900"/>
            <a:ext cx="216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141414"/>
                </a:solidFill>
                <a:latin typeface="Arial"/>
                <a:cs typeface="Arial"/>
              </a:rPr>
              <a:t>320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8800" y="3695700"/>
            <a:ext cx="457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41414"/>
                </a:solidFill>
                <a:latin typeface="Arial"/>
                <a:cs typeface="Arial"/>
              </a:rPr>
              <a:t>Mumbai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898650" y="3663950"/>
            <a:ext cx="6362700" cy="266700"/>
            <a:chOff x="1898650" y="3663950"/>
            <a:chExt cx="6362700" cy="266700"/>
          </a:xfrm>
        </p:grpSpPr>
        <p:sp>
          <p:nvSpPr>
            <p:cNvPr id="34" name="object 34"/>
            <p:cNvSpPr/>
            <p:nvPr/>
          </p:nvSpPr>
          <p:spPr>
            <a:xfrm>
              <a:off x="4711518" y="3670300"/>
              <a:ext cx="3543935" cy="254000"/>
            </a:xfrm>
            <a:custGeom>
              <a:avLst/>
              <a:gdLst/>
              <a:ahLst/>
              <a:cxnLst/>
              <a:rect l="l" t="t" r="r" b="b"/>
              <a:pathLst>
                <a:path w="3543934" h="254000">
                  <a:moveTo>
                    <a:pt x="0" y="254000"/>
                  </a:moveTo>
                  <a:lnTo>
                    <a:pt x="3543481" y="254000"/>
                  </a:lnTo>
                  <a:lnTo>
                    <a:pt x="3543481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E8E5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905000" y="3670300"/>
              <a:ext cx="6350000" cy="254000"/>
            </a:xfrm>
            <a:custGeom>
              <a:avLst/>
              <a:gdLst/>
              <a:ahLst/>
              <a:cxnLst/>
              <a:rect l="l" t="t" r="r" b="b"/>
              <a:pathLst>
                <a:path w="6350000" h="254000">
                  <a:moveTo>
                    <a:pt x="0" y="254000"/>
                  </a:moveTo>
                  <a:lnTo>
                    <a:pt x="6350000" y="254000"/>
                  </a:lnTo>
                  <a:lnTo>
                    <a:pt x="6350000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ln w="12700">
              <a:solidFill>
                <a:srgbClr val="E8E5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05000" y="3670300"/>
              <a:ext cx="2806700" cy="254000"/>
            </a:xfrm>
            <a:custGeom>
              <a:avLst/>
              <a:gdLst/>
              <a:ahLst/>
              <a:cxnLst/>
              <a:rect l="l" t="t" r="r" b="b"/>
              <a:pathLst>
                <a:path w="2806700" h="254000">
                  <a:moveTo>
                    <a:pt x="2806518" y="0"/>
                  </a:moveTo>
                  <a:lnTo>
                    <a:pt x="0" y="0"/>
                  </a:lnTo>
                  <a:lnTo>
                    <a:pt x="0" y="254000"/>
                  </a:lnTo>
                  <a:lnTo>
                    <a:pt x="2806518" y="254000"/>
                  </a:lnTo>
                  <a:lnTo>
                    <a:pt x="2806518" y="0"/>
                  </a:lnTo>
                  <a:close/>
                </a:path>
              </a:pathLst>
            </a:custGeom>
            <a:solidFill>
              <a:srgbClr val="CC05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05000" y="3670300"/>
              <a:ext cx="2806700" cy="254000"/>
            </a:xfrm>
            <a:custGeom>
              <a:avLst/>
              <a:gdLst/>
              <a:ahLst/>
              <a:cxnLst/>
              <a:rect l="l" t="t" r="r" b="b"/>
              <a:pathLst>
                <a:path w="2806700" h="254000">
                  <a:moveTo>
                    <a:pt x="0" y="254000"/>
                  </a:moveTo>
                  <a:lnTo>
                    <a:pt x="2806518" y="254000"/>
                  </a:lnTo>
                  <a:lnTo>
                    <a:pt x="2806518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ln w="12700">
              <a:solidFill>
                <a:srgbClr val="CC05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369300" y="3721100"/>
            <a:ext cx="216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141414"/>
                </a:solidFill>
                <a:latin typeface="Arial"/>
                <a:cs typeface="Arial"/>
              </a:rPr>
              <a:t>278</a:t>
            </a:r>
            <a:endParaRPr sz="9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58800" y="4152900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141414"/>
                </a:solidFill>
                <a:latin typeface="Arial"/>
                <a:cs typeface="Arial"/>
              </a:rPr>
              <a:t>Pune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898650" y="4121150"/>
            <a:ext cx="6362700" cy="266700"/>
            <a:chOff x="1898650" y="4121150"/>
            <a:chExt cx="6362700" cy="266700"/>
          </a:xfrm>
        </p:grpSpPr>
        <p:sp>
          <p:nvSpPr>
            <p:cNvPr id="41" name="object 41"/>
            <p:cNvSpPr/>
            <p:nvPr/>
          </p:nvSpPr>
          <p:spPr>
            <a:xfrm>
              <a:off x="4368275" y="4127500"/>
              <a:ext cx="3886835" cy="254000"/>
            </a:xfrm>
            <a:custGeom>
              <a:avLst/>
              <a:gdLst/>
              <a:ahLst/>
              <a:cxnLst/>
              <a:rect l="l" t="t" r="r" b="b"/>
              <a:pathLst>
                <a:path w="3886834" h="254000">
                  <a:moveTo>
                    <a:pt x="0" y="254000"/>
                  </a:moveTo>
                  <a:lnTo>
                    <a:pt x="3886724" y="254000"/>
                  </a:lnTo>
                  <a:lnTo>
                    <a:pt x="3886724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E8E5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905000" y="4127500"/>
              <a:ext cx="6350000" cy="254000"/>
            </a:xfrm>
            <a:custGeom>
              <a:avLst/>
              <a:gdLst/>
              <a:ahLst/>
              <a:cxnLst/>
              <a:rect l="l" t="t" r="r" b="b"/>
              <a:pathLst>
                <a:path w="6350000" h="254000">
                  <a:moveTo>
                    <a:pt x="0" y="254000"/>
                  </a:moveTo>
                  <a:lnTo>
                    <a:pt x="6350000" y="254000"/>
                  </a:lnTo>
                  <a:lnTo>
                    <a:pt x="6350000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ln w="12700">
              <a:solidFill>
                <a:srgbClr val="E8E5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905000" y="4127500"/>
              <a:ext cx="2463800" cy="254000"/>
            </a:xfrm>
            <a:custGeom>
              <a:avLst/>
              <a:gdLst/>
              <a:ahLst/>
              <a:cxnLst/>
              <a:rect l="l" t="t" r="r" b="b"/>
              <a:pathLst>
                <a:path w="2463800" h="254000">
                  <a:moveTo>
                    <a:pt x="2463275" y="0"/>
                  </a:moveTo>
                  <a:lnTo>
                    <a:pt x="0" y="0"/>
                  </a:lnTo>
                  <a:lnTo>
                    <a:pt x="0" y="254000"/>
                  </a:lnTo>
                  <a:lnTo>
                    <a:pt x="2463275" y="254000"/>
                  </a:lnTo>
                  <a:lnTo>
                    <a:pt x="2463275" y="0"/>
                  </a:lnTo>
                  <a:close/>
                </a:path>
              </a:pathLst>
            </a:custGeom>
            <a:solidFill>
              <a:srgbClr val="D1A3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905000" y="4127500"/>
              <a:ext cx="2463800" cy="254000"/>
            </a:xfrm>
            <a:custGeom>
              <a:avLst/>
              <a:gdLst/>
              <a:ahLst/>
              <a:cxnLst/>
              <a:rect l="l" t="t" r="r" b="b"/>
              <a:pathLst>
                <a:path w="2463800" h="254000">
                  <a:moveTo>
                    <a:pt x="0" y="254000"/>
                  </a:moveTo>
                  <a:lnTo>
                    <a:pt x="2463275" y="254000"/>
                  </a:lnTo>
                  <a:lnTo>
                    <a:pt x="2463275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ln w="12700">
              <a:solidFill>
                <a:srgbClr val="D1A3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369300" y="4178300"/>
            <a:ext cx="216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141414"/>
                </a:solidFill>
                <a:latin typeface="Arial"/>
                <a:cs typeface="Arial"/>
              </a:rPr>
              <a:t>244</a:t>
            </a:r>
            <a:endParaRPr sz="9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58800" y="4610100"/>
            <a:ext cx="43878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41414"/>
                </a:solidFill>
                <a:latin typeface="Arial"/>
                <a:cs typeface="Arial"/>
              </a:rPr>
              <a:t>Kolkata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898650" y="4578350"/>
            <a:ext cx="6362700" cy="266700"/>
            <a:chOff x="1898650" y="4578350"/>
            <a:chExt cx="6362700" cy="266700"/>
          </a:xfrm>
        </p:grpSpPr>
        <p:sp>
          <p:nvSpPr>
            <p:cNvPr id="48" name="object 48"/>
            <p:cNvSpPr/>
            <p:nvPr/>
          </p:nvSpPr>
          <p:spPr>
            <a:xfrm>
              <a:off x="4125985" y="4584700"/>
              <a:ext cx="4129404" cy="254000"/>
            </a:xfrm>
            <a:custGeom>
              <a:avLst/>
              <a:gdLst/>
              <a:ahLst/>
              <a:cxnLst/>
              <a:rect l="l" t="t" r="r" b="b"/>
              <a:pathLst>
                <a:path w="4129404" h="254000">
                  <a:moveTo>
                    <a:pt x="0" y="254000"/>
                  </a:moveTo>
                  <a:lnTo>
                    <a:pt x="4129014" y="254000"/>
                  </a:lnTo>
                  <a:lnTo>
                    <a:pt x="4129014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E8E5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905000" y="4584700"/>
              <a:ext cx="6350000" cy="254000"/>
            </a:xfrm>
            <a:custGeom>
              <a:avLst/>
              <a:gdLst/>
              <a:ahLst/>
              <a:cxnLst/>
              <a:rect l="l" t="t" r="r" b="b"/>
              <a:pathLst>
                <a:path w="6350000" h="254000">
                  <a:moveTo>
                    <a:pt x="0" y="254000"/>
                  </a:moveTo>
                  <a:lnTo>
                    <a:pt x="6350000" y="254000"/>
                  </a:lnTo>
                  <a:lnTo>
                    <a:pt x="6350000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ln w="12700">
              <a:solidFill>
                <a:srgbClr val="E8E5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905000" y="4584700"/>
              <a:ext cx="2221230" cy="254000"/>
            </a:xfrm>
            <a:custGeom>
              <a:avLst/>
              <a:gdLst/>
              <a:ahLst/>
              <a:cxnLst/>
              <a:rect l="l" t="t" r="r" b="b"/>
              <a:pathLst>
                <a:path w="2221229" h="254000">
                  <a:moveTo>
                    <a:pt x="2220985" y="0"/>
                  </a:moveTo>
                  <a:lnTo>
                    <a:pt x="0" y="0"/>
                  </a:lnTo>
                  <a:lnTo>
                    <a:pt x="0" y="254000"/>
                  </a:lnTo>
                  <a:lnTo>
                    <a:pt x="2220985" y="254000"/>
                  </a:lnTo>
                  <a:lnTo>
                    <a:pt x="2220985" y="0"/>
                  </a:lnTo>
                  <a:close/>
                </a:path>
              </a:pathLst>
            </a:custGeom>
            <a:solidFill>
              <a:srgbClr val="D1A3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905000" y="4584700"/>
              <a:ext cx="2221230" cy="254000"/>
            </a:xfrm>
            <a:custGeom>
              <a:avLst/>
              <a:gdLst/>
              <a:ahLst/>
              <a:cxnLst/>
              <a:rect l="l" t="t" r="r" b="b"/>
              <a:pathLst>
                <a:path w="2221229" h="254000">
                  <a:moveTo>
                    <a:pt x="0" y="254000"/>
                  </a:moveTo>
                  <a:lnTo>
                    <a:pt x="2220985" y="254000"/>
                  </a:lnTo>
                  <a:lnTo>
                    <a:pt x="2220985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ln w="12700">
              <a:solidFill>
                <a:srgbClr val="D1A3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369300" y="4635500"/>
            <a:ext cx="216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141414"/>
                </a:solidFill>
                <a:latin typeface="Arial"/>
                <a:cs typeface="Arial"/>
              </a:rPr>
              <a:t>220</a:t>
            </a:r>
            <a:endParaRPr sz="9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58800" y="5067300"/>
            <a:ext cx="6800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41414"/>
                </a:solidFill>
                <a:latin typeface="Arial"/>
                <a:cs typeface="Arial"/>
              </a:rPr>
              <a:t>Ahmedabad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898650" y="5035550"/>
            <a:ext cx="6362700" cy="266700"/>
            <a:chOff x="1898650" y="5035550"/>
            <a:chExt cx="6362700" cy="266700"/>
          </a:xfrm>
        </p:grpSpPr>
        <p:sp>
          <p:nvSpPr>
            <p:cNvPr id="55" name="object 55"/>
            <p:cNvSpPr/>
            <p:nvPr/>
          </p:nvSpPr>
          <p:spPr>
            <a:xfrm>
              <a:off x="3136637" y="5041900"/>
              <a:ext cx="5118735" cy="254000"/>
            </a:xfrm>
            <a:custGeom>
              <a:avLst/>
              <a:gdLst/>
              <a:ahLst/>
              <a:cxnLst/>
              <a:rect l="l" t="t" r="r" b="b"/>
              <a:pathLst>
                <a:path w="5118734" h="254000">
                  <a:moveTo>
                    <a:pt x="0" y="254000"/>
                  </a:moveTo>
                  <a:lnTo>
                    <a:pt x="5118362" y="254000"/>
                  </a:lnTo>
                  <a:lnTo>
                    <a:pt x="5118362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E8E5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905000" y="5041900"/>
              <a:ext cx="6350000" cy="254000"/>
            </a:xfrm>
            <a:custGeom>
              <a:avLst/>
              <a:gdLst/>
              <a:ahLst/>
              <a:cxnLst/>
              <a:rect l="l" t="t" r="r" b="b"/>
              <a:pathLst>
                <a:path w="6350000" h="254000">
                  <a:moveTo>
                    <a:pt x="0" y="254000"/>
                  </a:moveTo>
                  <a:lnTo>
                    <a:pt x="6350000" y="254000"/>
                  </a:lnTo>
                  <a:lnTo>
                    <a:pt x="6350000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ln w="12700">
              <a:solidFill>
                <a:srgbClr val="E8E5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905000" y="5041900"/>
              <a:ext cx="1231900" cy="254000"/>
            </a:xfrm>
            <a:custGeom>
              <a:avLst/>
              <a:gdLst/>
              <a:ahLst/>
              <a:cxnLst/>
              <a:rect l="l" t="t" r="r" b="b"/>
              <a:pathLst>
                <a:path w="1231900" h="254000">
                  <a:moveTo>
                    <a:pt x="1231637" y="0"/>
                  </a:moveTo>
                  <a:lnTo>
                    <a:pt x="0" y="0"/>
                  </a:lnTo>
                  <a:lnTo>
                    <a:pt x="0" y="254000"/>
                  </a:lnTo>
                  <a:lnTo>
                    <a:pt x="1231637" y="254000"/>
                  </a:lnTo>
                  <a:lnTo>
                    <a:pt x="1231637" y="0"/>
                  </a:lnTo>
                  <a:close/>
                </a:path>
              </a:pathLst>
            </a:custGeom>
            <a:solidFill>
              <a:srgbClr val="D1A3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905000" y="5041900"/>
              <a:ext cx="1231900" cy="254000"/>
            </a:xfrm>
            <a:custGeom>
              <a:avLst/>
              <a:gdLst/>
              <a:ahLst/>
              <a:cxnLst/>
              <a:rect l="l" t="t" r="r" b="b"/>
              <a:pathLst>
                <a:path w="1231900" h="254000">
                  <a:moveTo>
                    <a:pt x="0" y="254000"/>
                  </a:moveTo>
                  <a:lnTo>
                    <a:pt x="1231637" y="254000"/>
                  </a:lnTo>
                  <a:lnTo>
                    <a:pt x="1231637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ln w="12700">
              <a:solidFill>
                <a:srgbClr val="D1A3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8369300" y="5092700"/>
            <a:ext cx="216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141414"/>
                </a:solidFill>
                <a:latin typeface="Arial"/>
                <a:cs typeface="Arial"/>
              </a:rPr>
              <a:t>122</a:t>
            </a:r>
            <a:endParaRPr sz="9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9112567" y="1968499"/>
            <a:ext cx="2887659" cy="2862731"/>
          </a:xfrm>
          <a:prstGeom prst="rect">
            <a:avLst/>
          </a:prstGeom>
          <a:solidFill>
            <a:srgbClr val="F2EFED"/>
          </a:solidFill>
          <a:ln w="3175">
            <a:solidFill>
              <a:srgbClr val="F2EFED"/>
            </a:solidFill>
          </a:ln>
        </p:spPr>
        <p:txBody>
          <a:bodyPr vert="horz" wrap="square" lIns="0" tIns="0" rIns="0" bIns="0" rtlCol="0" anchor="t" anchorCtr="1">
            <a:noAutofit/>
          </a:bodyPr>
          <a:lstStyle/>
          <a:p>
            <a:pPr algn="ctr">
              <a:spcBef>
                <a:spcPts val="500"/>
              </a:spcBef>
            </a:pPr>
            <a:endParaRPr lang="en-IN" sz="1000" b="1" dirty="0">
              <a:solidFill>
                <a:srgbClr val="CC0523"/>
              </a:solidFill>
              <a:latin typeface="Arial"/>
              <a:cs typeface="Arial"/>
            </a:endParaRPr>
          </a:p>
          <a:p>
            <a:pPr algn="ctr">
              <a:spcBef>
                <a:spcPts val="500"/>
              </a:spcBef>
            </a:pPr>
            <a:r>
              <a:rPr lang="en-IN" sz="1200" b="1" dirty="0">
                <a:solidFill>
                  <a:srgbClr val="CC0523"/>
                </a:solidFill>
                <a:latin typeface="Arial"/>
                <a:cs typeface="Arial"/>
              </a:rPr>
              <a:t>PRIORITIZATION </a:t>
            </a:r>
            <a:r>
              <a:rPr lang="en-IN" sz="1200" b="1" spc="-10" dirty="0">
                <a:solidFill>
                  <a:srgbClr val="CC0523"/>
                </a:solidFill>
                <a:latin typeface="Arial"/>
                <a:cs typeface="Arial"/>
              </a:rPr>
              <a:t>LOGIC</a:t>
            </a:r>
            <a:endParaRPr lang="en-IN" sz="1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endParaRPr lang="en-IN" sz="1000" dirty="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196705" y="2936606"/>
            <a:ext cx="330200" cy="316800"/>
          </a:xfrm>
          <a:prstGeom prst="rect">
            <a:avLst/>
          </a:prstGeom>
          <a:solidFill>
            <a:srgbClr val="CC0523"/>
          </a:solidFill>
          <a:ln w="3175">
            <a:solidFill>
              <a:srgbClr val="CC0523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850"/>
              </a:spcBef>
            </a:pPr>
            <a:r>
              <a:rPr sz="8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196705" y="3401243"/>
            <a:ext cx="330200" cy="316800"/>
          </a:xfrm>
          <a:prstGeom prst="rect">
            <a:avLst/>
          </a:prstGeom>
          <a:solidFill>
            <a:srgbClr val="CC0523"/>
          </a:solidFill>
          <a:ln w="3175">
            <a:solidFill>
              <a:srgbClr val="CC0523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850"/>
              </a:spcBef>
            </a:pPr>
            <a:r>
              <a:rPr sz="80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33400" y="5709411"/>
            <a:ext cx="782447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dirty="0">
                <a:solidFill>
                  <a:srgbClr val="606060"/>
                </a:solidFill>
                <a:latin typeface="Arial"/>
                <a:cs typeface="Arial"/>
              </a:rPr>
              <a:t>*Delhi</a:t>
            </a:r>
            <a:r>
              <a:rPr sz="1000" i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06060"/>
                </a:solidFill>
                <a:latin typeface="Arial"/>
                <a:cs typeface="Arial"/>
              </a:rPr>
              <a:t>NCR</a:t>
            </a:r>
            <a:r>
              <a:rPr sz="1000" i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06060"/>
                </a:solidFill>
                <a:latin typeface="Arial"/>
                <a:cs typeface="Arial"/>
              </a:rPr>
              <a:t>count</a:t>
            </a:r>
            <a:r>
              <a:rPr sz="1000" i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06060"/>
                </a:solidFill>
                <a:latin typeface="Arial"/>
                <a:cs typeface="Arial"/>
              </a:rPr>
              <a:t>combines</a:t>
            </a:r>
            <a:r>
              <a:rPr sz="1000" i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06060"/>
                </a:solidFill>
                <a:latin typeface="Arial"/>
                <a:cs typeface="Arial"/>
              </a:rPr>
              <a:t>the</a:t>
            </a:r>
            <a:r>
              <a:rPr sz="1000" i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06060"/>
                </a:solidFill>
                <a:latin typeface="Arial"/>
                <a:cs typeface="Arial"/>
              </a:rPr>
              <a:t>Delhi</a:t>
            </a:r>
            <a:r>
              <a:rPr sz="1000" i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06060"/>
                </a:solidFill>
                <a:latin typeface="Arial"/>
                <a:cs typeface="Arial"/>
              </a:rPr>
              <a:t>standalone</a:t>
            </a:r>
            <a:r>
              <a:rPr sz="1000" i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06060"/>
                </a:solidFill>
                <a:latin typeface="Arial"/>
                <a:cs typeface="Arial"/>
              </a:rPr>
              <a:t>figure</a:t>
            </a:r>
            <a:r>
              <a:rPr sz="1000" i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06060"/>
                </a:solidFill>
                <a:latin typeface="Arial"/>
                <a:cs typeface="Arial"/>
              </a:rPr>
              <a:t>with</a:t>
            </a:r>
            <a:r>
              <a:rPr sz="1000" i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06060"/>
                </a:solidFill>
                <a:latin typeface="Arial"/>
                <a:cs typeface="Arial"/>
              </a:rPr>
              <a:t>the</a:t>
            </a:r>
            <a:r>
              <a:rPr sz="1000" i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06060"/>
                </a:solidFill>
                <a:latin typeface="Arial"/>
                <a:cs typeface="Arial"/>
              </a:rPr>
              <a:t>broader</a:t>
            </a:r>
            <a:r>
              <a:rPr sz="1000" i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06060"/>
                </a:solidFill>
                <a:latin typeface="Arial"/>
                <a:cs typeface="Arial"/>
              </a:rPr>
              <a:t>NCR</a:t>
            </a:r>
            <a:r>
              <a:rPr sz="1000" i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06060"/>
                </a:solidFill>
                <a:latin typeface="Arial"/>
                <a:cs typeface="Arial"/>
              </a:rPr>
              <a:t>operating</a:t>
            </a:r>
            <a:r>
              <a:rPr sz="1000" i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06060"/>
                </a:solidFill>
                <a:latin typeface="Arial"/>
                <a:cs typeface="Arial"/>
              </a:rPr>
              <a:t>market</a:t>
            </a:r>
            <a:r>
              <a:rPr sz="1000" i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06060"/>
                </a:solidFill>
                <a:latin typeface="Arial"/>
                <a:cs typeface="Arial"/>
              </a:rPr>
              <a:t>in</a:t>
            </a:r>
            <a:r>
              <a:rPr sz="1000" i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06060"/>
                </a:solidFill>
                <a:latin typeface="Arial"/>
                <a:cs typeface="Arial"/>
              </a:rPr>
              <a:t>the</a:t>
            </a:r>
            <a:r>
              <a:rPr sz="1000" i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06060"/>
                </a:solidFill>
                <a:latin typeface="Arial"/>
                <a:cs typeface="Arial"/>
              </a:rPr>
              <a:t>strategic</a:t>
            </a:r>
            <a:r>
              <a:rPr sz="1000" i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606060"/>
                </a:solidFill>
                <a:latin typeface="Arial"/>
                <a:cs typeface="Arial"/>
              </a:rPr>
              <a:t>recommendation;</a:t>
            </a:r>
            <a:r>
              <a:rPr sz="1000" i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606060"/>
                </a:solidFill>
                <a:latin typeface="Arial"/>
                <a:cs typeface="Arial"/>
              </a:rPr>
              <a:t>city-</a:t>
            </a:r>
            <a:r>
              <a:rPr sz="1000" i="1" dirty="0">
                <a:solidFill>
                  <a:srgbClr val="606060"/>
                </a:solidFill>
                <a:latin typeface="Arial"/>
                <a:cs typeface="Arial"/>
              </a:rPr>
              <a:t>level</a:t>
            </a:r>
            <a:r>
              <a:rPr sz="1000" i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06060"/>
                </a:solidFill>
                <a:latin typeface="Arial"/>
                <a:cs typeface="Arial"/>
              </a:rPr>
              <a:t>source</a:t>
            </a:r>
            <a:r>
              <a:rPr sz="1000" i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06060"/>
                </a:solidFill>
                <a:latin typeface="Arial"/>
                <a:cs typeface="Arial"/>
              </a:rPr>
              <a:t>reports</a:t>
            </a:r>
            <a:r>
              <a:rPr sz="1000" i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06060"/>
                </a:solidFill>
                <a:latin typeface="Arial"/>
                <a:cs typeface="Arial"/>
              </a:rPr>
              <a:t>Delhi</a:t>
            </a:r>
            <a:r>
              <a:rPr sz="1000" i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06060"/>
                </a:solidFill>
                <a:latin typeface="Arial"/>
                <a:cs typeface="Arial"/>
              </a:rPr>
              <a:t>at</a:t>
            </a:r>
            <a:r>
              <a:rPr sz="1000" i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06060"/>
                </a:solidFill>
                <a:latin typeface="Arial"/>
                <a:cs typeface="Arial"/>
              </a:rPr>
              <a:t>474</a:t>
            </a:r>
            <a:r>
              <a:rPr sz="1000" i="1" spc="-1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606060"/>
                </a:solidFill>
                <a:latin typeface="Arial"/>
                <a:cs typeface="Arial"/>
              </a:rPr>
              <a:t>stores.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33400" y="6343522"/>
            <a:ext cx="64770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solidFill>
                  <a:srgbClr val="606060"/>
                </a:solidFill>
                <a:latin typeface="Arial"/>
                <a:cs typeface="Arial"/>
              </a:rPr>
              <a:t>Source:</a:t>
            </a:r>
            <a:r>
              <a:rPr sz="900" i="1" spc="-10" dirty="0">
                <a:solidFill>
                  <a:srgbClr val="606060"/>
                </a:solidFill>
                <a:latin typeface="Arial"/>
                <a:cs typeface="Arial"/>
              </a:rPr>
              <a:t> QuickCommerceMap,</a:t>
            </a:r>
            <a:r>
              <a:rPr sz="900" i="1" dirty="0">
                <a:solidFill>
                  <a:srgbClr val="606060"/>
                </a:solidFill>
                <a:latin typeface="Arial"/>
                <a:cs typeface="Arial"/>
              </a:rPr>
              <a:t> July</a:t>
            </a:r>
            <a:r>
              <a:rPr sz="9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06060"/>
                </a:solidFill>
                <a:latin typeface="Arial"/>
                <a:cs typeface="Arial"/>
              </a:rPr>
              <a:t>2026 public</a:t>
            </a:r>
            <a:r>
              <a:rPr sz="9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06060"/>
                </a:solidFill>
                <a:latin typeface="Arial"/>
                <a:cs typeface="Arial"/>
              </a:rPr>
              <a:t>snapshot. Store counts</a:t>
            </a:r>
            <a:r>
              <a:rPr sz="9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06060"/>
                </a:solidFill>
                <a:latin typeface="Arial"/>
                <a:cs typeface="Arial"/>
              </a:rPr>
              <a:t>are a</a:t>
            </a:r>
            <a:r>
              <a:rPr sz="9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06060"/>
                </a:solidFill>
                <a:latin typeface="Arial"/>
                <a:cs typeface="Arial"/>
              </a:rPr>
              <a:t>point-in-time proxy, not</a:t>
            </a:r>
            <a:r>
              <a:rPr sz="9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06060"/>
                </a:solidFill>
                <a:latin typeface="Arial"/>
                <a:cs typeface="Arial"/>
              </a:rPr>
              <a:t>sales or</a:t>
            </a:r>
            <a:r>
              <a:rPr sz="9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06060"/>
                </a:solidFill>
                <a:latin typeface="Arial"/>
                <a:cs typeface="Arial"/>
              </a:rPr>
              <a:t>market </a:t>
            </a:r>
            <a:r>
              <a:rPr sz="900" i="1" spc="-10" dirty="0">
                <a:solidFill>
                  <a:srgbClr val="606060"/>
                </a:solidFill>
                <a:latin typeface="Arial"/>
                <a:cs typeface="Arial"/>
              </a:rPr>
              <a:t>share.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33400" y="6578600"/>
            <a:ext cx="23622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Section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2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Regional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Opportunity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Analysis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531350" y="6578600"/>
            <a:ext cx="231076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Budweiser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Beats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India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Growth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Strategy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196705" y="2471969"/>
            <a:ext cx="330200" cy="316800"/>
          </a:xfrm>
          <a:prstGeom prst="rect">
            <a:avLst/>
          </a:prstGeom>
          <a:solidFill>
            <a:srgbClr val="CC0523"/>
          </a:solidFill>
          <a:ln w="3175">
            <a:solidFill>
              <a:srgbClr val="CC0523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850"/>
              </a:spcBef>
            </a:pPr>
            <a:r>
              <a:rPr sz="800" b="1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80" name="object 60">
            <a:extLst>
              <a:ext uri="{FF2B5EF4-FFF2-40B4-BE49-F238E27FC236}">
                <a16:creationId xmlns:a16="http://schemas.microsoft.com/office/drawing/2014/main" id="{D8FB6EC0-0454-69AB-87F2-C23AA33B87D7}"/>
              </a:ext>
            </a:extLst>
          </p:cNvPr>
          <p:cNvSpPr txBox="1"/>
          <p:nvPr/>
        </p:nvSpPr>
        <p:spPr>
          <a:xfrm>
            <a:off x="9196705" y="3865879"/>
            <a:ext cx="330200" cy="316800"/>
          </a:xfrm>
          <a:prstGeom prst="rect">
            <a:avLst/>
          </a:prstGeom>
          <a:solidFill>
            <a:srgbClr val="CC0523"/>
          </a:solidFill>
          <a:ln w="3175">
            <a:solidFill>
              <a:srgbClr val="CC0523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850"/>
              </a:spcBef>
            </a:pPr>
            <a:r>
              <a:rPr lang="en-IN" sz="800" b="1" spc="-50" dirty="0">
                <a:solidFill>
                  <a:srgbClr val="FFFFFF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133ECD4-8F03-1E14-90D2-43E98DAE5623}"/>
              </a:ext>
            </a:extLst>
          </p:cNvPr>
          <p:cNvSpPr txBox="1"/>
          <p:nvPr/>
        </p:nvSpPr>
        <p:spPr>
          <a:xfrm>
            <a:off x="9599294" y="2503179"/>
            <a:ext cx="1676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Dark Store Density</a:t>
            </a:r>
            <a:endParaRPr lang="en-I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IN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C53685E-AABD-B72E-E3A6-6A1CDF6E3CAE}"/>
              </a:ext>
            </a:extLst>
          </p:cNvPr>
          <p:cNvSpPr txBox="1"/>
          <p:nvPr/>
        </p:nvSpPr>
        <p:spPr>
          <a:xfrm>
            <a:off x="9576117" y="2943860"/>
            <a:ext cx="24241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Category Purchasing Power</a:t>
            </a:r>
            <a:endParaRPr lang="en-IN" sz="1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A8E917B-BB81-BF3D-834F-B0CC51444BDC}"/>
              </a:ext>
            </a:extLst>
          </p:cNvPr>
          <p:cNvSpPr txBox="1"/>
          <p:nvPr/>
        </p:nvSpPr>
        <p:spPr>
          <a:xfrm>
            <a:off x="9576117" y="3418184"/>
            <a:ext cx="24241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Target Persona Density</a:t>
            </a:r>
            <a:endParaRPr lang="en-IN" sz="1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367F711-71C1-077E-0F24-D8BBB303283D}"/>
              </a:ext>
            </a:extLst>
          </p:cNvPr>
          <p:cNvSpPr txBox="1"/>
          <p:nvPr/>
        </p:nvSpPr>
        <p:spPr>
          <a:xfrm>
            <a:off x="9576117" y="3901301"/>
            <a:ext cx="24241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Brewery Supply Chain Access</a:t>
            </a:r>
            <a:endParaRPr lang="en-IN" sz="1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584" y="404177"/>
            <a:ext cx="3655416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-7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250" b="1" spc="-1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114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50" b="1" spc="-204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5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sz="1250" b="1" spc="-17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2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250" b="1" spc="-19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3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250" b="1" spc="-17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2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250" b="1" spc="-1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4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250" b="1" spc="-1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250" b="1" spc="1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3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250" b="1" spc="-1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1250" b="1" spc="-1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1250" b="1" spc="-17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3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250" b="1" spc="-1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7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250" b="1" spc="-1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15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250" b="1" spc="-1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4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1250" b="1" spc="-1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2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250" b="1" spc="-1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2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250" b="1" spc="-17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15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250" b="1" spc="-17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250" b="1" spc="2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4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250" b="1" spc="-1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2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250" b="1" spc="-17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4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250" b="1" spc="-1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10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sz="1250" b="1" spc="-204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6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250" b="1" spc="-1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2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250" b="1" spc="-17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250" b="1" spc="2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15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1250" b="1" spc="2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5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5584" y="709460"/>
            <a:ext cx="41471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25" dirty="0">
                <a:solidFill>
                  <a:srgbClr val="131313"/>
                </a:solidFill>
                <a:latin typeface="Times New Roman"/>
                <a:cs typeface="Times New Roman"/>
              </a:rPr>
              <a:t>A</a:t>
            </a:r>
            <a:r>
              <a:rPr sz="3000" spc="-9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spc="-114" dirty="0">
                <a:solidFill>
                  <a:srgbClr val="131313"/>
                </a:solidFill>
                <a:latin typeface="Times New Roman"/>
                <a:cs typeface="Times New Roman"/>
              </a:rPr>
              <a:t>Two-</a:t>
            </a:r>
            <a:r>
              <a:rPr sz="3000" spc="-35" dirty="0">
                <a:solidFill>
                  <a:srgbClr val="131313"/>
                </a:solidFill>
                <a:latin typeface="Times New Roman"/>
                <a:cs typeface="Times New Roman"/>
              </a:rPr>
              <a:t>Wave</a:t>
            </a:r>
            <a:r>
              <a:rPr sz="3000" spc="-9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spc="-75" dirty="0">
                <a:solidFill>
                  <a:srgbClr val="131313"/>
                </a:solidFill>
                <a:latin typeface="Times New Roman"/>
                <a:cs typeface="Times New Roman"/>
              </a:rPr>
              <a:t>City</a:t>
            </a:r>
            <a:r>
              <a:rPr sz="3000" spc="-9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131313"/>
                </a:solidFill>
                <a:latin typeface="Times New Roman"/>
                <a:cs typeface="Times New Roman"/>
              </a:rPr>
              <a:t>Rollout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8640" y="1508760"/>
            <a:ext cx="5349240" cy="4526280"/>
          </a:xfrm>
          <a:custGeom>
            <a:avLst/>
            <a:gdLst/>
            <a:ahLst/>
            <a:cxnLst/>
            <a:rect l="l" t="t" r="r" b="b"/>
            <a:pathLst>
              <a:path w="5349240" h="4526280">
                <a:moveTo>
                  <a:pt x="5275795" y="0"/>
                </a:moveTo>
                <a:lnTo>
                  <a:pt x="73075" y="0"/>
                </a:lnTo>
                <a:lnTo>
                  <a:pt x="63599" y="607"/>
                </a:lnTo>
                <a:lnTo>
                  <a:pt x="2142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4453204"/>
                </a:lnTo>
                <a:lnTo>
                  <a:pt x="594" y="4462475"/>
                </a:lnTo>
                <a:lnTo>
                  <a:pt x="607" y="4462680"/>
                </a:lnTo>
                <a:lnTo>
                  <a:pt x="21423" y="4504812"/>
                </a:lnTo>
                <a:lnTo>
                  <a:pt x="63443" y="4525672"/>
                </a:lnTo>
                <a:lnTo>
                  <a:pt x="73075" y="4526280"/>
                </a:lnTo>
                <a:lnTo>
                  <a:pt x="5276164" y="4525924"/>
                </a:lnTo>
                <a:lnTo>
                  <a:pt x="5320534" y="4510820"/>
                </a:lnTo>
                <a:lnTo>
                  <a:pt x="5343698" y="4481095"/>
                </a:lnTo>
                <a:lnTo>
                  <a:pt x="5343775" y="4480939"/>
                </a:lnTo>
                <a:lnTo>
                  <a:pt x="5346751" y="4472055"/>
                </a:lnTo>
                <a:lnTo>
                  <a:pt x="5346811" y="4471876"/>
                </a:lnTo>
                <a:lnTo>
                  <a:pt x="5348592" y="4462680"/>
                </a:lnTo>
                <a:lnTo>
                  <a:pt x="5348632" y="4462475"/>
                </a:lnTo>
                <a:lnTo>
                  <a:pt x="5349216" y="4453204"/>
                </a:lnTo>
                <a:lnTo>
                  <a:pt x="5349240" y="4452835"/>
                </a:lnTo>
                <a:lnTo>
                  <a:pt x="5348884" y="73075"/>
                </a:lnTo>
                <a:lnTo>
                  <a:pt x="5333780" y="28705"/>
                </a:lnTo>
                <a:lnTo>
                  <a:pt x="5294836" y="2428"/>
                </a:lnTo>
                <a:lnTo>
                  <a:pt x="5285435" y="607"/>
                </a:lnTo>
                <a:lnTo>
                  <a:pt x="5275795" y="0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5980" y="1785149"/>
            <a:ext cx="2734945" cy="636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Wave</a:t>
            </a:r>
            <a:r>
              <a:rPr sz="16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16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sz="16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Now</a:t>
            </a:r>
            <a:r>
              <a:rPr sz="16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(Q1–</a:t>
            </a:r>
            <a:r>
              <a:rPr sz="16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Q2)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1100" i="1" spc="-45" dirty="0">
                <a:solidFill>
                  <a:srgbClr val="C8C8C8"/>
                </a:solidFill>
                <a:latin typeface="Trebuchet MS"/>
                <a:cs typeface="Trebuchet MS"/>
              </a:rPr>
              <a:t>Metro</a:t>
            </a:r>
            <a:r>
              <a:rPr sz="1100" i="1" spc="-25" dirty="0">
                <a:solidFill>
                  <a:srgbClr val="C8C8C8"/>
                </a:solidFill>
                <a:latin typeface="Trebuchet MS"/>
                <a:cs typeface="Trebuchet MS"/>
              </a:rPr>
              <a:t> </a:t>
            </a:r>
            <a:r>
              <a:rPr sz="1100" i="1" spc="-60" dirty="0">
                <a:solidFill>
                  <a:srgbClr val="C8C8C8"/>
                </a:solidFill>
                <a:latin typeface="Trebuchet MS"/>
                <a:cs typeface="Trebuchet MS"/>
              </a:rPr>
              <a:t>anchors,</a:t>
            </a:r>
            <a:r>
              <a:rPr sz="1100" i="1" spc="-40" dirty="0">
                <a:solidFill>
                  <a:srgbClr val="C8C8C8"/>
                </a:solidFill>
                <a:latin typeface="Trebuchet MS"/>
                <a:cs typeface="Trebuchet MS"/>
              </a:rPr>
              <a:t> </a:t>
            </a:r>
            <a:r>
              <a:rPr sz="1100" i="1" spc="-60" dirty="0">
                <a:solidFill>
                  <a:srgbClr val="C8C8C8"/>
                </a:solidFill>
                <a:latin typeface="Trebuchet MS"/>
                <a:cs typeface="Trebuchet MS"/>
              </a:rPr>
              <a:t>highest</a:t>
            </a:r>
            <a:r>
              <a:rPr sz="1100" i="1" spc="-20" dirty="0">
                <a:solidFill>
                  <a:srgbClr val="C8C8C8"/>
                </a:solidFill>
                <a:latin typeface="Trebuchet MS"/>
                <a:cs typeface="Trebuchet MS"/>
              </a:rPr>
              <a:t> </a:t>
            </a:r>
            <a:r>
              <a:rPr sz="1100" i="1" spc="-70" dirty="0">
                <a:solidFill>
                  <a:srgbClr val="C8C8C8"/>
                </a:solidFill>
                <a:latin typeface="Trebuchet MS"/>
                <a:cs typeface="Trebuchet MS"/>
              </a:rPr>
              <a:t>quick-</a:t>
            </a:r>
            <a:r>
              <a:rPr sz="1100" i="1" spc="-65" dirty="0">
                <a:solidFill>
                  <a:srgbClr val="C8C8C8"/>
                </a:solidFill>
                <a:latin typeface="Trebuchet MS"/>
                <a:cs typeface="Trebuchet MS"/>
              </a:rPr>
              <a:t>commerce</a:t>
            </a:r>
            <a:r>
              <a:rPr sz="1100" i="1" spc="-20" dirty="0">
                <a:solidFill>
                  <a:srgbClr val="C8C8C8"/>
                </a:solidFill>
                <a:latin typeface="Trebuchet MS"/>
                <a:cs typeface="Trebuchet MS"/>
              </a:rPr>
              <a:t> </a:t>
            </a:r>
            <a:r>
              <a:rPr sz="1100" i="1" spc="-35" dirty="0">
                <a:solidFill>
                  <a:srgbClr val="C8C8C8"/>
                </a:solidFill>
                <a:latin typeface="Trebuchet MS"/>
                <a:cs typeface="Trebuchet MS"/>
              </a:rPr>
              <a:t>density</a:t>
            </a:r>
            <a:endParaRPr sz="11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68324" y="2697124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19">
                <a:moveTo>
                  <a:pt x="137159" y="0"/>
                </a:moveTo>
                <a:lnTo>
                  <a:pt x="84710" y="10474"/>
                </a:lnTo>
                <a:lnTo>
                  <a:pt x="40182" y="40136"/>
                </a:lnTo>
                <a:lnTo>
                  <a:pt x="10474" y="84555"/>
                </a:lnTo>
                <a:lnTo>
                  <a:pt x="0" y="137160"/>
                </a:lnTo>
                <a:lnTo>
                  <a:pt x="1197" y="155136"/>
                </a:lnTo>
                <a:lnTo>
                  <a:pt x="18351" y="205549"/>
                </a:lnTo>
                <a:lnTo>
                  <a:pt x="53745" y="246008"/>
                </a:lnTo>
                <a:lnTo>
                  <a:pt x="101606" y="269590"/>
                </a:lnTo>
                <a:lnTo>
                  <a:pt x="137159" y="274319"/>
                </a:lnTo>
                <a:lnTo>
                  <a:pt x="155141" y="273120"/>
                </a:lnTo>
                <a:lnTo>
                  <a:pt x="205917" y="255955"/>
                </a:lnTo>
                <a:lnTo>
                  <a:pt x="246013" y="220569"/>
                </a:lnTo>
                <a:lnTo>
                  <a:pt x="269590" y="172707"/>
                </a:lnTo>
                <a:lnTo>
                  <a:pt x="274319" y="137160"/>
                </a:lnTo>
                <a:lnTo>
                  <a:pt x="273120" y="119172"/>
                </a:lnTo>
                <a:lnTo>
                  <a:pt x="255955" y="68389"/>
                </a:lnTo>
                <a:lnTo>
                  <a:pt x="220724" y="28300"/>
                </a:lnTo>
                <a:lnTo>
                  <a:pt x="172753" y="4722"/>
                </a:lnTo>
                <a:lnTo>
                  <a:pt x="137159" y="0"/>
                </a:lnTo>
                <a:close/>
              </a:path>
            </a:pathLst>
          </a:custGeom>
          <a:solidFill>
            <a:srgbClr val="C70F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60374" y="2745270"/>
            <a:ext cx="9017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5824" y="2718612"/>
            <a:ext cx="60706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20" dirty="0">
                <a:solidFill>
                  <a:srgbClr val="FFFFFF"/>
                </a:solidFill>
                <a:latin typeface="Tahoma"/>
                <a:cs typeface="Tahoma"/>
              </a:rPr>
              <a:t>Mumbai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68324" y="330047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20">
                <a:moveTo>
                  <a:pt x="137159" y="0"/>
                </a:moveTo>
                <a:lnTo>
                  <a:pt x="84710" y="10485"/>
                </a:lnTo>
                <a:lnTo>
                  <a:pt x="40182" y="40184"/>
                </a:lnTo>
                <a:lnTo>
                  <a:pt x="10474" y="84712"/>
                </a:lnTo>
                <a:lnTo>
                  <a:pt x="0" y="137160"/>
                </a:lnTo>
                <a:lnTo>
                  <a:pt x="1197" y="155147"/>
                </a:lnTo>
                <a:lnTo>
                  <a:pt x="18351" y="205917"/>
                </a:lnTo>
                <a:lnTo>
                  <a:pt x="53745" y="246019"/>
                </a:lnTo>
                <a:lnTo>
                  <a:pt x="101606" y="269597"/>
                </a:lnTo>
                <a:lnTo>
                  <a:pt x="137159" y="274320"/>
                </a:lnTo>
                <a:lnTo>
                  <a:pt x="155141" y="273122"/>
                </a:lnTo>
                <a:lnTo>
                  <a:pt x="205917" y="255968"/>
                </a:lnTo>
                <a:lnTo>
                  <a:pt x="246013" y="220724"/>
                </a:lnTo>
                <a:lnTo>
                  <a:pt x="269590" y="172758"/>
                </a:lnTo>
                <a:lnTo>
                  <a:pt x="274319" y="137160"/>
                </a:lnTo>
                <a:lnTo>
                  <a:pt x="273120" y="119183"/>
                </a:lnTo>
                <a:lnTo>
                  <a:pt x="255955" y="68757"/>
                </a:lnTo>
                <a:lnTo>
                  <a:pt x="220724" y="28311"/>
                </a:lnTo>
                <a:lnTo>
                  <a:pt x="172753" y="4729"/>
                </a:lnTo>
                <a:lnTo>
                  <a:pt x="137159" y="0"/>
                </a:lnTo>
                <a:close/>
              </a:path>
            </a:pathLst>
          </a:custGeom>
          <a:solidFill>
            <a:srgbClr val="C70F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60374" y="3348621"/>
            <a:ext cx="9017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85824" y="3321977"/>
            <a:ext cx="72898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5" dirty="0">
                <a:solidFill>
                  <a:srgbClr val="FFFFFF"/>
                </a:solidFill>
                <a:latin typeface="Tahoma"/>
                <a:cs typeface="Tahoma"/>
              </a:rPr>
              <a:t>Bengaluru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68324" y="3904195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20">
                <a:moveTo>
                  <a:pt x="137159" y="0"/>
                </a:moveTo>
                <a:lnTo>
                  <a:pt x="84710" y="10485"/>
                </a:lnTo>
                <a:lnTo>
                  <a:pt x="40182" y="40184"/>
                </a:lnTo>
                <a:lnTo>
                  <a:pt x="10474" y="84712"/>
                </a:lnTo>
                <a:lnTo>
                  <a:pt x="0" y="137159"/>
                </a:lnTo>
                <a:lnTo>
                  <a:pt x="1197" y="155147"/>
                </a:lnTo>
                <a:lnTo>
                  <a:pt x="18351" y="205917"/>
                </a:lnTo>
                <a:lnTo>
                  <a:pt x="53745" y="246019"/>
                </a:lnTo>
                <a:lnTo>
                  <a:pt x="101606" y="269597"/>
                </a:lnTo>
                <a:lnTo>
                  <a:pt x="137159" y="274319"/>
                </a:lnTo>
                <a:lnTo>
                  <a:pt x="155141" y="273122"/>
                </a:lnTo>
                <a:lnTo>
                  <a:pt x="205917" y="255968"/>
                </a:lnTo>
                <a:lnTo>
                  <a:pt x="246013" y="220724"/>
                </a:lnTo>
                <a:lnTo>
                  <a:pt x="269590" y="172758"/>
                </a:lnTo>
                <a:lnTo>
                  <a:pt x="274319" y="137159"/>
                </a:lnTo>
                <a:lnTo>
                  <a:pt x="273120" y="119183"/>
                </a:lnTo>
                <a:lnTo>
                  <a:pt x="255955" y="68757"/>
                </a:lnTo>
                <a:lnTo>
                  <a:pt x="220724" y="28311"/>
                </a:lnTo>
                <a:lnTo>
                  <a:pt x="172753" y="4729"/>
                </a:lnTo>
                <a:lnTo>
                  <a:pt x="137159" y="0"/>
                </a:lnTo>
                <a:close/>
              </a:path>
            </a:pathLst>
          </a:custGeom>
          <a:solidFill>
            <a:srgbClr val="C70F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60374" y="3952341"/>
            <a:ext cx="9017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85824" y="3925696"/>
            <a:ext cx="71501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solidFill>
                  <a:srgbClr val="FFFFFF"/>
                </a:solidFill>
                <a:latin typeface="Tahoma"/>
                <a:cs typeface="Tahoma"/>
              </a:rPr>
              <a:t>Delhi</a:t>
            </a:r>
            <a:r>
              <a:rPr sz="135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60" dirty="0">
                <a:solidFill>
                  <a:srgbClr val="FFFFFF"/>
                </a:solidFill>
                <a:latin typeface="Tahoma"/>
                <a:cs typeface="Tahoma"/>
              </a:rPr>
              <a:t>NCR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68324" y="45075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20">
                <a:moveTo>
                  <a:pt x="137159" y="0"/>
                </a:moveTo>
                <a:lnTo>
                  <a:pt x="84710" y="10479"/>
                </a:lnTo>
                <a:lnTo>
                  <a:pt x="40182" y="40184"/>
                </a:lnTo>
                <a:lnTo>
                  <a:pt x="10474" y="84712"/>
                </a:lnTo>
                <a:lnTo>
                  <a:pt x="0" y="137160"/>
                </a:lnTo>
                <a:lnTo>
                  <a:pt x="1197" y="155141"/>
                </a:lnTo>
                <a:lnTo>
                  <a:pt x="18351" y="205917"/>
                </a:lnTo>
                <a:lnTo>
                  <a:pt x="53745" y="246013"/>
                </a:lnTo>
                <a:lnTo>
                  <a:pt x="101606" y="269595"/>
                </a:lnTo>
                <a:lnTo>
                  <a:pt x="137159" y="274320"/>
                </a:lnTo>
                <a:lnTo>
                  <a:pt x="155141" y="273122"/>
                </a:lnTo>
                <a:lnTo>
                  <a:pt x="205917" y="255955"/>
                </a:lnTo>
                <a:lnTo>
                  <a:pt x="246013" y="220724"/>
                </a:lnTo>
                <a:lnTo>
                  <a:pt x="269590" y="172753"/>
                </a:lnTo>
                <a:lnTo>
                  <a:pt x="274319" y="137160"/>
                </a:lnTo>
                <a:lnTo>
                  <a:pt x="273120" y="119183"/>
                </a:lnTo>
                <a:lnTo>
                  <a:pt x="255955" y="68757"/>
                </a:lnTo>
                <a:lnTo>
                  <a:pt x="220724" y="28311"/>
                </a:lnTo>
                <a:lnTo>
                  <a:pt x="172753" y="4724"/>
                </a:lnTo>
                <a:lnTo>
                  <a:pt x="137159" y="0"/>
                </a:lnTo>
                <a:close/>
              </a:path>
            </a:pathLst>
          </a:custGeom>
          <a:solidFill>
            <a:srgbClr val="C70F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60374" y="4555706"/>
            <a:ext cx="9017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85824" y="4529061"/>
            <a:ext cx="37719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45" dirty="0">
                <a:solidFill>
                  <a:srgbClr val="FFFFFF"/>
                </a:solidFill>
                <a:latin typeface="Tahoma"/>
                <a:cs typeface="Tahoma"/>
              </a:rPr>
              <a:t>Pune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68324" y="511128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20">
                <a:moveTo>
                  <a:pt x="137159" y="0"/>
                </a:moveTo>
                <a:lnTo>
                  <a:pt x="84710" y="10479"/>
                </a:lnTo>
                <a:lnTo>
                  <a:pt x="40182" y="40139"/>
                </a:lnTo>
                <a:lnTo>
                  <a:pt x="10474" y="84562"/>
                </a:lnTo>
                <a:lnTo>
                  <a:pt x="0" y="137160"/>
                </a:lnTo>
                <a:lnTo>
                  <a:pt x="1197" y="155136"/>
                </a:lnTo>
                <a:lnTo>
                  <a:pt x="18351" y="205562"/>
                </a:lnTo>
                <a:lnTo>
                  <a:pt x="53745" y="246008"/>
                </a:lnTo>
                <a:lnTo>
                  <a:pt x="101606" y="269595"/>
                </a:lnTo>
                <a:lnTo>
                  <a:pt x="137159" y="274320"/>
                </a:lnTo>
                <a:lnTo>
                  <a:pt x="155141" y="273122"/>
                </a:lnTo>
                <a:lnTo>
                  <a:pt x="205917" y="255955"/>
                </a:lnTo>
                <a:lnTo>
                  <a:pt x="246013" y="220574"/>
                </a:lnTo>
                <a:lnTo>
                  <a:pt x="269590" y="172708"/>
                </a:lnTo>
                <a:lnTo>
                  <a:pt x="274319" y="137160"/>
                </a:lnTo>
                <a:lnTo>
                  <a:pt x="273120" y="119178"/>
                </a:lnTo>
                <a:lnTo>
                  <a:pt x="255955" y="68402"/>
                </a:lnTo>
                <a:lnTo>
                  <a:pt x="220724" y="28306"/>
                </a:lnTo>
                <a:lnTo>
                  <a:pt x="172753" y="4724"/>
                </a:lnTo>
                <a:lnTo>
                  <a:pt x="137159" y="0"/>
                </a:lnTo>
                <a:close/>
              </a:path>
            </a:pathLst>
          </a:custGeom>
          <a:solidFill>
            <a:srgbClr val="C70F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60374" y="5159425"/>
            <a:ext cx="9017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85824" y="5132781"/>
            <a:ext cx="77978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60" dirty="0">
                <a:solidFill>
                  <a:srgbClr val="FFFFFF"/>
                </a:solidFill>
                <a:latin typeface="Tahoma"/>
                <a:cs typeface="Tahoma"/>
              </a:rPr>
              <a:t>Hyderabad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217920" y="1508760"/>
            <a:ext cx="5349240" cy="4526280"/>
          </a:xfrm>
          <a:custGeom>
            <a:avLst/>
            <a:gdLst/>
            <a:ahLst/>
            <a:cxnLst/>
            <a:rect l="l" t="t" r="r" b="b"/>
            <a:pathLst>
              <a:path w="5349240" h="4526280">
                <a:moveTo>
                  <a:pt x="5275795" y="0"/>
                </a:moveTo>
                <a:lnTo>
                  <a:pt x="73075" y="0"/>
                </a:lnTo>
                <a:lnTo>
                  <a:pt x="63599" y="607"/>
                </a:lnTo>
                <a:lnTo>
                  <a:pt x="2142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4453204"/>
                </a:lnTo>
                <a:lnTo>
                  <a:pt x="15098" y="4497574"/>
                </a:lnTo>
                <a:lnTo>
                  <a:pt x="54046" y="4523851"/>
                </a:lnTo>
                <a:lnTo>
                  <a:pt x="73075" y="4526280"/>
                </a:lnTo>
                <a:lnTo>
                  <a:pt x="5276164" y="4525924"/>
                </a:lnTo>
                <a:lnTo>
                  <a:pt x="5320534" y="4510820"/>
                </a:lnTo>
                <a:lnTo>
                  <a:pt x="5343698" y="4481095"/>
                </a:lnTo>
                <a:lnTo>
                  <a:pt x="5343775" y="4480939"/>
                </a:lnTo>
                <a:lnTo>
                  <a:pt x="5346751" y="4472055"/>
                </a:lnTo>
                <a:lnTo>
                  <a:pt x="5346811" y="4471876"/>
                </a:lnTo>
                <a:lnTo>
                  <a:pt x="5348592" y="4462680"/>
                </a:lnTo>
                <a:lnTo>
                  <a:pt x="5348632" y="4462475"/>
                </a:lnTo>
                <a:lnTo>
                  <a:pt x="5349216" y="4453204"/>
                </a:lnTo>
                <a:lnTo>
                  <a:pt x="5349239" y="4452835"/>
                </a:lnTo>
                <a:lnTo>
                  <a:pt x="5348884" y="73075"/>
                </a:lnTo>
                <a:lnTo>
                  <a:pt x="5333780" y="28705"/>
                </a:lnTo>
                <a:lnTo>
                  <a:pt x="5294836" y="2428"/>
                </a:lnTo>
                <a:lnTo>
                  <a:pt x="5285435" y="607"/>
                </a:lnTo>
                <a:lnTo>
                  <a:pt x="5275795" y="0"/>
                </a:lnTo>
                <a:close/>
              </a:path>
            </a:pathLst>
          </a:custGeom>
          <a:solidFill>
            <a:srgbClr val="F2F0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525259" y="1785149"/>
            <a:ext cx="3232150" cy="636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131313"/>
                </a:solidFill>
                <a:latin typeface="Times New Roman"/>
                <a:cs typeface="Times New Roman"/>
              </a:rPr>
              <a:t>Wave</a:t>
            </a:r>
            <a:r>
              <a:rPr sz="1600" b="1" spc="-4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131313"/>
                </a:solidFill>
                <a:latin typeface="Times New Roman"/>
                <a:cs typeface="Times New Roman"/>
              </a:rPr>
              <a:t>2</a:t>
            </a:r>
            <a:r>
              <a:rPr sz="1600" b="1" spc="-5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131313"/>
                </a:solidFill>
                <a:latin typeface="Times New Roman"/>
                <a:cs typeface="Times New Roman"/>
              </a:rPr>
              <a:t>—</a:t>
            </a:r>
            <a:r>
              <a:rPr sz="1600" b="1" spc="-3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131313"/>
                </a:solidFill>
                <a:latin typeface="Times New Roman"/>
                <a:cs typeface="Times New Roman"/>
              </a:rPr>
              <a:t>Scale</a:t>
            </a:r>
            <a:r>
              <a:rPr sz="1600" b="1" spc="-40" dirty="0">
                <a:solidFill>
                  <a:srgbClr val="131313"/>
                </a:solidFill>
                <a:latin typeface="Times New Roman"/>
                <a:cs typeface="Times New Roman"/>
              </a:rPr>
              <a:t> (Q3–</a:t>
            </a:r>
            <a:r>
              <a:rPr sz="1600" b="1" spc="-25" dirty="0">
                <a:solidFill>
                  <a:srgbClr val="131313"/>
                </a:solidFill>
                <a:latin typeface="Times New Roman"/>
                <a:cs typeface="Times New Roman"/>
              </a:rPr>
              <a:t>Q4)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1100" i="1" spc="-55" dirty="0">
                <a:solidFill>
                  <a:srgbClr val="6D6A67"/>
                </a:solidFill>
                <a:latin typeface="Trebuchet MS"/>
                <a:cs typeface="Trebuchet MS"/>
              </a:rPr>
              <a:t>Emerging</a:t>
            </a:r>
            <a:r>
              <a:rPr sz="1100" i="1" spc="-35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100" i="1" spc="-75" dirty="0">
                <a:solidFill>
                  <a:srgbClr val="6D6A67"/>
                </a:solidFill>
                <a:latin typeface="Trebuchet MS"/>
                <a:cs typeface="Trebuchet MS"/>
              </a:rPr>
              <a:t>quick-</a:t>
            </a:r>
            <a:r>
              <a:rPr sz="1100" i="1" spc="-65" dirty="0">
                <a:solidFill>
                  <a:srgbClr val="6D6A67"/>
                </a:solidFill>
                <a:latin typeface="Trebuchet MS"/>
                <a:cs typeface="Trebuchet MS"/>
              </a:rPr>
              <a:t>commerce</a:t>
            </a:r>
            <a:r>
              <a:rPr sz="1100" i="1" spc="-40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100" i="1" spc="-65" dirty="0">
                <a:solidFill>
                  <a:srgbClr val="6D6A67"/>
                </a:solidFill>
                <a:latin typeface="Trebuchet MS"/>
                <a:cs typeface="Trebuchet MS"/>
              </a:rPr>
              <a:t>metros</a:t>
            </a:r>
            <a:r>
              <a:rPr sz="1100" i="1" spc="-25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100" i="1" spc="-40" dirty="0">
                <a:solidFill>
                  <a:srgbClr val="6D6A67"/>
                </a:solidFill>
                <a:latin typeface="Trebuchet MS"/>
                <a:cs typeface="Trebuchet MS"/>
              </a:rPr>
              <a:t>&amp; </a:t>
            </a:r>
            <a:r>
              <a:rPr sz="1100" i="1" spc="-45" dirty="0">
                <a:solidFill>
                  <a:srgbClr val="6D6A67"/>
                </a:solidFill>
                <a:latin typeface="Trebuchet MS"/>
                <a:cs typeface="Trebuchet MS"/>
              </a:rPr>
              <a:t>growing</a:t>
            </a:r>
            <a:r>
              <a:rPr sz="1100" i="1" spc="-30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100" i="1" spc="-65" dirty="0">
                <a:solidFill>
                  <a:srgbClr val="6D6A67"/>
                </a:solidFill>
                <a:latin typeface="Trebuchet MS"/>
                <a:cs typeface="Trebuchet MS"/>
              </a:rPr>
              <a:t>youth</a:t>
            </a:r>
            <a:r>
              <a:rPr sz="1100" i="1" spc="-35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100" i="1" spc="-20" dirty="0">
                <a:solidFill>
                  <a:srgbClr val="6D6A67"/>
                </a:solidFill>
                <a:latin typeface="Trebuchet MS"/>
                <a:cs typeface="Trebuchet MS"/>
              </a:rPr>
              <a:t>base</a:t>
            </a:r>
            <a:endParaRPr sz="1100" dirty="0">
              <a:latin typeface="Trebuchet MS"/>
              <a:cs typeface="Trebuchet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537604" y="2697124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19">
                <a:moveTo>
                  <a:pt x="137159" y="0"/>
                </a:moveTo>
                <a:lnTo>
                  <a:pt x="84555" y="10474"/>
                </a:lnTo>
                <a:lnTo>
                  <a:pt x="40136" y="40136"/>
                </a:lnTo>
                <a:lnTo>
                  <a:pt x="10474" y="84555"/>
                </a:lnTo>
                <a:lnTo>
                  <a:pt x="0" y="137160"/>
                </a:lnTo>
                <a:lnTo>
                  <a:pt x="1197" y="155136"/>
                </a:lnTo>
                <a:lnTo>
                  <a:pt x="18351" y="205549"/>
                </a:lnTo>
                <a:lnTo>
                  <a:pt x="53589" y="246008"/>
                </a:lnTo>
                <a:lnTo>
                  <a:pt x="101560" y="269590"/>
                </a:lnTo>
                <a:lnTo>
                  <a:pt x="137159" y="274319"/>
                </a:lnTo>
                <a:lnTo>
                  <a:pt x="155136" y="273120"/>
                </a:lnTo>
                <a:lnTo>
                  <a:pt x="205549" y="255955"/>
                </a:lnTo>
                <a:lnTo>
                  <a:pt x="246008" y="220569"/>
                </a:lnTo>
                <a:lnTo>
                  <a:pt x="269590" y="172707"/>
                </a:lnTo>
                <a:lnTo>
                  <a:pt x="274319" y="137160"/>
                </a:lnTo>
                <a:lnTo>
                  <a:pt x="273120" y="119172"/>
                </a:lnTo>
                <a:lnTo>
                  <a:pt x="255955" y="68389"/>
                </a:lnTo>
                <a:lnTo>
                  <a:pt x="220569" y="28300"/>
                </a:lnTo>
                <a:lnTo>
                  <a:pt x="172707" y="4722"/>
                </a:lnTo>
                <a:lnTo>
                  <a:pt x="137159" y="0"/>
                </a:lnTo>
                <a:close/>
              </a:path>
            </a:pathLst>
          </a:custGeom>
          <a:solidFill>
            <a:srgbClr val="D3AE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629654" y="2745270"/>
            <a:ext cx="9017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55104" y="2718612"/>
            <a:ext cx="59055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solidFill>
                  <a:srgbClr val="131313"/>
                </a:solidFill>
                <a:latin typeface="Tahoma"/>
                <a:cs typeface="Tahoma"/>
              </a:rPr>
              <a:t>Chennai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537604" y="330047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59" y="0"/>
                </a:moveTo>
                <a:lnTo>
                  <a:pt x="84555" y="10485"/>
                </a:lnTo>
                <a:lnTo>
                  <a:pt x="40136" y="40184"/>
                </a:lnTo>
                <a:lnTo>
                  <a:pt x="10474" y="84712"/>
                </a:lnTo>
                <a:lnTo>
                  <a:pt x="0" y="137160"/>
                </a:lnTo>
                <a:lnTo>
                  <a:pt x="1197" y="155147"/>
                </a:lnTo>
                <a:lnTo>
                  <a:pt x="18351" y="205917"/>
                </a:lnTo>
                <a:lnTo>
                  <a:pt x="53589" y="246019"/>
                </a:lnTo>
                <a:lnTo>
                  <a:pt x="101560" y="269597"/>
                </a:lnTo>
                <a:lnTo>
                  <a:pt x="137159" y="274320"/>
                </a:lnTo>
                <a:lnTo>
                  <a:pt x="155136" y="273122"/>
                </a:lnTo>
                <a:lnTo>
                  <a:pt x="205549" y="255968"/>
                </a:lnTo>
                <a:lnTo>
                  <a:pt x="246008" y="220724"/>
                </a:lnTo>
                <a:lnTo>
                  <a:pt x="269590" y="172758"/>
                </a:lnTo>
                <a:lnTo>
                  <a:pt x="274319" y="137160"/>
                </a:lnTo>
                <a:lnTo>
                  <a:pt x="273120" y="119183"/>
                </a:lnTo>
                <a:lnTo>
                  <a:pt x="255955" y="68757"/>
                </a:lnTo>
                <a:lnTo>
                  <a:pt x="220569" y="28311"/>
                </a:lnTo>
                <a:lnTo>
                  <a:pt x="172707" y="4729"/>
                </a:lnTo>
                <a:lnTo>
                  <a:pt x="137159" y="0"/>
                </a:lnTo>
                <a:close/>
              </a:path>
            </a:pathLst>
          </a:custGeom>
          <a:solidFill>
            <a:srgbClr val="D3AE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629654" y="3348621"/>
            <a:ext cx="9017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55104" y="3321977"/>
            <a:ext cx="86614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5" dirty="0">
                <a:solidFill>
                  <a:srgbClr val="131313"/>
                </a:solidFill>
                <a:latin typeface="Tahoma"/>
                <a:cs typeface="Tahoma"/>
              </a:rPr>
              <a:t>Ahmedabad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537604" y="3904195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59" y="0"/>
                </a:moveTo>
                <a:lnTo>
                  <a:pt x="84555" y="10485"/>
                </a:lnTo>
                <a:lnTo>
                  <a:pt x="40136" y="40184"/>
                </a:lnTo>
                <a:lnTo>
                  <a:pt x="10474" y="84712"/>
                </a:lnTo>
                <a:lnTo>
                  <a:pt x="0" y="137159"/>
                </a:lnTo>
                <a:lnTo>
                  <a:pt x="1197" y="155147"/>
                </a:lnTo>
                <a:lnTo>
                  <a:pt x="18351" y="205917"/>
                </a:lnTo>
                <a:lnTo>
                  <a:pt x="53589" y="246019"/>
                </a:lnTo>
                <a:lnTo>
                  <a:pt x="101560" y="269597"/>
                </a:lnTo>
                <a:lnTo>
                  <a:pt x="137159" y="274319"/>
                </a:lnTo>
                <a:lnTo>
                  <a:pt x="155136" y="273122"/>
                </a:lnTo>
                <a:lnTo>
                  <a:pt x="205549" y="255968"/>
                </a:lnTo>
                <a:lnTo>
                  <a:pt x="246008" y="220724"/>
                </a:lnTo>
                <a:lnTo>
                  <a:pt x="269590" y="172758"/>
                </a:lnTo>
                <a:lnTo>
                  <a:pt x="274319" y="137159"/>
                </a:lnTo>
                <a:lnTo>
                  <a:pt x="273120" y="119183"/>
                </a:lnTo>
                <a:lnTo>
                  <a:pt x="255955" y="68757"/>
                </a:lnTo>
                <a:lnTo>
                  <a:pt x="220569" y="28311"/>
                </a:lnTo>
                <a:lnTo>
                  <a:pt x="172707" y="4729"/>
                </a:lnTo>
                <a:lnTo>
                  <a:pt x="137159" y="0"/>
                </a:lnTo>
                <a:close/>
              </a:path>
            </a:pathLst>
          </a:custGeom>
          <a:solidFill>
            <a:srgbClr val="D3AE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629654" y="3952341"/>
            <a:ext cx="9017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55104" y="3925696"/>
            <a:ext cx="81280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60" dirty="0">
                <a:solidFill>
                  <a:srgbClr val="131313"/>
                </a:solidFill>
                <a:latin typeface="Tahoma"/>
                <a:cs typeface="Tahoma"/>
              </a:rPr>
              <a:t>Chandigarh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537604" y="45075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59" y="0"/>
                </a:moveTo>
                <a:lnTo>
                  <a:pt x="84555" y="10479"/>
                </a:lnTo>
                <a:lnTo>
                  <a:pt x="40136" y="40184"/>
                </a:lnTo>
                <a:lnTo>
                  <a:pt x="10474" y="84712"/>
                </a:lnTo>
                <a:lnTo>
                  <a:pt x="0" y="137160"/>
                </a:lnTo>
                <a:lnTo>
                  <a:pt x="1197" y="155141"/>
                </a:lnTo>
                <a:lnTo>
                  <a:pt x="18351" y="205917"/>
                </a:lnTo>
                <a:lnTo>
                  <a:pt x="53589" y="246013"/>
                </a:lnTo>
                <a:lnTo>
                  <a:pt x="101560" y="269595"/>
                </a:lnTo>
                <a:lnTo>
                  <a:pt x="137159" y="274320"/>
                </a:lnTo>
                <a:lnTo>
                  <a:pt x="155136" y="273122"/>
                </a:lnTo>
                <a:lnTo>
                  <a:pt x="205549" y="255955"/>
                </a:lnTo>
                <a:lnTo>
                  <a:pt x="246008" y="220724"/>
                </a:lnTo>
                <a:lnTo>
                  <a:pt x="269590" y="172753"/>
                </a:lnTo>
                <a:lnTo>
                  <a:pt x="274319" y="137160"/>
                </a:lnTo>
                <a:lnTo>
                  <a:pt x="273120" y="119183"/>
                </a:lnTo>
                <a:lnTo>
                  <a:pt x="255955" y="68757"/>
                </a:lnTo>
                <a:lnTo>
                  <a:pt x="220569" y="28311"/>
                </a:lnTo>
                <a:lnTo>
                  <a:pt x="172707" y="4724"/>
                </a:lnTo>
                <a:lnTo>
                  <a:pt x="137159" y="0"/>
                </a:lnTo>
                <a:close/>
              </a:path>
            </a:pathLst>
          </a:custGeom>
          <a:solidFill>
            <a:srgbClr val="D3AE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629654" y="4555706"/>
            <a:ext cx="9017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955104" y="4529061"/>
            <a:ext cx="43815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5" dirty="0">
                <a:solidFill>
                  <a:srgbClr val="131313"/>
                </a:solidFill>
                <a:latin typeface="Tahoma"/>
                <a:cs typeface="Tahoma"/>
              </a:rPr>
              <a:t>Jaipur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537604" y="511128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59" y="0"/>
                </a:moveTo>
                <a:lnTo>
                  <a:pt x="84555" y="10479"/>
                </a:lnTo>
                <a:lnTo>
                  <a:pt x="40136" y="40139"/>
                </a:lnTo>
                <a:lnTo>
                  <a:pt x="10474" y="84562"/>
                </a:lnTo>
                <a:lnTo>
                  <a:pt x="0" y="137160"/>
                </a:lnTo>
                <a:lnTo>
                  <a:pt x="1197" y="155136"/>
                </a:lnTo>
                <a:lnTo>
                  <a:pt x="18351" y="205562"/>
                </a:lnTo>
                <a:lnTo>
                  <a:pt x="53589" y="246008"/>
                </a:lnTo>
                <a:lnTo>
                  <a:pt x="101560" y="269595"/>
                </a:lnTo>
                <a:lnTo>
                  <a:pt x="137159" y="274320"/>
                </a:lnTo>
                <a:lnTo>
                  <a:pt x="155136" y="273122"/>
                </a:lnTo>
                <a:lnTo>
                  <a:pt x="205549" y="255955"/>
                </a:lnTo>
                <a:lnTo>
                  <a:pt x="246008" y="220574"/>
                </a:lnTo>
                <a:lnTo>
                  <a:pt x="269590" y="172708"/>
                </a:lnTo>
                <a:lnTo>
                  <a:pt x="274319" y="137160"/>
                </a:lnTo>
                <a:lnTo>
                  <a:pt x="273120" y="119178"/>
                </a:lnTo>
                <a:lnTo>
                  <a:pt x="255955" y="68402"/>
                </a:lnTo>
                <a:lnTo>
                  <a:pt x="220569" y="28306"/>
                </a:lnTo>
                <a:lnTo>
                  <a:pt x="172707" y="4724"/>
                </a:lnTo>
                <a:lnTo>
                  <a:pt x="137159" y="0"/>
                </a:lnTo>
                <a:close/>
              </a:path>
            </a:pathLst>
          </a:custGeom>
          <a:solidFill>
            <a:srgbClr val="D3AE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629654" y="5159425"/>
            <a:ext cx="9017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955104" y="5132781"/>
            <a:ext cx="53149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60" dirty="0">
                <a:solidFill>
                  <a:srgbClr val="131313"/>
                </a:solidFill>
                <a:latin typeface="Tahoma"/>
                <a:cs typeface="Tahoma"/>
              </a:rPr>
              <a:t>Kolkata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641020" y="3474364"/>
            <a:ext cx="558165" cy="604520"/>
            <a:chOff x="5641020" y="3474364"/>
            <a:chExt cx="558165" cy="604520"/>
          </a:xfrm>
        </p:grpSpPr>
        <p:sp>
          <p:nvSpPr>
            <p:cNvPr id="39" name="object 39"/>
            <p:cNvSpPr/>
            <p:nvPr/>
          </p:nvSpPr>
          <p:spPr>
            <a:xfrm>
              <a:off x="5742000" y="3474364"/>
              <a:ext cx="457200" cy="27305"/>
            </a:xfrm>
            <a:custGeom>
              <a:avLst/>
              <a:gdLst/>
              <a:ahLst/>
              <a:cxnLst/>
              <a:rect l="l" t="t" r="r" b="b"/>
              <a:pathLst>
                <a:path w="457200" h="27304">
                  <a:moveTo>
                    <a:pt x="456844" y="0"/>
                  </a:moveTo>
                  <a:lnTo>
                    <a:pt x="0" y="0"/>
                  </a:lnTo>
                  <a:lnTo>
                    <a:pt x="0" y="27000"/>
                  </a:lnTo>
                  <a:lnTo>
                    <a:pt x="228600" y="27000"/>
                  </a:lnTo>
                  <a:lnTo>
                    <a:pt x="456844" y="27000"/>
                  </a:lnTo>
                  <a:lnTo>
                    <a:pt x="456844" y="0"/>
                  </a:lnTo>
                  <a:close/>
                </a:path>
              </a:pathLst>
            </a:custGeom>
            <a:solidFill>
              <a:srgbClr val="E2D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650560" y="361152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4" y="7739"/>
                  </a:lnTo>
                  <a:lnTo>
                    <a:pt x="114477" y="30594"/>
                  </a:lnTo>
                  <a:lnTo>
                    <a:pt x="67006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9" y="367871"/>
                  </a:lnTo>
                  <a:lnTo>
                    <a:pt x="89478" y="409900"/>
                  </a:lnTo>
                  <a:lnTo>
                    <a:pt x="141269" y="439883"/>
                  </a:lnTo>
                  <a:lnTo>
                    <a:pt x="198772" y="455253"/>
                  </a:lnTo>
                  <a:lnTo>
                    <a:pt x="228600" y="457200"/>
                  </a:lnTo>
                  <a:lnTo>
                    <a:pt x="258433" y="455253"/>
                  </a:lnTo>
                  <a:lnTo>
                    <a:pt x="316080" y="439883"/>
                  </a:lnTo>
                  <a:lnTo>
                    <a:pt x="367871" y="409900"/>
                  </a:lnTo>
                  <a:lnTo>
                    <a:pt x="409905" y="367871"/>
                  </a:lnTo>
                  <a:lnTo>
                    <a:pt x="439888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8" y="141267"/>
                  </a:lnTo>
                  <a:lnTo>
                    <a:pt x="409905" y="89473"/>
                  </a:lnTo>
                  <a:lnTo>
                    <a:pt x="367871" y="47297"/>
                  </a:lnTo>
                  <a:lnTo>
                    <a:pt x="316080" y="17311"/>
                  </a:lnTo>
                  <a:lnTo>
                    <a:pt x="258433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0720" y="3721328"/>
              <a:ext cx="237236" cy="237236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650560" y="361152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946" y="198766"/>
                  </a:lnTo>
                  <a:lnTo>
                    <a:pt x="7739" y="169510"/>
                  </a:lnTo>
                  <a:lnTo>
                    <a:pt x="30594" y="114477"/>
                  </a:lnTo>
                  <a:lnTo>
                    <a:pt x="67006" y="67002"/>
                  </a:lnTo>
                  <a:lnTo>
                    <a:pt x="114477" y="30594"/>
                  </a:lnTo>
                  <a:lnTo>
                    <a:pt x="169514" y="7739"/>
                  </a:lnTo>
                  <a:lnTo>
                    <a:pt x="228600" y="0"/>
                  </a:lnTo>
                  <a:lnTo>
                    <a:pt x="287729" y="7739"/>
                  </a:lnTo>
                  <a:lnTo>
                    <a:pt x="343077" y="30594"/>
                  </a:lnTo>
                  <a:lnTo>
                    <a:pt x="390237" y="67002"/>
                  </a:lnTo>
                  <a:lnTo>
                    <a:pt x="426605" y="114477"/>
                  </a:lnTo>
                  <a:lnTo>
                    <a:pt x="449460" y="169510"/>
                  </a:lnTo>
                  <a:lnTo>
                    <a:pt x="457200" y="228600"/>
                  </a:lnTo>
                  <a:lnTo>
                    <a:pt x="455253" y="258431"/>
                  </a:lnTo>
                  <a:lnTo>
                    <a:pt x="449460" y="287724"/>
                  </a:lnTo>
                  <a:lnTo>
                    <a:pt x="426605" y="343077"/>
                  </a:lnTo>
                  <a:lnTo>
                    <a:pt x="390237" y="390236"/>
                  </a:lnTo>
                  <a:lnTo>
                    <a:pt x="343077" y="426592"/>
                  </a:lnTo>
                  <a:lnTo>
                    <a:pt x="287729" y="449459"/>
                  </a:lnTo>
                  <a:lnTo>
                    <a:pt x="228600" y="457200"/>
                  </a:lnTo>
                  <a:lnTo>
                    <a:pt x="169514" y="449459"/>
                  </a:lnTo>
                  <a:lnTo>
                    <a:pt x="114477" y="426592"/>
                  </a:lnTo>
                  <a:lnTo>
                    <a:pt x="67006" y="390236"/>
                  </a:lnTo>
                  <a:lnTo>
                    <a:pt x="30594" y="343077"/>
                  </a:lnTo>
                  <a:lnTo>
                    <a:pt x="7739" y="287724"/>
                  </a:lnTo>
                  <a:lnTo>
                    <a:pt x="1946" y="258431"/>
                  </a:lnTo>
                  <a:lnTo>
                    <a:pt x="0" y="228600"/>
                  </a:lnTo>
                  <a:close/>
                </a:path>
              </a:pathLst>
            </a:custGeom>
            <a:ln w="19079">
              <a:solidFill>
                <a:srgbClr val="E2DF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44144" y="6584302"/>
            <a:ext cx="2299056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r>
              <a:rPr sz="900" spc="-3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sz="900" spc="-3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900" spc="-4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Regional</a:t>
            </a:r>
            <a:r>
              <a:rPr sz="900" spc="-4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3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Opportunity</a:t>
            </a:r>
            <a:r>
              <a:rPr sz="900" spc="-3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2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831857" y="6584301"/>
            <a:ext cx="191643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Budweiser</a:t>
            </a:r>
            <a:r>
              <a:rPr sz="900" spc="-5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Beats</a:t>
            </a:r>
            <a:r>
              <a:rPr sz="900" spc="-5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900" spc="-5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5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India</a:t>
            </a:r>
            <a:r>
              <a:rPr sz="900" spc="-4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3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Growth</a:t>
            </a:r>
            <a:r>
              <a:rPr sz="900" spc="-5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3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Strategy</a:t>
            </a:r>
            <a:endParaRPr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584" y="404177"/>
            <a:ext cx="2637510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-114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250" b="1" spc="-1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7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sz="1250" b="1" spc="-19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4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250" b="1" spc="-1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2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250" b="1" spc="-17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2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250" b="1" spc="-1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114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50" b="1" spc="-17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250" b="1" spc="21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4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250" b="1" spc="-1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2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250" b="1" spc="-17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4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250" b="1" spc="-1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10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sz="1250" b="1" spc="-204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6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250" b="1" spc="-1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2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250" b="1" spc="-17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250" b="1" spc="2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15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1250" b="1" spc="2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5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5584" y="709460"/>
            <a:ext cx="7219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0" dirty="0">
                <a:solidFill>
                  <a:srgbClr val="131313"/>
                </a:solidFill>
                <a:latin typeface="Times New Roman"/>
                <a:cs typeface="Times New Roman"/>
              </a:rPr>
              <a:t>Four</a:t>
            </a:r>
            <a:r>
              <a:rPr sz="3000" spc="-10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131313"/>
                </a:solidFill>
                <a:latin typeface="Times New Roman"/>
                <a:cs typeface="Times New Roman"/>
              </a:rPr>
              <a:t>Routes</a:t>
            </a:r>
            <a:r>
              <a:rPr sz="3000" spc="-9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131313"/>
                </a:solidFill>
                <a:latin typeface="Times New Roman"/>
                <a:cs typeface="Times New Roman"/>
              </a:rPr>
              <a:t>to</a:t>
            </a:r>
            <a:r>
              <a:rPr sz="3000" spc="-9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131313"/>
                </a:solidFill>
                <a:latin typeface="Times New Roman"/>
                <a:cs typeface="Times New Roman"/>
              </a:rPr>
              <a:t>Market,</a:t>
            </a:r>
            <a:r>
              <a:rPr sz="3000" spc="-9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131313"/>
                </a:solidFill>
                <a:latin typeface="Times New Roman"/>
                <a:cs typeface="Times New Roman"/>
              </a:rPr>
              <a:t>Four</a:t>
            </a:r>
            <a:r>
              <a:rPr sz="3000" spc="-10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spc="55" dirty="0">
                <a:solidFill>
                  <a:srgbClr val="131313"/>
                </a:solidFill>
                <a:latin typeface="Times New Roman"/>
                <a:cs typeface="Times New Roman"/>
              </a:rPr>
              <a:t>Different</a:t>
            </a:r>
            <a:r>
              <a:rPr sz="3000" spc="-9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131313"/>
                </a:solidFill>
                <a:latin typeface="Times New Roman"/>
                <a:cs typeface="Times New Roman"/>
              </a:rPr>
              <a:t>Jobs</a:t>
            </a:r>
            <a:endParaRPr sz="3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2919" y="1462684"/>
            <a:ext cx="2670175" cy="4754880"/>
            <a:chOff x="502919" y="1462684"/>
            <a:chExt cx="2670175" cy="4754880"/>
          </a:xfrm>
        </p:grpSpPr>
        <p:sp>
          <p:nvSpPr>
            <p:cNvPr id="5" name="object 5"/>
            <p:cNvSpPr/>
            <p:nvPr/>
          </p:nvSpPr>
          <p:spPr>
            <a:xfrm>
              <a:off x="502919" y="1462684"/>
              <a:ext cx="2670175" cy="4754880"/>
            </a:xfrm>
            <a:custGeom>
              <a:avLst/>
              <a:gdLst/>
              <a:ahLst/>
              <a:cxnLst/>
              <a:rect l="l" t="t" r="r" b="b"/>
              <a:pathLst>
                <a:path w="2670175" h="4754880">
                  <a:moveTo>
                    <a:pt x="2596680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4681791"/>
                  </a:lnTo>
                  <a:lnTo>
                    <a:pt x="15046" y="4726169"/>
                  </a:lnTo>
                  <a:lnTo>
                    <a:pt x="54046" y="4752449"/>
                  </a:lnTo>
                  <a:lnTo>
                    <a:pt x="73075" y="4754880"/>
                  </a:lnTo>
                  <a:lnTo>
                    <a:pt x="2597035" y="4754511"/>
                  </a:lnTo>
                  <a:lnTo>
                    <a:pt x="2641413" y="4739470"/>
                  </a:lnTo>
                  <a:lnTo>
                    <a:pt x="2667678" y="4700514"/>
                  </a:lnTo>
                  <a:lnTo>
                    <a:pt x="2670124" y="4681435"/>
                  </a:lnTo>
                  <a:lnTo>
                    <a:pt x="2669755" y="73075"/>
                  </a:lnTo>
                  <a:lnTo>
                    <a:pt x="2654714" y="28698"/>
                  </a:lnTo>
                  <a:lnTo>
                    <a:pt x="2615714" y="2428"/>
                  </a:lnTo>
                  <a:lnTo>
                    <a:pt x="2596680" y="0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08759" y="1691639"/>
              <a:ext cx="658495" cy="658495"/>
            </a:xfrm>
            <a:custGeom>
              <a:avLst/>
              <a:gdLst/>
              <a:ahLst/>
              <a:cxnLst/>
              <a:rect l="l" t="t" r="r" b="b"/>
              <a:pathLst>
                <a:path w="658494" h="658494">
                  <a:moveTo>
                    <a:pt x="329399" y="0"/>
                  </a:moveTo>
                  <a:lnTo>
                    <a:pt x="286220" y="2813"/>
                  </a:lnTo>
                  <a:lnTo>
                    <a:pt x="243986" y="11161"/>
                  </a:lnTo>
                  <a:lnTo>
                    <a:pt x="203237" y="24908"/>
                  </a:lnTo>
                  <a:lnTo>
                    <a:pt x="164515" y="43916"/>
                  </a:lnTo>
                  <a:lnTo>
                    <a:pt x="128668" y="67875"/>
                  </a:lnTo>
                  <a:lnTo>
                    <a:pt x="96432" y="96253"/>
                  </a:lnTo>
                  <a:lnTo>
                    <a:pt x="68180" y="128612"/>
                  </a:lnTo>
                  <a:lnTo>
                    <a:pt x="44284" y="164515"/>
                  </a:lnTo>
                  <a:lnTo>
                    <a:pt x="25063" y="203182"/>
                  </a:lnTo>
                  <a:lnTo>
                    <a:pt x="11207" y="243808"/>
                  </a:lnTo>
                  <a:lnTo>
                    <a:pt x="2819" y="285920"/>
                  </a:lnTo>
                  <a:lnTo>
                    <a:pt x="0" y="329044"/>
                  </a:lnTo>
                  <a:lnTo>
                    <a:pt x="2819" y="372160"/>
                  </a:lnTo>
                  <a:lnTo>
                    <a:pt x="11207" y="414269"/>
                  </a:lnTo>
                  <a:lnTo>
                    <a:pt x="25063" y="454893"/>
                  </a:lnTo>
                  <a:lnTo>
                    <a:pt x="44284" y="493560"/>
                  </a:lnTo>
                  <a:lnTo>
                    <a:pt x="68180" y="529463"/>
                  </a:lnTo>
                  <a:lnTo>
                    <a:pt x="96432" y="561822"/>
                  </a:lnTo>
                  <a:lnTo>
                    <a:pt x="128668" y="590200"/>
                  </a:lnTo>
                  <a:lnTo>
                    <a:pt x="164515" y="614159"/>
                  </a:lnTo>
                  <a:lnTo>
                    <a:pt x="203237" y="633172"/>
                  </a:lnTo>
                  <a:lnTo>
                    <a:pt x="243986" y="646918"/>
                  </a:lnTo>
                  <a:lnTo>
                    <a:pt x="286220" y="655264"/>
                  </a:lnTo>
                  <a:lnTo>
                    <a:pt x="329399" y="658075"/>
                  </a:lnTo>
                  <a:lnTo>
                    <a:pt x="372366" y="655264"/>
                  </a:lnTo>
                  <a:lnTo>
                    <a:pt x="414491" y="646918"/>
                  </a:lnTo>
                  <a:lnTo>
                    <a:pt x="455199" y="633172"/>
                  </a:lnTo>
                  <a:lnTo>
                    <a:pt x="493915" y="614159"/>
                  </a:lnTo>
                  <a:lnTo>
                    <a:pt x="529763" y="590200"/>
                  </a:lnTo>
                  <a:lnTo>
                    <a:pt x="562000" y="561822"/>
                  </a:lnTo>
                  <a:lnTo>
                    <a:pt x="590256" y="529463"/>
                  </a:lnTo>
                  <a:lnTo>
                    <a:pt x="614159" y="493560"/>
                  </a:lnTo>
                  <a:lnTo>
                    <a:pt x="633380" y="454893"/>
                  </a:lnTo>
                  <a:lnTo>
                    <a:pt x="647236" y="414269"/>
                  </a:lnTo>
                  <a:lnTo>
                    <a:pt x="655625" y="372160"/>
                  </a:lnTo>
                  <a:lnTo>
                    <a:pt x="658444" y="329044"/>
                  </a:lnTo>
                  <a:lnTo>
                    <a:pt x="655625" y="285920"/>
                  </a:lnTo>
                  <a:lnTo>
                    <a:pt x="647236" y="243808"/>
                  </a:lnTo>
                  <a:lnTo>
                    <a:pt x="633380" y="203182"/>
                  </a:lnTo>
                  <a:lnTo>
                    <a:pt x="614159" y="164515"/>
                  </a:lnTo>
                  <a:lnTo>
                    <a:pt x="590256" y="128612"/>
                  </a:lnTo>
                  <a:lnTo>
                    <a:pt x="562000" y="96253"/>
                  </a:lnTo>
                  <a:lnTo>
                    <a:pt x="529763" y="67875"/>
                  </a:lnTo>
                  <a:lnTo>
                    <a:pt x="493915" y="43916"/>
                  </a:lnTo>
                  <a:lnTo>
                    <a:pt x="455199" y="24908"/>
                  </a:lnTo>
                  <a:lnTo>
                    <a:pt x="414491" y="11161"/>
                  </a:lnTo>
                  <a:lnTo>
                    <a:pt x="372366" y="2813"/>
                  </a:lnTo>
                  <a:lnTo>
                    <a:pt x="329399" y="0"/>
                  </a:lnTo>
                  <a:close/>
                </a:path>
              </a:pathLst>
            </a:custGeom>
            <a:solidFill>
              <a:srgbClr val="C70F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6798" y="1849323"/>
              <a:ext cx="341998" cy="3419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142174" y="2536824"/>
            <a:ext cx="13906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Quick-</a:t>
            </a:r>
            <a:r>
              <a:rPr sz="1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Commerce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1464" y="3027146"/>
            <a:ext cx="3956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D3AE36"/>
                </a:solidFill>
                <a:latin typeface="Trebuchet MS"/>
                <a:cs typeface="Trebuchet MS"/>
              </a:rPr>
              <a:t>REACH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1464" y="3343947"/>
            <a:ext cx="110998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55" dirty="0">
                <a:solidFill>
                  <a:srgbClr val="FFFFFF"/>
                </a:solidFill>
                <a:latin typeface="Tahoma"/>
                <a:cs typeface="Tahoma"/>
              </a:rPr>
              <a:t>Dense,</a:t>
            </a:r>
            <a:r>
              <a:rPr sz="105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50" spc="-50" dirty="0">
                <a:solidFill>
                  <a:srgbClr val="FFFFFF"/>
                </a:solidFill>
                <a:latin typeface="Tahoma"/>
                <a:cs typeface="Tahoma"/>
              </a:rPr>
              <a:t>metro-</a:t>
            </a:r>
            <a:r>
              <a:rPr sz="1050" spc="-20" dirty="0">
                <a:solidFill>
                  <a:srgbClr val="FFFFFF"/>
                </a:solidFill>
                <a:latin typeface="Tahoma"/>
                <a:cs typeface="Tahoma"/>
              </a:rPr>
              <a:t>urban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1464" y="3740302"/>
            <a:ext cx="53276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D3AE36"/>
                </a:solidFill>
                <a:latin typeface="Trebuchet MS"/>
                <a:cs typeface="Trebuchet MS"/>
              </a:rPr>
              <a:t>GROWTH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1464" y="4057103"/>
            <a:ext cx="115189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55" dirty="0">
                <a:solidFill>
                  <a:srgbClr val="FFFFFF"/>
                </a:solidFill>
                <a:latin typeface="Tahoma"/>
                <a:cs typeface="Tahoma"/>
              </a:rPr>
              <a:t>Very</a:t>
            </a:r>
            <a:r>
              <a:rPr sz="10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50" spc="-55" dirty="0">
                <a:solidFill>
                  <a:srgbClr val="FFFFFF"/>
                </a:solidFill>
                <a:latin typeface="Tahoma"/>
                <a:cs typeface="Tahoma"/>
              </a:rPr>
              <a:t>high </a:t>
            </a:r>
            <a:r>
              <a:rPr sz="1050" spc="-155" dirty="0">
                <a:solidFill>
                  <a:srgbClr val="FFFFFF"/>
                </a:solidFill>
                <a:latin typeface="Tahoma"/>
                <a:cs typeface="Tahoma"/>
              </a:rPr>
              <a:t>(40%+</a:t>
            </a:r>
            <a:r>
              <a:rPr sz="10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50" spc="-65" dirty="0">
                <a:solidFill>
                  <a:srgbClr val="FFFFFF"/>
                </a:solidFill>
                <a:latin typeface="Tahoma"/>
                <a:cs typeface="Tahoma"/>
              </a:rPr>
              <a:t>YoY)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1464" y="4453826"/>
            <a:ext cx="49910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60" dirty="0">
                <a:solidFill>
                  <a:srgbClr val="D3AE36"/>
                </a:solidFill>
                <a:latin typeface="Trebuchet MS"/>
                <a:cs typeface="Trebuchet MS"/>
              </a:rPr>
              <a:t>MARGIN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1464" y="4770259"/>
            <a:ext cx="156464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55" dirty="0">
                <a:solidFill>
                  <a:srgbClr val="FFFFFF"/>
                </a:solidFill>
                <a:latin typeface="Tahoma"/>
                <a:cs typeface="Tahoma"/>
              </a:rPr>
              <a:t>Lower</a:t>
            </a:r>
            <a:r>
              <a:rPr sz="105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50" spc="-70" dirty="0">
                <a:solidFill>
                  <a:srgbClr val="FFFFFF"/>
                </a:solidFill>
                <a:latin typeface="Tahoma"/>
                <a:cs typeface="Tahoma"/>
              </a:rPr>
              <a:t>(15–</a:t>
            </a:r>
            <a:r>
              <a:rPr sz="1050" spc="-135" dirty="0">
                <a:solidFill>
                  <a:srgbClr val="FFFFFF"/>
                </a:solidFill>
                <a:latin typeface="Tahoma"/>
                <a:cs typeface="Tahoma"/>
              </a:rPr>
              <a:t>28%</a:t>
            </a:r>
            <a:r>
              <a:rPr sz="105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50" spc="-35" dirty="0">
                <a:solidFill>
                  <a:srgbClr val="FFFFFF"/>
                </a:solidFill>
                <a:latin typeface="Tahoma"/>
                <a:cs typeface="Tahoma"/>
              </a:rPr>
              <a:t>commission)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04164" y="5120284"/>
            <a:ext cx="2267585" cy="13335"/>
          </a:xfrm>
          <a:custGeom>
            <a:avLst/>
            <a:gdLst/>
            <a:ahLst/>
            <a:cxnLst/>
            <a:rect l="l" t="t" r="r" b="b"/>
            <a:pathLst>
              <a:path w="2267585" h="13335">
                <a:moveTo>
                  <a:pt x="2267280" y="0"/>
                </a:moveTo>
                <a:lnTo>
                  <a:pt x="0" y="0"/>
                </a:lnTo>
                <a:lnTo>
                  <a:pt x="0" y="13309"/>
                </a:lnTo>
                <a:lnTo>
                  <a:pt x="1133640" y="13309"/>
                </a:lnTo>
                <a:lnTo>
                  <a:pt x="2267280" y="13309"/>
                </a:lnTo>
                <a:lnTo>
                  <a:pt x="2267280" y="0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91464" y="5499127"/>
            <a:ext cx="217551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000" i="1" spc="-60" dirty="0">
                <a:solidFill>
                  <a:srgbClr val="D8D8D8"/>
                </a:solidFill>
                <a:latin typeface="Trebuchet MS"/>
                <a:cs typeface="Trebuchet MS"/>
              </a:rPr>
              <a:t>Best</a:t>
            </a:r>
            <a:r>
              <a:rPr sz="1000" i="1" spc="-55" dirty="0">
                <a:solidFill>
                  <a:srgbClr val="D8D8D8"/>
                </a:solidFill>
                <a:latin typeface="Trebuchet MS"/>
                <a:cs typeface="Trebuchet MS"/>
              </a:rPr>
              <a:t> </a:t>
            </a:r>
            <a:r>
              <a:rPr sz="1000" i="1" spc="-80" dirty="0">
                <a:solidFill>
                  <a:srgbClr val="D8D8D8"/>
                </a:solidFill>
                <a:latin typeface="Trebuchet MS"/>
                <a:cs typeface="Trebuchet MS"/>
              </a:rPr>
              <a:t>for</a:t>
            </a:r>
            <a:r>
              <a:rPr sz="1000" i="1" spc="-55" dirty="0">
                <a:solidFill>
                  <a:srgbClr val="D8D8D8"/>
                </a:solidFill>
                <a:latin typeface="Trebuchet MS"/>
                <a:cs typeface="Trebuchet MS"/>
              </a:rPr>
              <a:t> </a:t>
            </a:r>
            <a:r>
              <a:rPr sz="1000" i="1" spc="-50" dirty="0">
                <a:solidFill>
                  <a:srgbClr val="D8D8D8"/>
                </a:solidFill>
                <a:latin typeface="Trebuchet MS"/>
                <a:cs typeface="Trebuchet MS"/>
              </a:rPr>
              <a:t>on-</a:t>
            </a:r>
            <a:r>
              <a:rPr sz="1000" i="1" spc="-65" dirty="0">
                <a:solidFill>
                  <a:srgbClr val="D8D8D8"/>
                </a:solidFill>
                <a:latin typeface="Trebuchet MS"/>
                <a:cs typeface="Trebuchet MS"/>
              </a:rPr>
              <a:t>demand,</a:t>
            </a:r>
            <a:r>
              <a:rPr sz="1000" i="1" spc="-50" dirty="0">
                <a:solidFill>
                  <a:srgbClr val="D8D8D8"/>
                </a:solidFill>
                <a:latin typeface="Trebuchet MS"/>
                <a:cs typeface="Trebuchet MS"/>
              </a:rPr>
              <a:t> </a:t>
            </a:r>
            <a:r>
              <a:rPr sz="1000" i="1" spc="-35" dirty="0">
                <a:solidFill>
                  <a:srgbClr val="D8D8D8"/>
                </a:solidFill>
                <a:latin typeface="Trebuchet MS"/>
                <a:cs typeface="Trebuchet MS"/>
              </a:rPr>
              <a:t>"need</a:t>
            </a:r>
            <a:r>
              <a:rPr sz="1000" i="1" spc="-55" dirty="0">
                <a:solidFill>
                  <a:srgbClr val="D8D8D8"/>
                </a:solidFill>
                <a:latin typeface="Trebuchet MS"/>
                <a:cs typeface="Trebuchet MS"/>
              </a:rPr>
              <a:t> </a:t>
            </a:r>
            <a:r>
              <a:rPr sz="1000" i="1" spc="-100" dirty="0">
                <a:solidFill>
                  <a:srgbClr val="D8D8D8"/>
                </a:solidFill>
                <a:latin typeface="Trebuchet MS"/>
                <a:cs typeface="Trebuchet MS"/>
              </a:rPr>
              <a:t>it</a:t>
            </a:r>
            <a:r>
              <a:rPr sz="1000" i="1" spc="-40" dirty="0">
                <a:solidFill>
                  <a:srgbClr val="D8D8D8"/>
                </a:solidFill>
                <a:latin typeface="Trebuchet MS"/>
                <a:cs typeface="Trebuchet MS"/>
              </a:rPr>
              <a:t> </a:t>
            </a:r>
            <a:r>
              <a:rPr sz="1000" i="1" spc="-20" dirty="0">
                <a:solidFill>
                  <a:srgbClr val="D8D8D8"/>
                </a:solidFill>
                <a:latin typeface="Trebuchet MS"/>
                <a:cs typeface="Trebuchet MS"/>
              </a:rPr>
              <a:t>now"</a:t>
            </a:r>
            <a:r>
              <a:rPr sz="1000" i="1" spc="-45" dirty="0">
                <a:solidFill>
                  <a:srgbClr val="D8D8D8"/>
                </a:solidFill>
                <a:latin typeface="Trebuchet MS"/>
                <a:cs typeface="Trebuchet MS"/>
              </a:rPr>
              <a:t> </a:t>
            </a:r>
            <a:r>
              <a:rPr sz="1000" i="1" spc="-35" dirty="0">
                <a:solidFill>
                  <a:srgbClr val="D8D8D8"/>
                </a:solidFill>
                <a:latin typeface="Trebuchet MS"/>
                <a:cs typeface="Trebuchet MS"/>
              </a:rPr>
              <a:t>energy </a:t>
            </a:r>
            <a:r>
              <a:rPr sz="1000" i="1" spc="-10" dirty="0">
                <a:solidFill>
                  <a:srgbClr val="D8D8D8"/>
                </a:solidFill>
                <a:latin typeface="Trebuchet MS"/>
                <a:cs typeface="Trebuchet MS"/>
              </a:rPr>
              <a:t>occasions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291840" y="1462684"/>
            <a:ext cx="2670175" cy="4754880"/>
            <a:chOff x="3291840" y="1462684"/>
            <a:chExt cx="2670175" cy="4754880"/>
          </a:xfrm>
        </p:grpSpPr>
        <p:sp>
          <p:nvSpPr>
            <p:cNvPr id="18" name="object 18"/>
            <p:cNvSpPr/>
            <p:nvPr/>
          </p:nvSpPr>
          <p:spPr>
            <a:xfrm>
              <a:off x="3291840" y="1462684"/>
              <a:ext cx="2670175" cy="4754880"/>
            </a:xfrm>
            <a:custGeom>
              <a:avLst/>
              <a:gdLst/>
              <a:ahLst/>
              <a:cxnLst/>
              <a:rect l="l" t="t" r="r" b="b"/>
              <a:pathLst>
                <a:path w="2670175" h="4754880">
                  <a:moveTo>
                    <a:pt x="2596680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4681791"/>
                  </a:lnTo>
                  <a:lnTo>
                    <a:pt x="15046" y="4726169"/>
                  </a:lnTo>
                  <a:lnTo>
                    <a:pt x="54046" y="4752449"/>
                  </a:lnTo>
                  <a:lnTo>
                    <a:pt x="73075" y="4754880"/>
                  </a:lnTo>
                  <a:lnTo>
                    <a:pt x="2597035" y="4754511"/>
                  </a:lnTo>
                  <a:lnTo>
                    <a:pt x="2641413" y="4739470"/>
                  </a:lnTo>
                  <a:lnTo>
                    <a:pt x="2667678" y="4700514"/>
                  </a:lnTo>
                  <a:lnTo>
                    <a:pt x="2670101" y="4681791"/>
                  </a:lnTo>
                  <a:lnTo>
                    <a:pt x="2670124" y="4681435"/>
                  </a:lnTo>
                  <a:lnTo>
                    <a:pt x="2669755" y="73075"/>
                  </a:lnTo>
                  <a:lnTo>
                    <a:pt x="2654714" y="28698"/>
                  </a:lnTo>
                  <a:lnTo>
                    <a:pt x="2615714" y="2428"/>
                  </a:lnTo>
                  <a:lnTo>
                    <a:pt x="2606313" y="607"/>
                  </a:lnTo>
                  <a:lnTo>
                    <a:pt x="2596680" y="0"/>
                  </a:lnTo>
                  <a:close/>
                </a:path>
              </a:pathLst>
            </a:custGeom>
            <a:solidFill>
              <a:srgbClr val="F2F0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97680" y="1691639"/>
              <a:ext cx="658495" cy="658495"/>
            </a:xfrm>
            <a:custGeom>
              <a:avLst/>
              <a:gdLst/>
              <a:ahLst/>
              <a:cxnLst/>
              <a:rect l="l" t="t" r="r" b="b"/>
              <a:pathLst>
                <a:path w="658495" h="658494">
                  <a:moveTo>
                    <a:pt x="329399" y="0"/>
                  </a:moveTo>
                  <a:lnTo>
                    <a:pt x="286220" y="2813"/>
                  </a:lnTo>
                  <a:lnTo>
                    <a:pt x="243986" y="11161"/>
                  </a:lnTo>
                  <a:lnTo>
                    <a:pt x="203237" y="24908"/>
                  </a:lnTo>
                  <a:lnTo>
                    <a:pt x="164515" y="43916"/>
                  </a:lnTo>
                  <a:lnTo>
                    <a:pt x="128668" y="67875"/>
                  </a:lnTo>
                  <a:lnTo>
                    <a:pt x="96432" y="96253"/>
                  </a:lnTo>
                  <a:lnTo>
                    <a:pt x="68180" y="128612"/>
                  </a:lnTo>
                  <a:lnTo>
                    <a:pt x="44284" y="164515"/>
                  </a:lnTo>
                  <a:lnTo>
                    <a:pt x="25063" y="203182"/>
                  </a:lnTo>
                  <a:lnTo>
                    <a:pt x="11207" y="243808"/>
                  </a:lnTo>
                  <a:lnTo>
                    <a:pt x="2819" y="285920"/>
                  </a:lnTo>
                  <a:lnTo>
                    <a:pt x="0" y="329044"/>
                  </a:lnTo>
                  <a:lnTo>
                    <a:pt x="2819" y="372160"/>
                  </a:lnTo>
                  <a:lnTo>
                    <a:pt x="11207" y="414269"/>
                  </a:lnTo>
                  <a:lnTo>
                    <a:pt x="25063" y="454893"/>
                  </a:lnTo>
                  <a:lnTo>
                    <a:pt x="44284" y="493560"/>
                  </a:lnTo>
                  <a:lnTo>
                    <a:pt x="68180" y="529463"/>
                  </a:lnTo>
                  <a:lnTo>
                    <a:pt x="96432" y="561822"/>
                  </a:lnTo>
                  <a:lnTo>
                    <a:pt x="128668" y="590200"/>
                  </a:lnTo>
                  <a:lnTo>
                    <a:pt x="164515" y="614159"/>
                  </a:lnTo>
                  <a:lnTo>
                    <a:pt x="203237" y="633172"/>
                  </a:lnTo>
                  <a:lnTo>
                    <a:pt x="243986" y="646918"/>
                  </a:lnTo>
                  <a:lnTo>
                    <a:pt x="286220" y="655264"/>
                  </a:lnTo>
                  <a:lnTo>
                    <a:pt x="329399" y="658075"/>
                  </a:lnTo>
                  <a:lnTo>
                    <a:pt x="372366" y="655264"/>
                  </a:lnTo>
                  <a:lnTo>
                    <a:pt x="414491" y="646918"/>
                  </a:lnTo>
                  <a:lnTo>
                    <a:pt x="455199" y="633172"/>
                  </a:lnTo>
                  <a:lnTo>
                    <a:pt x="493915" y="614159"/>
                  </a:lnTo>
                  <a:lnTo>
                    <a:pt x="529763" y="590200"/>
                  </a:lnTo>
                  <a:lnTo>
                    <a:pt x="562000" y="561822"/>
                  </a:lnTo>
                  <a:lnTo>
                    <a:pt x="590256" y="529463"/>
                  </a:lnTo>
                  <a:lnTo>
                    <a:pt x="614159" y="493560"/>
                  </a:lnTo>
                  <a:lnTo>
                    <a:pt x="633380" y="454893"/>
                  </a:lnTo>
                  <a:lnTo>
                    <a:pt x="647236" y="414269"/>
                  </a:lnTo>
                  <a:lnTo>
                    <a:pt x="655625" y="372160"/>
                  </a:lnTo>
                  <a:lnTo>
                    <a:pt x="658444" y="329044"/>
                  </a:lnTo>
                  <a:lnTo>
                    <a:pt x="655625" y="285920"/>
                  </a:lnTo>
                  <a:lnTo>
                    <a:pt x="647236" y="243808"/>
                  </a:lnTo>
                  <a:lnTo>
                    <a:pt x="633380" y="203182"/>
                  </a:lnTo>
                  <a:lnTo>
                    <a:pt x="614159" y="164515"/>
                  </a:lnTo>
                  <a:lnTo>
                    <a:pt x="590256" y="128612"/>
                  </a:lnTo>
                  <a:lnTo>
                    <a:pt x="562000" y="96253"/>
                  </a:lnTo>
                  <a:lnTo>
                    <a:pt x="529763" y="67875"/>
                  </a:lnTo>
                  <a:lnTo>
                    <a:pt x="493915" y="43916"/>
                  </a:lnTo>
                  <a:lnTo>
                    <a:pt x="455199" y="24908"/>
                  </a:lnTo>
                  <a:lnTo>
                    <a:pt x="414491" y="11161"/>
                  </a:lnTo>
                  <a:lnTo>
                    <a:pt x="372366" y="2813"/>
                  </a:lnTo>
                  <a:lnTo>
                    <a:pt x="329399" y="0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5718" y="1849323"/>
              <a:ext cx="341998" cy="341998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4111815" y="2536824"/>
            <a:ext cx="10293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5" dirty="0">
                <a:solidFill>
                  <a:srgbClr val="131313"/>
                </a:solidFill>
                <a:latin typeface="Times New Roman"/>
                <a:cs typeface="Times New Roman"/>
              </a:rPr>
              <a:t>E-</a:t>
            </a:r>
            <a:r>
              <a:rPr sz="1400" b="1" spc="-10" dirty="0">
                <a:solidFill>
                  <a:srgbClr val="131313"/>
                </a:solidFill>
                <a:latin typeface="Times New Roman"/>
                <a:cs typeface="Times New Roman"/>
              </a:rPr>
              <a:t>Commerce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80384" y="3027146"/>
            <a:ext cx="3956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C70F2D"/>
                </a:solidFill>
                <a:latin typeface="Trebuchet MS"/>
                <a:cs typeface="Trebuchet MS"/>
              </a:rPr>
              <a:t>REACH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80384" y="3343947"/>
            <a:ext cx="47942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30" dirty="0">
                <a:solidFill>
                  <a:srgbClr val="131313"/>
                </a:solidFill>
                <a:latin typeface="Tahoma"/>
                <a:cs typeface="Tahoma"/>
              </a:rPr>
              <a:t>National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80384" y="3740302"/>
            <a:ext cx="53276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C70F2D"/>
                </a:solidFill>
                <a:latin typeface="Trebuchet MS"/>
                <a:cs typeface="Trebuchet MS"/>
              </a:rPr>
              <a:t>GROWTH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80384" y="4057103"/>
            <a:ext cx="55753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20" dirty="0">
                <a:solidFill>
                  <a:srgbClr val="131313"/>
                </a:solidFill>
                <a:latin typeface="Tahoma"/>
                <a:cs typeface="Tahoma"/>
              </a:rPr>
              <a:t>Moderate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80384" y="4453826"/>
            <a:ext cx="49910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60" dirty="0">
                <a:solidFill>
                  <a:srgbClr val="C70F2D"/>
                </a:solidFill>
                <a:latin typeface="Trebuchet MS"/>
                <a:cs typeface="Trebuchet MS"/>
              </a:rPr>
              <a:t>MARGIN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480384" y="4770259"/>
            <a:ext cx="480059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10" dirty="0">
                <a:solidFill>
                  <a:srgbClr val="131313"/>
                </a:solidFill>
                <a:latin typeface="Tahoma"/>
                <a:cs typeface="Tahoma"/>
              </a:rPr>
              <a:t>Medium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493084" y="5120284"/>
            <a:ext cx="2267585" cy="13335"/>
          </a:xfrm>
          <a:custGeom>
            <a:avLst/>
            <a:gdLst/>
            <a:ahLst/>
            <a:cxnLst/>
            <a:rect l="l" t="t" r="r" b="b"/>
            <a:pathLst>
              <a:path w="2267585" h="13335">
                <a:moveTo>
                  <a:pt x="2267280" y="0"/>
                </a:moveTo>
                <a:lnTo>
                  <a:pt x="0" y="0"/>
                </a:lnTo>
                <a:lnTo>
                  <a:pt x="0" y="13309"/>
                </a:lnTo>
                <a:lnTo>
                  <a:pt x="1133640" y="13309"/>
                </a:lnTo>
                <a:lnTo>
                  <a:pt x="2267280" y="13309"/>
                </a:lnTo>
                <a:lnTo>
                  <a:pt x="2267280" y="0"/>
                </a:lnTo>
                <a:close/>
              </a:path>
            </a:pathLst>
          </a:custGeom>
          <a:solidFill>
            <a:srgbClr val="E2DF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480384" y="5499127"/>
            <a:ext cx="188023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000" i="1" spc="-60" dirty="0">
                <a:solidFill>
                  <a:srgbClr val="6D6A67"/>
                </a:solidFill>
                <a:latin typeface="Trebuchet MS"/>
                <a:cs typeface="Trebuchet MS"/>
              </a:rPr>
              <a:t>Best</a:t>
            </a:r>
            <a:r>
              <a:rPr sz="1000" i="1" spc="-30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000" i="1" spc="-80" dirty="0">
                <a:solidFill>
                  <a:srgbClr val="6D6A67"/>
                </a:solidFill>
                <a:latin typeface="Trebuchet MS"/>
                <a:cs typeface="Trebuchet MS"/>
              </a:rPr>
              <a:t>for</a:t>
            </a:r>
            <a:r>
              <a:rPr sz="1000" i="1" spc="-30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000" i="1" spc="-65" dirty="0">
                <a:solidFill>
                  <a:srgbClr val="6D6A67"/>
                </a:solidFill>
                <a:latin typeface="Trebuchet MS"/>
                <a:cs typeface="Trebuchet MS"/>
              </a:rPr>
              <a:t>subscriptions,</a:t>
            </a:r>
            <a:r>
              <a:rPr sz="1000" i="1" spc="-15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000" i="1" spc="-85" dirty="0">
                <a:solidFill>
                  <a:srgbClr val="6D6A67"/>
                </a:solidFill>
                <a:latin typeface="Trebuchet MS"/>
                <a:cs typeface="Trebuchet MS"/>
              </a:rPr>
              <a:t>multi-</a:t>
            </a:r>
            <a:r>
              <a:rPr sz="1000" i="1" spc="-50" dirty="0">
                <a:solidFill>
                  <a:srgbClr val="6D6A67"/>
                </a:solidFill>
                <a:latin typeface="Trebuchet MS"/>
                <a:cs typeface="Trebuchet MS"/>
              </a:rPr>
              <a:t>packs</a:t>
            </a:r>
            <a:r>
              <a:rPr sz="1000" i="1" spc="-20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000" i="1" spc="-50" dirty="0">
                <a:solidFill>
                  <a:srgbClr val="6D6A67"/>
                </a:solidFill>
                <a:latin typeface="Trebuchet MS"/>
                <a:cs typeface="Trebuchet MS"/>
              </a:rPr>
              <a:t>&amp; </a:t>
            </a:r>
            <a:r>
              <a:rPr sz="1000" i="1" spc="-60" dirty="0">
                <a:solidFill>
                  <a:srgbClr val="6D6A67"/>
                </a:solidFill>
                <a:latin typeface="Trebuchet MS"/>
                <a:cs typeface="Trebuchet MS"/>
              </a:rPr>
              <a:t>planned</a:t>
            </a:r>
            <a:r>
              <a:rPr sz="1000" i="1" spc="-50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6D6A67"/>
                </a:solidFill>
                <a:latin typeface="Trebuchet MS"/>
                <a:cs typeface="Trebuchet MS"/>
              </a:rPr>
              <a:t>reorders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080759" y="1462684"/>
            <a:ext cx="2670175" cy="4754880"/>
            <a:chOff x="6080759" y="1462684"/>
            <a:chExt cx="2670175" cy="4754880"/>
          </a:xfrm>
        </p:grpSpPr>
        <p:sp>
          <p:nvSpPr>
            <p:cNvPr id="31" name="object 31"/>
            <p:cNvSpPr/>
            <p:nvPr/>
          </p:nvSpPr>
          <p:spPr>
            <a:xfrm>
              <a:off x="6080759" y="1462684"/>
              <a:ext cx="2670175" cy="4754880"/>
            </a:xfrm>
            <a:custGeom>
              <a:avLst/>
              <a:gdLst/>
              <a:ahLst/>
              <a:cxnLst/>
              <a:rect l="l" t="t" r="r" b="b"/>
              <a:pathLst>
                <a:path w="2670175" h="4754880">
                  <a:moveTo>
                    <a:pt x="2596680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4681791"/>
                  </a:lnTo>
                  <a:lnTo>
                    <a:pt x="15046" y="4726169"/>
                  </a:lnTo>
                  <a:lnTo>
                    <a:pt x="54046" y="4752449"/>
                  </a:lnTo>
                  <a:lnTo>
                    <a:pt x="73075" y="4754880"/>
                  </a:lnTo>
                  <a:lnTo>
                    <a:pt x="2597035" y="4754511"/>
                  </a:lnTo>
                  <a:lnTo>
                    <a:pt x="2641413" y="4739470"/>
                  </a:lnTo>
                  <a:lnTo>
                    <a:pt x="2667678" y="4700514"/>
                  </a:lnTo>
                  <a:lnTo>
                    <a:pt x="2670101" y="4681791"/>
                  </a:lnTo>
                  <a:lnTo>
                    <a:pt x="2670124" y="4681435"/>
                  </a:lnTo>
                  <a:lnTo>
                    <a:pt x="2669755" y="73075"/>
                  </a:lnTo>
                  <a:lnTo>
                    <a:pt x="2654714" y="28698"/>
                  </a:lnTo>
                  <a:lnTo>
                    <a:pt x="2615714" y="2428"/>
                  </a:lnTo>
                  <a:lnTo>
                    <a:pt x="2606313" y="607"/>
                  </a:lnTo>
                  <a:lnTo>
                    <a:pt x="2596680" y="0"/>
                  </a:lnTo>
                  <a:close/>
                </a:path>
              </a:pathLst>
            </a:custGeom>
            <a:solidFill>
              <a:srgbClr val="F2F0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086599" y="1691639"/>
              <a:ext cx="658495" cy="658495"/>
            </a:xfrm>
            <a:custGeom>
              <a:avLst/>
              <a:gdLst/>
              <a:ahLst/>
              <a:cxnLst/>
              <a:rect l="l" t="t" r="r" b="b"/>
              <a:pathLst>
                <a:path w="658495" h="658494">
                  <a:moveTo>
                    <a:pt x="329399" y="0"/>
                  </a:moveTo>
                  <a:lnTo>
                    <a:pt x="286220" y="2813"/>
                  </a:lnTo>
                  <a:lnTo>
                    <a:pt x="243986" y="11161"/>
                  </a:lnTo>
                  <a:lnTo>
                    <a:pt x="203237" y="24908"/>
                  </a:lnTo>
                  <a:lnTo>
                    <a:pt x="164515" y="43916"/>
                  </a:lnTo>
                  <a:lnTo>
                    <a:pt x="128668" y="67875"/>
                  </a:lnTo>
                  <a:lnTo>
                    <a:pt x="96432" y="96253"/>
                  </a:lnTo>
                  <a:lnTo>
                    <a:pt x="68180" y="128612"/>
                  </a:lnTo>
                  <a:lnTo>
                    <a:pt x="44284" y="164515"/>
                  </a:lnTo>
                  <a:lnTo>
                    <a:pt x="25063" y="203182"/>
                  </a:lnTo>
                  <a:lnTo>
                    <a:pt x="11207" y="243808"/>
                  </a:lnTo>
                  <a:lnTo>
                    <a:pt x="2819" y="285920"/>
                  </a:lnTo>
                  <a:lnTo>
                    <a:pt x="0" y="329044"/>
                  </a:lnTo>
                  <a:lnTo>
                    <a:pt x="2819" y="372160"/>
                  </a:lnTo>
                  <a:lnTo>
                    <a:pt x="11207" y="414269"/>
                  </a:lnTo>
                  <a:lnTo>
                    <a:pt x="25063" y="454893"/>
                  </a:lnTo>
                  <a:lnTo>
                    <a:pt x="44284" y="493560"/>
                  </a:lnTo>
                  <a:lnTo>
                    <a:pt x="68180" y="529463"/>
                  </a:lnTo>
                  <a:lnTo>
                    <a:pt x="96432" y="561822"/>
                  </a:lnTo>
                  <a:lnTo>
                    <a:pt x="128668" y="590200"/>
                  </a:lnTo>
                  <a:lnTo>
                    <a:pt x="164515" y="614159"/>
                  </a:lnTo>
                  <a:lnTo>
                    <a:pt x="203237" y="633172"/>
                  </a:lnTo>
                  <a:lnTo>
                    <a:pt x="243986" y="646918"/>
                  </a:lnTo>
                  <a:lnTo>
                    <a:pt x="286220" y="655264"/>
                  </a:lnTo>
                  <a:lnTo>
                    <a:pt x="329399" y="658075"/>
                  </a:lnTo>
                  <a:lnTo>
                    <a:pt x="372366" y="655264"/>
                  </a:lnTo>
                  <a:lnTo>
                    <a:pt x="414491" y="646918"/>
                  </a:lnTo>
                  <a:lnTo>
                    <a:pt x="455199" y="633172"/>
                  </a:lnTo>
                  <a:lnTo>
                    <a:pt x="493915" y="614159"/>
                  </a:lnTo>
                  <a:lnTo>
                    <a:pt x="529763" y="590200"/>
                  </a:lnTo>
                  <a:lnTo>
                    <a:pt x="562000" y="561822"/>
                  </a:lnTo>
                  <a:lnTo>
                    <a:pt x="590256" y="529463"/>
                  </a:lnTo>
                  <a:lnTo>
                    <a:pt x="614159" y="493560"/>
                  </a:lnTo>
                  <a:lnTo>
                    <a:pt x="633380" y="454893"/>
                  </a:lnTo>
                  <a:lnTo>
                    <a:pt x="647236" y="414269"/>
                  </a:lnTo>
                  <a:lnTo>
                    <a:pt x="655625" y="372160"/>
                  </a:lnTo>
                  <a:lnTo>
                    <a:pt x="658444" y="329044"/>
                  </a:lnTo>
                  <a:lnTo>
                    <a:pt x="655625" y="285920"/>
                  </a:lnTo>
                  <a:lnTo>
                    <a:pt x="647236" y="243808"/>
                  </a:lnTo>
                  <a:lnTo>
                    <a:pt x="633380" y="203182"/>
                  </a:lnTo>
                  <a:lnTo>
                    <a:pt x="614159" y="164515"/>
                  </a:lnTo>
                  <a:lnTo>
                    <a:pt x="590256" y="128612"/>
                  </a:lnTo>
                  <a:lnTo>
                    <a:pt x="562000" y="96253"/>
                  </a:lnTo>
                  <a:lnTo>
                    <a:pt x="529763" y="67875"/>
                  </a:lnTo>
                  <a:lnTo>
                    <a:pt x="493915" y="43916"/>
                  </a:lnTo>
                  <a:lnTo>
                    <a:pt x="455199" y="24908"/>
                  </a:lnTo>
                  <a:lnTo>
                    <a:pt x="414491" y="11161"/>
                  </a:lnTo>
                  <a:lnTo>
                    <a:pt x="372366" y="2813"/>
                  </a:lnTo>
                  <a:lnTo>
                    <a:pt x="329399" y="0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44638" y="1849323"/>
              <a:ext cx="341998" cy="341998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6838098" y="2536824"/>
            <a:ext cx="11537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31313"/>
                </a:solidFill>
                <a:latin typeface="Times New Roman"/>
                <a:cs typeface="Times New Roman"/>
              </a:rPr>
              <a:t>Modern</a:t>
            </a:r>
            <a:r>
              <a:rPr sz="1400" b="1" spc="3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400" b="1" spc="-20" dirty="0">
                <a:solidFill>
                  <a:srgbClr val="131313"/>
                </a:solidFill>
                <a:latin typeface="Times New Roman"/>
                <a:cs typeface="Times New Roman"/>
              </a:rPr>
              <a:t>Trade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69304" y="3027146"/>
            <a:ext cx="3956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C70F2D"/>
                </a:solidFill>
                <a:latin typeface="Trebuchet MS"/>
                <a:cs typeface="Trebuchet MS"/>
              </a:rPr>
              <a:t>REACH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69303" y="3343947"/>
            <a:ext cx="2267585" cy="1737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10" dirty="0">
                <a:solidFill>
                  <a:srgbClr val="131313"/>
                </a:solidFill>
                <a:latin typeface="Tahoma"/>
                <a:cs typeface="Tahoma"/>
              </a:rPr>
              <a:t>Metro</a:t>
            </a:r>
            <a:r>
              <a:rPr sz="1050" spc="-60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31313"/>
                </a:solidFill>
                <a:latin typeface="Tahoma"/>
                <a:cs typeface="Tahoma"/>
              </a:rPr>
              <a:t>&amp;</a:t>
            </a:r>
            <a:r>
              <a:rPr sz="1050" spc="-5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050" spc="-60" dirty="0">
                <a:solidFill>
                  <a:srgbClr val="131313"/>
                </a:solidFill>
                <a:latin typeface="Tahoma"/>
                <a:cs typeface="Tahoma"/>
              </a:rPr>
              <a:t>Tier-</a:t>
            </a:r>
            <a:r>
              <a:rPr sz="1050" spc="-55" dirty="0">
                <a:solidFill>
                  <a:srgbClr val="131313"/>
                </a:solidFill>
                <a:latin typeface="Tahoma"/>
                <a:cs typeface="Tahoma"/>
              </a:rPr>
              <a:t>2</a:t>
            </a:r>
            <a:r>
              <a:rPr sz="1050" spc="-4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050" spc="-50" dirty="0">
                <a:solidFill>
                  <a:srgbClr val="131313"/>
                </a:solidFill>
                <a:latin typeface="Tahoma"/>
                <a:cs typeface="Tahoma"/>
              </a:rPr>
              <a:t>malls</a:t>
            </a:r>
            <a:r>
              <a:rPr lang="en-IN" sz="1050" spc="-50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050" spc="-50" dirty="0">
                <a:solidFill>
                  <a:srgbClr val="131313"/>
                </a:solidFill>
                <a:latin typeface="Tahoma"/>
                <a:cs typeface="Tahoma"/>
              </a:rPr>
              <a:t>/</a:t>
            </a:r>
            <a:r>
              <a:rPr lang="en-IN" sz="1050" spc="-50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050" spc="-50" dirty="0">
                <a:solidFill>
                  <a:srgbClr val="131313"/>
                </a:solidFill>
                <a:latin typeface="Tahoma"/>
                <a:cs typeface="Tahoma"/>
              </a:rPr>
              <a:t>super-</a:t>
            </a:r>
            <a:r>
              <a:rPr sz="1050" spc="-20" dirty="0">
                <a:solidFill>
                  <a:srgbClr val="131313"/>
                </a:solidFill>
                <a:latin typeface="Tahoma"/>
                <a:cs typeface="Tahoma"/>
              </a:rPr>
              <a:t>markets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269304" y="3740302"/>
            <a:ext cx="53276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C70F2D"/>
                </a:solidFill>
                <a:latin typeface="Trebuchet MS"/>
                <a:cs typeface="Trebuchet MS"/>
              </a:rPr>
              <a:t>GROWTH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269304" y="4057103"/>
            <a:ext cx="55753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20" dirty="0">
                <a:solidFill>
                  <a:srgbClr val="131313"/>
                </a:solidFill>
                <a:latin typeface="Tahoma"/>
                <a:cs typeface="Tahoma"/>
              </a:rPr>
              <a:t>Moderate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69304" y="4453826"/>
            <a:ext cx="49910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60" dirty="0">
                <a:solidFill>
                  <a:srgbClr val="C70F2D"/>
                </a:solidFill>
                <a:latin typeface="Trebuchet MS"/>
                <a:cs typeface="Trebuchet MS"/>
              </a:rPr>
              <a:t>MARGIN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269304" y="4770259"/>
            <a:ext cx="77724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35" dirty="0">
                <a:solidFill>
                  <a:srgbClr val="131313"/>
                </a:solidFill>
                <a:latin typeface="Tahoma"/>
                <a:cs typeface="Tahoma"/>
              </a:rPr>
              <a:t>Medium–</a:t>
            </a:r>
            <a:r>
              <a:rPr sz="1050" spc="-20" dirty="0">
                <a:solidFill>
                  <a:srgbClr val="131313"/>
                </a:solidFill>
                <a:latin typeface="Tahoma"/>
                <a:cs typeface="Tahoma"/>
              </a:rPr>
              <a:t>high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282004" y="5120284"/>
            <a:ext cx="2267585" cy="13335"/>
          </a:xfrm>
          <a:custGeom>
            <a:avLst/>
            <a:gdLst/>
            <a:ahLst/>
            <a:cxnLst/>
            <a:rect l="l" t="t" r="r" b="b"/>
            <a:pathLst>
              <a:path w="2267584" h="13335">
                <a:moveTo>
                  <a:pt x="2267280" y="0"/>
                </a:moveTo>
                <a:lnTo>
                  <a:pt x="0" y="0"/>
                </a:lnTo>
                <a:lnTo>
                  <a:pt x="0" y="13309"/>
                </a:lnTo>
                <a:lnTo>
                  <a:pt x="1133640" y="13309"/>
                </a:lnTo>
                <a:lnTo>
                  <a:pt x="2267280" y="13309"/>
                </a:lnTo>
                <a:lnTo>
                  <a:pt x="2267280" y="0"/>
                </a:lnTo>
                <a:close/>
              </a:path>
            </a:pathLst>
          </a:custGeom>
          <a:solidFill>
            <a:srgbClr val="E2DF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6269304" y="5609425"/>
            <a:ext cx="228028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60" dirty="0">
                <a:solidFill>
                  <a:srgbClr val="6D6A67"/>
                </a:solidFill>
                <a:latin typeface="Trebuchet MS"/>
                <a:cs typeface="Trebuchet MS"/>
              </a:rPr>
              <a:t>Best</a:t>
            </a:r>
            <a:r>
              <a:rPr sz="1000" i="1" spc="-45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000" i="1" spc="-80" dirty="0">
                <a:solidFill>
                  <a:srgbClr val="6D6A67"/>
                </a:solidFill>
                <a:latin typeface="Trebuchet MS"/>
                <a:cs typeface="Trebuchet MS"/>
              </a:rPr>
              <a:t>for</a:t>
            </a:r>
            <a:r>
              <a:rPr sz="1000" i="1" spc="-45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000" i="1" spc="-75" dirty="0">
                <a:solidFill>
                  <a:srgbClr val="6D6A67"/>
                </a:solidFill>
                <a:latin typeface="Trebuchet MS"/>
                <a:cs typeface="Trebuchet MS"/>
              </a:rPr>
              <a:t>discovery,</a:t>
            </a:r>
            <a:r>
              <a:rPr sz="1000" i="1" spc="-30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000" i="1" spc="-55" dirty="0">
                <a:solidFill>
                  <a:srgbClr val="6D6A67"/>
                </a:solidFill>
                <a:latin typeface="Trebuchet MS"/>
                <a:cs typeface="Trebuchet MS"/>
              </a:rPr>
              <a:t>sampling</a:t>
            </a:r>
            <a:r>
              <a:rPr sz="1000" i="1" spc="-40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lang="en-IN" sz="1000" i="1" spc="-30" dirty="0">
                <a:solidFill>
                  <a:srgbClr val="6D6A67"/>
                </a:solidFill>
                <a:latin typeface="Trebuchet MS"/>
                <a:cs typeface="Trebuchet MS"/>
              </a:rPr>
              <a:t>and</a:t>
            </a:r>
            <a:r>
              <a:rPr sz="1000" i="1" spc="-35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000" i="1" spc="-55" dirty="0">
                <a:solidFill>
                  <a:srgbClr val="6D6A67"/>
                </a:solidFill>
                <a:latin typeface="Trebuchet MS"/>
                <a:cs typeface="Trebuchet MS"/>
              </a:rPr>
              <a:t>visibility</a:t>
            </a:r>
            <a:endParaRPr sz="1000" dirty="0">
              <a:latin typeface="Trebuchet MS"/>
              <a:cs typeface="Trebuchet MS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869680" y="1462684"/>
            <a:ext cx="2670175" cy="4754880"/>
            <a:chOff x="8869680" y="1462684"/>
            <a:chExt cx="2670175" cy="4754880"/>
          </a:xfrm>
        </p:grpSpPr>
        <p:sp>
          <p:nvSpPr>
            <p:cNvPr id="44" name="object 44"/>
            <p:cNvSpPr/>
            <p:nvPr/>
          </p:nvSpPr>
          <p:spPr>
            <a:xfrm>
              <a:off x="8869680" y="1462684"/>
              <a:ext cx="2670175" cy="4754880"/>
            </a:xfrm>
            <a:custGeom>
              <a:avLst/>
              <a:gdLst/>
              <a:ahLst/>
              <a:cxnLst/>
              <a:rect l="l" t="t" r="r" b="b"/>
              <a:pathLst>
                <a:path w="2670175" h="4754880">
                  <a:moveTo>
                    <a:pt x="2596680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4681791"/>
                  </a:lnTo>
                  <a:lnTo>
                    <a:pt x="597" y="4691069"/>
                  </a:lnTo>
                  <a:lnTo>
                    <a:pt x="607" y="4691219"/>
                  </a:lnTo>
                  <a:lnTo>
                    <a:pt x="21285" y="4733409"/>
                  </a:lnTo>
                  <a:lnTo>
                    <a:pt x="63443" y="4754272"/>
                  </a:lnTo>
                  <a:lnTo>
                    <a:pt x="73075" y="4754880"/>
                  </a:lnTo>
                  <a:lnTo>
                    <a:pt x="2597035" y="4754511"/>
                  </a:lnTo>
                  <a:lnTo>
                    <a:pt x="2641413" y="4739470"/>
                  </a:lnTo>
                  <a:lnTo>
                    <a:pt x="2667678" y="4700514"/>
                  </a:lnTo>
                  <a:lnTo>
                    <a:pt x="2670101" y="4681791"/>
                  </a:lnTo>
                  <a:lnTo>
                    <a:pt x="2670124" y="4681435"/>
                  </a:lnTo>
                  <a:lnTo>
                    <a:pt x="2669755" y="73075"/>
                  </a:lnTo>
                  <a:lnTo>
                    <a:pt x="2654714" y="28698"/>
                  </a:lnTo>
                  <a:lnTo>
                    <a:pt x="2615714" y="2428"/>
                  </a:lnTo>
                  <a:lnTo>
                    <a:pt x="2606313" y="607"/>
                  </a:lnTo>
                  <a:lnTo>
                    <a:pt x="2596680" y="0"/>
                  </a:lnTo>
                  <a:close/>
                </a:path>
              </a:pathLst>
            </a:custGeom>
            <a:solidFill>
              <a:srgbClr val="F2F0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875520" y="1691639"/>
              <a:ext cx="658495" cy="658495"/>
            </a:xfrm>
            <a:custGeom>
              <a:avLst/>
              <a:gdLst/>
              <a:ahLst/>
              <a:cxnLst/>
              <a:rect l="l" t="t" r="r" b="b"/>
              <a:pathLst>
                <a:path w="658495" h="658494">
                  <a:moveTo>
                    <a:pt x="329399" y="0"/>
                  </a:moveTo>
                  <a:lnTo>
                    <a:pt x="286220" y="2813"/>
                  </a:lnTo>
                  <a:lnTo>
                    <a:pt x="243986" y="11161"/>
                  </a:lnTo>
                  <a:lnTo>
                    <a:pt x="203237" y="24908"/>
                  </a:lnTo>
                  <a:lnTo>
                    <a:pt x="164515" y="43916"/>
                  </a:lnTo>
                  <a:lnTo>
                    <a:pt x="128668" y="67875"/>
                  </a:lnTo>
                  <a:lnTo>
                    <a:pt x="96432" y="96253"/>
                  </a:lnTo>
                  <a:lnTo>
                    <a:pt x="68180" y="128612"/>
                  </a:lnTo>
                  <a:lnTo>
                    <a:pt x="44284" y="164515"/>
                  </a:lnTo>
                  <a:lnTo>
                    <a:pt x="25063" y="203182"/>
                  </a:lnTo>
                  <a:lnTo>
                    <a:pt x="11207" y="243808"/>
                  </a:lnTo>
                  <a:lnTo>
                    <a:pt x="2819" y="285920"/>
                  </a:lnTo>
                  <a:lnTo>
                    <a:pt x="0" y="329044"/>
                  </a:lnTo>
                  <a:lnTo>
                    <a:pt x="2819" y="372160"/>
                  </a:lnTo>
                  <a:lnTo>
                    <a:pt x="11207" y="414269"/>
                  </a:lnTo>
                  <a:lnTo>
                    <a:pt x="25063" y="454893"/>
                  </a:lnTo>
                  <a:lnTo>
                    <a:pt x="44284" y="493560"/>
                  </a:lnTo>
                  <a:lnTo>
                    <a:pt x="68180" y="529463"/>
                  </a:lnTo>
                  <a:lnTo>
                    <a:pt x="96432" y="561822"/>
                  </a:lnTo>
                  <a:lnTo>
                    <a:pt x="128668" y="590200"/>
                  </a:lnTo>
                  <a:lnTo>
                    <a:pt x="164515" y="614159"/>
                  </a:lnTo>
                  <a:lnTo>
                    <a:pt x="203237" y="633172"/>
                  </a:lnTo>
                  <a:lnTo>
                    <a:pt x="243986" y="646918"/>
                  </a:lnTo>
                  <a:lnTo>
                    <a:pt x="286220" y="655264"/>
                  </a:lnTo>
                  <a:lnTo>
                    <a:pt x="329399" y="658075"/>
                  </a:lnTo>
                  <a:lnTo>
                    <a:pt x="372366" y="655264"/>
                  </a:lnTo>
                  <a:lnTo>
                    <a:pt x="414491" y="646918"/>
                  </a:lnTo>
                  <a:lnTo>
                    <a:pt x="455199" y="633172"/>
                  </a:lnTo>
                  <a:lnTo>
                    <a:pt x="493915" y="614159"/>
                  </a:lnTo>
                  <a:lnTo>
                    <a:pt x="529763" y="590200"/>
                  </a:lnTo>
                  <a:lnTo>
                    <a:pt x="562000" y="561822"/>
                  </a:lnTo>
                  <a:lnTo>
                    <a:pt x="590256" y="529463"/>
                  </a:lnTo>
                  <a:lnTo>
                    <a:pt x="614159" y="493560"/>
                  </a:lnTo>
                  <a:lnTo>
                    <a:pt x="633380" y="454893"/>
                  </a:lnTo>
                  <a:lnTo>
                    <a:pt x="647236" y="414269"/>
                  </a:lnTo>
                  <a:lnTo>
                    <a:pt x="655625" y="372160"/>
                  </a:lnTo>
                  <a:lnTo>
                    <a:pt x="658444" y="329044"/>
                  </a:lnTo>
                  <a:lnTo>
                    <a:pt x="655625" y="285920"/>
                  </a:lnTo>
                  <a:lnTo>
                    <a:pt x="647236" y="243808"/>
                  </a:lnTo>
                  <a:lnTo>
                    <a:pt x="633380" y="203182"/>
                  </a:lnTo>
                  <a:lnTo>
                    <a:pt x="614159" y="164515"/>
                  </a:lnTo>
                  <a:lnTo>
                    <a:pt x="590256" y="128612"/>
                  </a:lnTo>
                  <a:lnTo>
                    <a:pt x="562000" y="96253"/>
                  </a:lnTo>
                  <a:lnTo>
                    <a:pt x="529763" y="67875"/>
                  </a:lnTo>
                  <a:lnTo>
                    <a:pt x="493915" y="43916"/>
                  </a:lnTo>
                  <a:lnTo>
                    <a:pt x="455199" y="24908"/>
                  </a:lnTo>
                  <a:lnTo>
                    <a:pt x="414491" y="11161"/>
                  </a:lnTo>
                  <a:lnTo>
                    <a:pt x="372366" y="2813"/>
                  </a:lnTo>
                  <a:lnTo>
                    <a:pt x="329399" y="0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33559" y="1849323"/>
              <a:ext cx="341998" cy="341998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9630257" y="2536824"/>
            <a:ext cx="11480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31313"/>
                </a:solidFill>
                <a:latin typeface="Times New Roman"/>
                <a:cs typeface="Times New Roman"/>
              </a:rPr>
              <a:t>General</a:t>
            </a:r>
            <a:r>
              <a:rPr sz="1400" b="1" spc="-20" dirty="0">
                <a:solidFill>
                  <a:srgbClr val="131313"/>
                </a:solidFill>
                <a:latin typeface="Times New Roman"/>
                <a:cs typeface="Times New Roman"/>
              </a:rPr>
              <a:t> Trade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058223" y="3027146"/>
            <a:ext cx="3956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C70F2D"/>
                </a:solidFill>
                <a:latin typeface="Trebuchet MS"/>
                <a:cs typeface="Trebuchet MS"/>
              </a:rPr>
              <a:t>REACH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058223" y="3343947"/>
            <a:ext cx="120586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55" dirty="0">
                <a:solidFill>
                  <a:srgbClr val="131313"/>
                </a:solidFill>
                <a:latin typeface="Tahoma"/>
                <a:cs typeface="Tahoma"/>
              </a:rPr>
              <a:t>Deepest,</a:t>
            </a:r>
            <a:r>
              <a:rPr sz="1050" spc="-7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050" spc="-65" dirty="0">
                <a:solidFill>
                  <a:srgbClr val="131313"/>
                </a:solidFill>
                <a:latin typeface="Tahoma"/>
                <a:cs typeface="Tahoma"/>
              </a:rPr>
              <a:t>mass</a:t>
            </a:r>
            <a:r>
              <a:rPr sz="1050" spc="-60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31313"/>
                </a:solidFill>
                <a:latin typeface="Tahoma"/>
                <a:cs typeface="Tahoma"/>
              </a:rPr>
              <a:t>&amp;</a:t>
            </a:r>
            <a:r>
              <a:rPr sz="1050" spc="-6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050" spc="-20" dirty="0">
                <a:solidFill>
                  <a:srgbClr val="131313"/>
                </a:solidFill>
                <a:latin typeface="Tahoma"/>
                <a:cs typeface="Tahoma"/>
              </a:rPr>
              <a:t>rural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058223" y="3740302"/>
            <a:ext cx="53276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C70F2D"/>
                </a:solidFill>
                <a:latin typeface="Trebuchet MS"/>
                <a:cs typeface="Trebuchet MS"/>
              </a:rPr>
              <a:t>GROWTH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058223" y="4057103"/>
            <a:ext cx="130429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55" dirty="0">
                <a:solidFill>
                  <a:srgbClr val="131313"/>
                </a:solidFill>
                <a:latin typeface="Tahoma"/>
                <a:cs typeface="Tahoma"/>
              </a:rPr>
              <a:t>Slow</a:t>
            </a:r>
            <a:r>
              <a:rPr sz="1050" spc="-7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050" spc="-40" dirty="0">
                <a:solidFill>
                  <a:srgbClr val="131313"/>
                </a:solidFill>
                <a:latin typeface="Tahoma"/>
                <a:cs typeface="Tahoma"/>
              </a:rPr>
              <a:t>for</a:t>
            </a:r>
            <a:r>
              <a:rPr sz="1050" spc="-6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050" spc="-50" dirty="0">
                <a:solidFill>
                  <a:srgbClr val="131313"/>
                </a:solidFill>
                <a:latin typeface="Tahoma"/>
                <a:cs typeface="Tahoma"/>
              </a:rPr>
              <a:t>new</a:t>
            </a:r>
            <a:r>
              <a:rPr sz="1050" spc="-70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050" spc="-30" dirty="0">
                <a:solidFill>
                  <a:srgbClr val="131313"/>
                </a:solidFill>
                <a:latin typeface="Tahoma"/>
                <a:cs typeface="Tahoma"/>
              </a:rPr>
              <a:t>categories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058223" y="4453826"/>
            <a:ext cx="49910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60" dirty="0">
                <a:solidFill>
                  <a:srgbClr val="C70F2D"/>
                </a:solidFill>
                <a:latin typeface="Trebuchet MS"/>
                <a:cs typeface="Trebuchet MS"/>
              </a:rPr>
              <a:t>MARGIN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058223" y="4770259"/>
            <a:ext cx="144526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60" dirty="0">
                <a:solidFill>
                  <a:srgbClr val="131313"/>
                </a:solidFill>
                <a:latin typeface="Tahoma"/>
                <a:cs typeface="Tahoma"/>
              </a:rPr>
              <a:t>Thin</a:t>
            </a:r>
            <a:r>
              <a:rPr sz="1050" spc="-6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050" spc="-55" dirty="0">
                <a:solidFill>
                  <a:srgbClr val="131313"/>
                </a:solidFill>
                <a:latin typeface="Tahoma"/>
                <a:cs typeface="Tahoma"/>
              </a:rPr>
              <a:t>per-</a:t>
            </a:r>
            <a:r>
              <a:rPr sz="1050" spc="-35" dirty="0">
                <a:solidFill>
                  <a:srgbClr val="131313"/>
                </a:solidFill>
                <a:latin typeface="Tahoma"/>
                <a:cs typeface="Tahoma"/>
              </a:rPr>
              <a:t>unit,</a:t>
            </a:r>
            <a:r>
              <a:rPr sz="1050" spc="-6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050" spc="-55" dirty="0">
                <a:solidFill>
                  <a:srgbClr val="131313"/>
                </a:solidFill>
                <a:latin typeface="Tahoma"/>
                <a:cs typeface="Tahoma"/>
              </a:rPr>
              <a:t>high</a:t>
            </a:r>
            <a:r>
              <a:rPr sz="1050" spc="-6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31313"/>
                </a:solidFill>
                <a:latin typeface="Tahoma"/>
                <a:cs typeface="Tahoma"/>
              </a:rPr>
              <a:t>volume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9070923" y="5120284"/>
            <a:ext cx="2267585" cy="13335"/>
          </a:xfrm>
          <a:custGeom>
            <a:avLst/>
            <a:gdLst/>
            <a:ahLst/>
            <a:cxnLst/>
            <a:rect l="l" t="t" r="r" b="b"/>
            <a:pathLst>
              <a:path w="2267584" h="13335">
                <a:moveTo>
                  <a:pt x="2267280" y="0"/>
                </a:moveTo>
                <a:lnTo>
                  <a:pt x="0" y="0"/>
                </a:lnTo>
                <a:lnTo>
                  <a:pt x="0" y="13309"/>
                </a:lnTo>
                <a:lnTo>
                  <a:pt x="1133640" y="13309"/>
                </a:lnTo>
                <a:lnTo>
                  <a:pt x="2267280" y="13309"/>
                </a:lnTo>
                <a:lnTo>
                  <a:pt x="2267280" y="0"/>
                </a:lnTo>
                <a:close/>
              </a:path>
            </a:pathLst>
          </a:custGeom>
          <a:solidFill>
            <a:srgbClr val="E2DF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9058223" y="5609425"/>
            <a:ext cx="19367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60" dirty="0">
                <a:solidFill>
                  <a:srgbClr val="6D6A67"/>
                </a:solidFill>
                <a:latin typeface="Trebuchet MS"/>
                <a:cs typeface="Trebuchet MS"/>
              </a:rPr>
              <a:t>Best</a:t>
            </a:r>
            <a:r>
              <a:rPr sz="1000" i="1" spc="-40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000" i="1" spc="-80" dirty="0">
                <a:solidFill>
                  <a:srgbClr val="6D6A67"/>
                </a:solidFill>
                <a:latin typeface="Trebuchet MS"/>
                <a:cs typeface="Trebuchet MS"/>
              </a:rPr>
              <a:t>for</a:t>
            </a:r>
            <a:r>
              <a:rPr sz="1000" i="1" spc="-40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000" i="1" spc="-50" dirty="0">
                <a:solidFill>
                  <a:srgbClr val="6D6A67"/>
                </a:solidFill>
                <a:latin typeface="Trebuchet MS"/>
                <a:cs typeface="Trebuchet MS"/>
              </a:rPr>
              <a:t>long-</a:t>
            </a:r>
            <a:r>
              <a:rPr sz="1000" i="1" spc="-65" dirty="0">
                <a:solidFill>
                  <a:srgbClr val="6D6A67"/>
                </a:solidFill>
                <a:latin typeface="Trebuchet MS"/>
                <a:cs typeface="Trebuchet MS"/>
              </a:rPr>
              <a:t>run</a:t>
            </a:r>
            <a:r>
              <a:rPr sz="1000" i="1" spc="-40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000" i="1" spc="-80" dirty="0">
                <a:solidFill>
                  <a:srgbClr val="6D6A67"/>
                </a:solidFill>
                <a:latin typeface="Trebuchet MS"/>
                <a:cs typeface="Trebuchet MS"/>
              </a:rPr>
              <a:t>affordability</a:t>
            </a:r>
            <a:r>
              <a:rPr sz="1000" i="1" spc="-30" dirty="0">
                <a:solidFill>
                  <a:srgbClr val="6D6A67"/>
                </a:solidFill>
                <a:latin typeface="Trebuchet MS"/>
                <a:cs typeface="Trebuchet MS"/>
              </a:rPr>
              <a:t> &amp;</a:t>
            </a:r>
            <a:r>
              <a:rPr sz="1000" i="1" spc="-25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000" i="1" spc="-20" dirty="0">
                <a:solidFill>
                  <a:srgbClr val="6D6A67"/>
                </a:solidFill>
                <a:latin typeface="Trebuchet MS"/>
                <a:cs typeface="Trebuchet MS"/>
              </a:rPr>
              <a:t>scale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44144" y="6584301"/>
            <a:ext cx="172311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r>
              <a:rPr sz="900" spc="-4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sz="900" spc="-5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900" spc="-5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Channel </a:t>
            </a:r>
            <a:r>
              <a:rPr sz="900" spc="-2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9831857" y="6584302"/>
            <a:ext cx="24693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Budweiser</a:t>
            </a:r>
            <a:r>
              <a:rPr sz="900" spc="-5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Beats</a:t>
            </a:r>
            <a:r>
              <a:rPr sz="900" spc="-5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900" spc="-5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5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India</a:t>
            </a:r>
            <a:r>
              <a:rPr sz="900" spc="-4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3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Growth</a:t>
            </a:r>
            <a:r>
              <a:rPr sz="900" spc="-5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3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Strategy</a:t>
            </a:r>
            <a:endParaRPr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584" y="404177"/>
            <a:ext cx="2512416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-114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250" b="1" spc="-1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7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sz="1250" b="1" spc="-19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4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250" b="1" spc="-1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2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250" b="1" spc="-17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2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250" b="1" spc="-1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114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50" b="1" spc="-17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250" b="1" spc="21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4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250" b="1" spc="-1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2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250" b="1" spc="-17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4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250" b="1" spc="-18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10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sz="1250" b="1" spc="-204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6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250" b="1" spc="-1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2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250" b="1" spc="-17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250" b="1" spc="2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15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1250" b="1" spc="285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b="1" spc="-50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5584" y="709460"/>
            <a:ext cx="794448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75" dirty="0">
                <a:solidFill>
                  <a:srgbClr val="131313"/>
                </a:solidFill>
                <a:latin typeface="Times New Roman"/>
                <a:cs typeface="Times New Roman"/>
              </a:rPr>
              <a:t>Recommended</a:t>
            </a:r>
            <a:r>
              <a:rPr sz="3000" spc="-1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spc="-105" dirty="0">
                <a:solidFill>
                  <a:srgbClr val="131313"/>
                </a:solidFill>
                <a:latin typeface="Times New Roman"/>
                <a:cs typeface="Times New Roman"/>
              </a:rPr>
              <a:t>Year-</a:t>
            </a:r>
            <a:r>
              <a:rPr sz="3000" spc="-135" dirty="0">
                <a:solidFill>
                  <a:srgbClr val="131313"/>
                </a:solidFill>
                <a:latin typeface="Times New Roman"/>
                <a:cs typeface="Times New Roman"/>
              </a:rPr>
              <a:t>1</a:t>
            </a:r>
            <a:r>
              <a:rPr sz="3000" spc="-1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131313"/>
                </a:solidFill>
                <a:latin typeface="Times New Roman"/>
                <a:cs typeface="Times New Roman"/>
              </a:rPr>
              <a:t>Channel</a:t>
            </a:r>
            <a:r>
              <a:rPr sz="3000" spc="-1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131313"/>
                </a:solidFill>
                <a:latin typeface="Times New Roman"/>
                <a:cs typeface="Times New Roman"/>
              </a:rPr>
              <a:t>Investment</a:t>
            </a:r>
            <a:r>
              <a:rPr sz="3000" spc="-2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131313"/>
                </a:solidFill>
                <a:latin typeface="Times New Roman"/>
                <a:cs typeface="Times New Roman"/>
              </a:rPr>
              <a:t>Mix</a:t>
            </a:r>
            <a:endParaRPr sz="3000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81443" y="1543316"/>
            <a:ext cx="4328795" cy="4328795"/>
            <a:chOff x="1081443" y="1543316"/>
            <a:chExt cx="4328795" cy="4328795"/>
          </a:xfrm>
        </p:grpSpPr>
        <p:sp>
          <p:nvSpPr>
            <p:cNvPr id="5" name="object 5"/>
            <p:cNvSpPr/>
            <p:nvPr/>
          </p:nvSpPr>
          <p:spPr>
            <a:xfrm>
              <a:off x="3245764" y="1543316"/>
              <a:ext cx="2164080" cy="3915410"/>
            </a:xfrm>
            <a:custGeom>
              <a:avLst/>
              <a:gdLst/>
              <a:ahLst/>
              <a:cxnLst/>
              <a:rect l="l" t="t" r="r" b="b"/>
              <a:pathLst>
                <a:path w="2164079" h="3915410">
                  <a:moveTo>
                    <a:pt x="0" y="0"/>
                  </a:moveTo>
                  <a:lnTo>
                    <a:pt x="0" y="1082166"/>
                  </a:lnTo>
                  <a:lnTo>
                    <a:pt x="48427" y="1083247"/>
                  </a:lnTo>
                  <a:lnTo>
                    <a:pt x="96768" y="1086487"/>
                  </a:lnTo>
                  <a:lnTo>
                    <a:pt x="144933" y="1091887"/>
                  </a:lnTo>
                  <a:lnTo>
                    <a:pt x="192835" y="1099447"/>
                  </a:lnTo>
                  <a:lnTo>
                    <a:pt x="240384" y="1109167"/>
                  </a:lnTo>
                  <a:lnTo>
                    <a:pt x="287493" y="1121047"/>
                  </a:lnTo>
                  <a:lnTo>
                    <a:pt x="334073" y="1135087"/>
                  </a:lnTo>
                  <a:lnTo>
                    <a:pt x="379973" y="1151081"/>
                  </a:lnTo>
                  <a:lnTo>
                    <a:pt x="425054" y="1169116"/>
                  </a:lnTo>
                  <a:lnTo>
                    <a:pt x="469246" y="1189161"/>
                  </a:lnTo>
                  <a:lnTo>
                    <a:pt x="512481" y="1211184"/>
                  </a:lnTo>
                  <a:lnTo>
                    <a:pt x="554690" y="1235154"/>
                  </a:lnTo>
                  <a:lnTo>
                    <a:pt x="595802" y="1261039"/>
                  </a:lnTo>
                  <a:lnTo>
                    <a:pt x="635749" y="1288808"/>
                  </a:lnTo>
                  <a:lnTo>
                    <a:pt x="674423" y="1318222"/>
                  </a:lnTo>
                  <a:lnTo>
                    <a:pt x="711711" y="1349336"/>
                  </a:lnTo>
                  <a:lnTo>
                    <a:pt x="747550" y="1382087"/>
                  </a:lnTo>
                  <a:lnTo>
                    <a:pt x="781877" y="1416412"/>
                  </a:lnTo>
                  <a:lnTo>
                    <a:pt x="814629" y="1452249"/>
                  </a:lnTo>
                  <a:lnTo>
                    <a:pt x="845743" y="1489534"/>
                  </a:lnTo>
                  <a:lnTo>
                    <a:pt x="875157" y="1528203"/>
                  </a:lnTo>
                  <a:lnTo>
                    <a:pt x="902921" y="1568150"/>
                  </a:lnTo>
                  <a:lnTo>
                    <a:pt x="928803" y="1609262"/>
                  </a:lnTo>
                  <a:lnTo>
                    <a:pt x="952771" y="1651471"/>
                  </a:lnTo>
                  <a:lnTo>
                    <a:pt x="974794" y="1694706"/>
                  </a:lnTo>
                  <a:lnTo>
                    <a:pt x="994841" y="1738898"/>
                  </a:lnTo>
                  <a:lnTo>
                    <a:pt x="1012879" y="1783979"/>
                  </a:lnTo>
                  <a:lnTo>
                    <a:pt x="1028877" y="1829879"/>
                  </a:lnTo>
                  <a:lnTo>
                    <a:pt x="1042918" y="1876460"/>
                  </a:lnTo>
                  <a:lnTo>
                    <a:pt x="1054798" y="1923577"/>
                  </a:lnTo>
                  <a:lnTo>
                    <a:pt x="1064518" y="1971146"/>
                  </a:lnTo>
                  <a:lnTo>
                    <a:pt x="1072078" y="2019088"/>
                  </a:lnTo>
                  <a:lnTo>
                    <a:pt x="1077478" y="2067319"/>
                  </a:lnTo>
                  <a:lnTo>
                    <a:pt x="1080718" y="2115757"/>
                  </a:lnTo>
                  <a:lnTo>
                    <a:pt x="1081798" y="2164321"/>
                  </a:lnTo>
                  <a:lnTo>
                    <a:pt x="1080718" y="2212865"/>
                  </a:lnTo>
                  <a:lnTo>
                    <a:pt x="1077478" y="2261252"/>
                  </a:lnTo>
                  <a:lnTo>
                    <a:pt x="1072078" y="2309414"/>
                  </a:lnTo>
                  <a:lnTo>
                    <a:pt x="1064518" y="2357279"/>
                  </a:lnTo>
                  <a:lnTo>
                    <a:pt x="1054798" y="2404780"/>
                  </a:lnTo>
                  <a:lnTo>
                    <a:pt x="1042918" y="2451846"/>
                  </a:lnTo>
                  <a:lnTo>
                    <a:pt x="1028877" y="2498407"/>
                  </a:lnTo>
                  <a:lnTo>
                    <a:pt x="1012879" y="2544307"/>
                  </a:lnTo>
                  <a:lnTo>
                    <a:pt x="994841" y="2589388"/>
                  </a:lnTo>
                  <a:lnTo>
                    <a:pt x="974794" y="2633580"/>
                  </a:lnTo>
                  <a:lnTo>
                    <a:pt x="952771" y="2676815"/>
                  </a:lnTo>
                  <a:lnTo>
                    <a:pt x="928803" y="2719024"/>
                  </a:lnTo>
                  <a:lnTo>
                    <a:pt x="902921" y="2760136"/>
                  </a:lnTo>
                  <a:lnTo>
                    <a:pt x="875157" y="2800083"/>
                  </a:lnTo>
                  <a:lnTo>
                    <a:pt x="845743" y="2838752"/>
                  </a:lnTo>
                  <a:lnTo>
                    <a:pt x="814629" y="2876037"/>
                  </a:lnTo>
                  <a:lnTo>
                    <a:pt x="781877" y="2911874"/>
                  </a:lnTo>
                  <a:lnTo>
                    <a:pt x="747550" y="2946199"/>
                  </a:lnTo>
                  <a:lnTo>
                    <a:pt x="711711" y="2978950"/>
                  </a:lnTo>
                  <a:lnTo>
                    <a:pt x="674423" y="3010064"/>
                  </a:lnTo>
                  <a:lnTo>
                    <a:pt x="635749" y="3039478"/>
                  </a:lnTo>
                  <a:lnTo>
                    <a:pt x="1271879" y="3915003"/>
                  </a:lnTo>
                  <a:lnTo>
                    <a:pt x="1313854" y="3883685"/>
                  </a:lnTo>
                  <a:lnTo>
                    <a:pt x="1355033" y="3851387"/>
                  </a:lnTo>
                  <a:lnTo>
                    <a:pt x="1395399" y="3818125"/>
                  </a:lnTo>
                  <a:lnTo>
                    <a:pt x="1434936" y="3783917"/>
                  </a:lnTo>
                  <a:lnTo>
                    <a:pt x="1473626" y="3748780"/>
                  </a:lnTo>
                  <a:lnTo>
                    <a:pt x="1511454" y="3712729"/>
                  </a:lnTo>
                  <a:lnTo>
                    <a:pt x="1548401" y="3675781"/>
                  </a:lnTo>
                  <a:lnTo>
                    <a:pt x="1584452" y="3637954"/>
                  </a:lnTo>
                  <a:lnTo>
                    <a:pt x="1619589" y="3599263"/>
                  </a:lnTo>
                  <a:lnTo>
                    <a:pt x="1653797" y="3559726"/>
                  </a:lnTo>
                  <a:lnTo>
                    <a:pt x="1687057" y="3519358"/>
                  </a:lnTo>
                  <a:lnTo>
                    <a:pt x="1719353" y="3478178"/>
                  </a:lnTo>
                  <a:lnTo>
                    <a:pt x="1750669" y="3436200"/>
                  </a:lnTo>
                  <a:lnTo>
                    <a:pt x="1780960" y="3393476"/>
                  </a:lnTo>
                  <a:lnTo>
                    <a:pt x="1810180" y="3350058"/>
                  </a:lnTo>
                  <a:lnTo>
                    <a:pt x="1838319" y="3305967"/>
                  </a:lnTo>
                  <a:lnTo>
                    <a:pt x="1865368" y="3261226"/>
                  </a:lnTo>
                  <a:lnTo>
                    <a:pt x="1891317" y="3215856"/>
                  </a:lnTo>
                  <a:lnTo>
                    <a:pt x="1916155" y="3169879"/>
                  </a:lnTo>
                  <a:lnTo>
                    <a:pt x="1939873" y="3123316"/>
                  </a:lnTo>
                  <a:lnTo>
                    <a:pt x="1962462" y="3076188"/>
                  </a:lnTo>
                  <a:lnTo>
                    <a:pt x="1983910" y="3028519"/>
                  </a:lnTo>
                  <a:lnTo>
                    <a:pt x="2004209" y="2980328"/>
                  </a:lnTo>
                  <a:lnTo>
                    <a:pt x="2023349" y="2931639"/>
                  </a:lnTo>
                  <a:lnTo>
                    <a:pt x="2041319" y="2882472"/>
                  </a:lnTo>
                  <a:lnTo>
                    <a:pt x="2058111" y="2832849"/>
                  </a:lnTo>
                  <a:lnTo>
                    <a:pt x="2073698" y="2782834"/>
                  </a:lnTo>
                  <a:lnTo>
                    <a:pt x="2088055" y="2732497"/>
                  </a:lnTo>
                  <a:lnTo>
                    <a:pt x="2101179" y="2681861"/>
                  </a:lnTo>
                  <a:lnTo>
                    <a:pt x="2113066" y="2630952"/>
                  </a:lnTo>
                  <a:lnTo>
                    <a:pt x="2123715" y="2579792"/>
                  </a:lnTo>
                  <a:lnTo>
                    <a:pt x="2133122" y="2528404"/>
                  </a:lnTo>
                  <a:lnTo>
                    <a:pt x="2141284" y="2476814"/>
                  </a:lnTo>
                  <a:lnTo>
                    <a:pt x="2148198" y="2425043"/>
                  </a:lnTo>
                  <a:lnTo>
                    <a:pt x="2153862" y="2373116"/>
                  </a:lnTo>
                  <a:lnTo>
                    <a:pt x="2158272" y="2321057"/>
                  </a:lnTo>
                  <a:lnTo>
                    <a:pt x="2161426" y="2268889"/>
                  </a:lnTo>
                  <a:lnTo>
                    <a:pt x="2163320" y="2216636"/>
                  </a:lnTo>
                  <a:lnTo>
                    <a:pt x="2163953" y="2164321"/>
                  </a:lnTo>
                  <a:lnTo>
                    <a:pt x="2163320" y="2111930"/>
                  </a:lnTo>
                  <a:lnTo>
                    <a:pt x="2161426" y="2059613"/>
                  </a:lnTo>
                  <a:lnTo>
                    <a:pt x="2158272" y="2007391"/>
                  </a:lnTo>
                  <a:lnTo>
                    <a:pt x="2153862" y="1955288"/>
                  </a:lnTo>
                  <a:lnTo>
                    <a:pt x="2148198" y="1903326"/>
                  </a:lnTo>
                  <a:lnTo>
                    <a:pt x="2141284" y="1851528"/>
                  </a:lnTo>
                  <a:lnTo>
                    <a:pt x="2133122" y="1799917"/>
                  </a:lnTo>
                  <a:lnTo>
                    <a:pt x="2123715" y="1748514"/>
                  </a:lnTo>
                  <a:lnTo>
                    <a:pt x="2113066" y="1697344"/>
                  </a:lnTo>
                  <a:lnTo>
                    <a:pt x="2101179" y="1646429"/>
                  </a:lnTo>
                  <a:lnTo>
                    <a:pt x="2088055" y="1595791"/>
                  </a:lnTo>
                  <a:lnTo>
                    <a:pt x="2073698" y="1545453"/>
                  </a:lnTo>
                  <a:lnTo>
                    <a:pt x="2058111" y="1495437"/>
                  </a:lnTo>
                  <a:lnTo>
                    <a:pt x="2041319" y="1445814"/>
                  </a:lnTo>
                  <a:lnTo>
                    <a:pt x="2023349" y="1396647"/>
                  </a:lnTo>
                  <a:lnTo>
                    <a:pt x="2004209" y="1347956"/>
                  </a:lnTo>
                  <a:lnTo>
                    <a:pt x="1983910" y="1299765"/>
                  </a:lnTo>
                  <a:lnTo>
                    <a:pt x="1962462" y="1252094"/>
                  </a:lnTo>
                  <a:lnTo>
                    <a:pt x="1939873" y="1204966"/>
                  </a:lnTo>
                  <a:lnTo>
                    <a:pt x="1916155" y="1158402"/>
                  </a:lnTo>
                  <a:lnTo>
                    <a:pt x="1891317" y="1112424"/>
                  </a:lnTo>
                  <a:lnTo>
                    <a:pt x="1865368" y="1067054"/>
                  </a:lnTo>
                  <a:lnTo>
                    <a:pt x="1838319" y="1022313"/>
                  </a:lnTo>
                  <a:lnTo>
                    <a:pt x="1810180" y="978224"/>
                  </a:lnTo>
                  <a:lnTo>
                    <a:pt x="1780960" y="934807"/>
                  </a:lnTo>
                  <a:lnTo>
                    <a:pt x="1750669" y="892086"/>
                  </a:lnTo>
                  <a:lnTo>
                    <a:pt x="1719353" y="850108"/>
                  </a:lnTo>
                  <a:lnTo>
                    <a:pt x="1687057" y="808928"/>
                  </a:lnTo>
                  <a:lnTo>
                    <a:pt x="1653797" y="768560"/>
                  </a:lnTo>
                  <a:lnTo>
                    <a:pt x="1619589" y="729023"/>
                  </a:lnTo>
                  <a:lnTo>
                    <a:pt x="1584452" y="690332"/>
                  </a:lnTo>
                  <a:lnTo>
                    <a:pt x="1548401" y="652505"/>
                  </a:lnTo>
                  <a:lnTo>
                    <a:pt x="1511454" y="615557"/>
                  </a:lnTo>
                  <a:lnTo>
                    <a:pt x="1473626" y="579506"/>
                  </a:lnTo>
                  <a:lnTo>
                    <a:pt x="1434936" y="544369"/>
                  </a:lnTo>
                  <a:lnTo>
                    <a:pt x="1395399" y="510161"/>
                  </a:lnTo>
                  <a:lnTo>
                    <a:pt x="1355033" y="476899"/>
                  </a:lnTo>
                  <a:lnTo>
                    <a:pt x="1313854" y="444601"/>
                  </a:lnTo>
                  <a:lnTo>
                    <a:pt x="1271879" y="413283"/>
                  </a:lnTo>
                  <a:lnTo>
                    <a:pt x="1229155" y="382992"/>
                  </a:lnTo>
                  <a:lnTo>
                    <a:pt x="1185737" y="353773"/>
                  </a:lnTo>
                  <a:lnTo>
                    <a:pt x="1141646" y="325634"/>
                  </a:lnTo>
                  <a:lnTo>
                    <a:pt x="1096905" y="298586"/>
                  </a:lnTo>
                  <a:lnTo>
                    <a:pt x="1051534" y="272639"/>
                  </a:lnTo>
                  <a:lnTo>
                    <a:pt x="1005556" y="247801"/>
                  </a:lnTo>
                  <a:lnTo>
                    <a:pt x="958992" y="224084"/>
                  </a:lnTo>
                  <a:lnTo>
                    <a:pt x="911864" y="201496"/>
                  </a:lnTo>
                  <a:lnTo>
                    <a:pt x="864193" y="180047"/>
                  </a:lnTo>
                  <a:lnTo>
                    <a:pt x="816001" y="159748"/>
                  </a:lnTo>
                  <a:lnTo>
                    <a:pt x="767310" y="140607"/>
                  </a:lnTo>
                  <a:lnTo>
                    <a:pt x="718140" y="122635"/>
                  </a:lnTo>
                  <a:lnTo>
                    <a:pt x="668515" y="105841"/>
                  </a:lnTo>
                  <a:lnTo>
                    <a:pt x="618500" y="90257"/>
                  </a:lnTo>
                  <a:lnTo>
                    <a:pt x="568163" y="75901"/>
                  </a:lnTo>
                  <a:lnTo>
                    <a:pt x="517529" y="62779"/>
                  </a:lnTo>
                  <a:lnTo>
                    <a:pt x="466621" y="50891"/>
                  </a:lnTo>
                  <a:lnTo>
                    <a:pt x="415462" y="40243"/>
                  </a:lnTo>
                  <a:lnTo>
                    <a:pt x="364076" y="30835"/>
                  </a:lnTo>
                  <a:lnTo>
                    <a:pt x="312487" y="22672"/>
                  </a:lnTo>
                  <a:lnTo>
                    <a:pt x="260717" y="15757"/>
                  </a:lnTo>
                  <a:lnTo>
                    <a:pt x="208792" y="10092"/>
                  </a:lnTo>
                  <a:lnTo>
                    <a:pt x="156734" y="5681"/>
                  </a:lnTo>
                  <a:lnTo>
                    <a:pt x="104567" y="2527"/>
                  </a:lnTo>
                  <a:lnTo>
                    <a:pt x="52314" y="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F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94713" y="4343400"/>
              <a:ext cx="3023235" cy="1529080"/>
            </a:xfrm>
            <a:custGeom>
              <a:avLst/>
              <a:gdLst/>
              <a:ahLst/>
              <a:cxnLst/>
              <a:rect l="l" t="t" r="r" b="b"/>
              <a:pathLst>
                <a:path w="3023235" h="1529079">
                  <a:moveTo>
                    <a:pt x="875525" y="0"/>
                  </a:moveTo>
                  <a:lnTo>
                    <a:pt x="0" y="636117"/>
                  </a:lnTo>
                  <a:lnTo>
                    <a:pt x="31318" y="678094"/>
                  </a:lnTo>
                  <a:lnTo>
                    <a:pt x="63617" y="719275"/>
                  </a:lnTo>
                  <a:lnTo>
                    <a:pt x="96879" y="759642"/>
                  </a:lnTo>
                  <a:lnTo>
                    <a:pt x="131088" y="799180"/>
                  </a:lnTo>
                  <a:lnTo>
                    <a:pt x="166226" y="837870"/>
                  </a:lnTo>
                  <a:lnTo>
                    <a:pt x="202278" y="875698"/>
                  </a:lnTo>
                  <a:lnTo>
                    <a:pt x="239226" y="912645"/>
                  </a:lnTo>
                  <a:lnTo>
                    <a:pt x="277054" y="948696"/>
                  </a:lnTo>
                  <a:lnTo>
                    <a:pt x="315745" y="983834"/>
                  </a:lnTo>
                  <a:lnTo>
                    <a:pt x="355282" y="1018042"/>
                  </a:lnTo>
                  <a:lnTo>
                    <a:pt x="395648" y="1051303"/>
                  </a:lnTo>
                  <a:lnTo>
                    <a:pt x="436827" y="1083601"/>
                  </a:lnTo>
                  <a:lnTo>
                    <a:pt x="478802" y="1114920"/>
                  </a:lnTo>
                  <a:lnTo>
                    <a:pt x="521527" y="1145210"/>
                  </a:lnTo>
                  <a:lnTo>
                    <a:pt x="564945" y="1174430"/>
                  </a:lnTo>
                  <a:lnTo>
                    <a:pt x="609035" y="1202568"/>
                  </a:lnTo>
                  <a:lnTo>
                    <a:pt x="653777" y="1229616"/>
                  </a:lnTo>
                  <a:lnTo>
                    <a:pt x="699147" y="1255564"/>
                  </a:lnTo>
                  <a:lnTo>
                    <a:pt x="745125" y="1280401"/>
                  </a:lnTo>
                  <a:lnTo>
                    <a:pt x="791689" y="1304119"/>
                  </a:lnTo>
                  <a:lnTo>
                    <a:pt x="838817" y="1326707"/>
                  </a:lnTo>
                  <a:lnTo>
                    <a:pt x="886488" y="1348155"/>
                  </a:lnTo>
                  <a:lnTo>
                    <a:pt x="934680" y="1368455"/>
                  </a:lnTo>
                  <a:lnTo>
                    <a:pt x="983372" y="1387596"/>
                  </a:lnTo>
                  <a:lnTo>
                    <a:pt x="1032541" y="1405568"/>
                  </a:lnTo>
                  <a:lnTo>
                    <a:pt x="1082167" y="1422361"/>
                  </a:lnTo>
                  <a:lnTo>
                    <a:pt x="1132182" y="1437952"/>
                  </a:lnTo>
                  <a:lnTo>
                    <a:pt x="1182519" y="1452324"/>
                  </a:lnTo>
                  <a:lnTo>
                    <a:pt x="1233157" y="1465472"/>
                  </a:lnTo>
                  <a:lnTo>
                    <a:pt x="1284071" y="1477392"/>
                  </a:lnTo>
                  <a:lnTo>
                    <a:pt x="1335240" y="1488078"/>
                  </a:lnTo>
                  <a:lnTo>
                    <a:pt x="1386642" y="1497525"/>
                  </a:lnTo>
                  <a:lnTo>
                    <a:pt x="1438252" y="1505729"/>
                  </a:lnTo>
                  <a:lnTo>
                    <a:pt x="1490050" y="1512684"/>
                  </a:lnTo>
                  <a:lnTo>
                    <a:pt x="1542011" y="1518386"/>
                  </a:lnTo>
                  <a:lnTo>
                    <a:pt x="1594115" y="1522829"/>
                  </a:lnTo>
                  <a:lnTo>
                    <a:pt x="1646338" y="1526009"/>
                  </a:lnTo>
                  <a:lnTo>
                    <a:pt x="1698657" y="1527920"/>
                  </a:lnTo>
                  <a:lnTo>
                    <a:pt x="1751050" y="1528559"/>
                  </a:lnTo>
                  <a:lnTo>
                    <a:pt x="1803365" y="1527920"/>
                  </a:lnTo>
                  <a:lnTo>
                    <a:pt x="1855617" y="1526009"/>
                  </a:lnTo>
                  <a:lnTo>
                    <a:pt x="1907785" y="1522829"/>
                  </a:lnTo>
                  <a:lnTo>
                    <a:pt x="1959843" y="1518386"/>
                  </a:lnTo>
                  <a:lnTo>
                    <a:pt x="2011768" y="1512684"/>
                  </a:lnTo>
                  <a:lnTo>
                    <a:pt x="2063537" y="1505729"/>
                  </a:lnTo>
                  <a:lnTo>
                    <a:pt x="2115127" y="1497525"/>
                  </a:lnTo>
                  <a:lnTo>
                    <a:pt x="2166513" y="1488078"/>
                  </a:lnTo>
                  <a:lnTo>
                    <a:pt x="2217671" y="1477392"/>
                  </a:lnTo>
                  <a:lnTo>
                    <a:pt x="2268580" y="1465472"/>
                  </a:lnTo>
                  <a:lnTo>
                    <a:pt x="2319214" y="1452324"/>
                  </a:lnTo>
                  <a:lnTo>
                    <a:pt x="2369550" y="1437952"/>
                  </a:lnTo>
                  <a:lnTo>
                    <a:pt x="2419565" y="1422361"/>
                  </a:lnTo>
                  <a:lnTo>
                    <a:pt x="2469191" y="1405568"/>
                  </a:lnTo>
                  <a:lnTo>
                    <a:pt x="2518360" y="1387596"/>
                  </a:lnTo>
                  <a:lnTo>
                    <a:pt x="2567052" y="1368455"/>
                  </a:lnTo>
                  <a:lnTo>
                    <a:pt x="2615244" y="1348155"/>
                  </a:lnTo>
                  <a:lnTo>
                    <a:pt x="2662915" y="1326707"/>
                  </a:lnTo>
                  <a:lnTo>
                    <a:pt x="2710043" y="1304119"/>
                  </a:lnTo>
                  <a:lnTo>
                    <a:pt x="2756607" y="1280401"/>
                  </a:lnTo>
                  <a:lnTo>
                    <a:pt x="2802585" y="1255564"/>
                  </a:lnTo>
                  <a:lnTo>
                    <a:pt x="2847955" y="1229616"/>
                  </a:lnTo>
                  <a:lnTo>
                    <a:pt x="2892697" y="1202568"/>
                  </a:lnTo>
                  <a:lnTo>
                    <a:pt x="2936787" y="1174430"/>
                  </a:lnTo>
                  <a:lnTo>
                    <a:pt x="2980205" y="1145210"/>
                  </a:lnTo>
                  <a:lnTo>
                    <a:pt x="3022930" y="1114920"/>
                  </a:lnTo>
                  <a:lnTo>
                    <a:pt x="2386799" y="239394"/>
                  </a:lnTo>
                  <a:lnTo>
                    <a:pt x="2346853" y="267163"/>
                  </a:lnTo>
                  <a:lnTo>
                    <a:pt x="2305740" y="293049"/>
                  </a:lnTo>
                  <a:lnTo>
                    <a:pt x="2263532" y="317019"/>
                  </a:lnTo>
                  <a:lnTo>
                    <a:pt x="2220297" y="339042"/>
                  </a:lnTo>
                  <a:lnTo>
                    <a:pt x="2176104" y="359087"/>
                  </a:lnTo>
                  <a:lnTo>
                    <a:pt x="2131023" y="377122"/>
                  </a:lnTo>
                  <a:lnTo>
                    <a:pt x="2085124" y="393115"/>
                  </a:lnTo>
                  <a:lnTo>
                    <a:pt x="2038544" y="407156"/>
                  </a:lnTo>
                  <a:lnTo>
                    <a:pt x="1991435" y="419036"/>
                  </a:lnTo>
                  <a:lnTo>
                    <a:pt x="1943885" y="428756"/>
                  </a:lnTo>
                  <a:lnTo>
                    <a:pt x="1895983" y="436316"/>
                  </a:lnTo>
                  <a:lnTo>
                    <a:pt x="1847818" y="441716"/>
                  </a:lnTo>
                  <a:lnTo>
                    <a:pt x="1799478" y="444956"/>
                  </a:lnTo>
                  <a:lnTo>
                    <a:pt x="1751050" y="446036"/>
                  </a:lnTo>
                  <a:lnTo>
                    <a:pt x="1702486" y="444956"/>
                  </a:lnTo>
                  <a:lnTo>
                    <a:pt x="1654048" y="441716"/>
                  </a:lnTo>
                  <a:lnTo>
                    <a:pt x="1605817" y="436316"/>
                  </a:lnTo>
                  <a:lnTo>
                    <a:pt x="1557876" y="428756"/>
                  </a:lnTo>
                  <a:lnTo>
                    <a:pt x="1510306" y="419036"/>
                  </a:lnTo>
                  <a:lnTo>
                    <a:pt x="1463189" y="407156"/>
                  </a:lnTo>
                  <a:lnTo>
                    <a:pt x="1416608" y="393115"/>
                  </a:lnTo>
                  <a:lnTo>
                    <a:pt x="1370709" y="377122"/>
                  </a:lnTo>
                  <a:lnTo>
                    <a:pt x="1325627" y="359087"/>
                  </a:lnTo>
                  <a:lnTo>
                    <a:pt x="1281434" y="339042"/>
                  </a:lnTo>
                  <a:lnTo>
                    <a:pt x="1238198" y="317019"/>
                  </a:lnTo>
                  <a:lnTo>
                    <a:pt x="1195987" y="293049"/>
                  </a:lnTo>
                  <a:lnTo>
                    <a:pt x="1154871" y="267163"/>
                  </a:lnTo>
                  <a:lnTo>
                    <a:pt x="1114920" y="239394"/>
                  </a:lnTo>
                  <a:lnTo>
                    <a:pt x="1076250" y="209981"/>
                  </a:lnTo>
                  <a:lnTo>
                    <a:pt x="1038966" y="178867"/>
                  </a:lnTo>
                  <a:lnTo>
                    <a:pt x="1003129" y="146116"/>
                  </a:lnTo>
                  <a:lnTo>
                    <a:pt x="968804" y="111790"/>
                  </a:lnTo>
                  <a:lnTo>
                    <a:pt x="936052" y="75954"/>
                  </a:lnTo>
                  <a:lnTo>
                    <a:pt x="904938" y="38669"/>
                  </a:lnTo>
                  <a:lnTo>
                    <a:pt x="875525" y="0"/>
                  </a:lnTo>
                  <a:close/>
                </a:path>
              </a:pathLst>
            </a:custGeom>
            <a:solidFill>
              <a:srgbClr val="D3AE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81443" y="2435402"/>
              <a:ext cx="1289050" cy="2544445"/>
            </a:xfrm>
            <a:custGeom>
              <a:avLst/>
              <a:gdLst/>
              <a:ahLst/>
              <a:cxnLst/>
              <a:rect l="l" t="t" r="r" b="b"/>
              <a:pathLst>
                <a:path w="1289050" h="2544445">
                  <a:moveTo>
                    <a:pt x="413270" y="0"/>
                  </a:moveTo>
                  <a:lnTo>
                    <a:pt x="382982" y="42721"/>
                  </a:lnTo>
                  <a:lnTo>
                    <a:pt x="353764" y="86138"/>
                  </a:lnTo>
                  <a:lnTo>
                    <a:pt x="325627" y="130227"/>
                  </a:lnTo>
                  <a:lnTo>
                    <a:pt x="298580" y="174968"/>
                  </a:lnTo>
                  <a:lnTo>
                    <a:pt x="272632" y="220338"/>
                  </a:lnTo>
                  <a:lnTo>
                    <a:pt x="247795" y="266316"/>
                  </a:lnTo>
                  <a:lnTo>
                    <a:pt x="224077" y="312880"/>
                  </a:lnTo>
                  <a:lnTo>
                    <a:pt x="201490" y="360008"/>
                  </a:lnTo>
                  <a:lnTo>
                    <a:pt x="180041" y="407679"/>
                  </a:lnTo>
                  <a:lnTo>
                    <a:pt x="159742" y="455870"/>
                  </a:lnTo>
                  <a:lnTo>
                    <a:pt x="140603" y="504560"/>
                  </a:lnTo>
                  <a:lnTo>
                    <a:pt x="122633" y="553728"/>
                  </a:lnTo>
                  <a:lnTo>
                    <a:pt x="105841" y="603351"/>
                  </a:lnTo>
                  <a:lnTo>
                    <a:pt x="90254" y="653367"/>
                  </a:lnTo>
                  <a:lnTo>
                    <a:pt x="75897" y="703705"/>
                  </a:lnTo>
                  <a:lnTo>
                    <a:pt x="62773" y="754343"/>
                  </a:lnTo>
                  <a:lnTo>
                    <a:pt x="50886" y="805258"/>
                  </a:lnTo>
                  <a:lnTo>
                    <a:pt x="40237" y="856428"/>
                  </a:lnTo>
                  <a:lnTo>
                    <a:pt x="30830" y="907830"/>
                  </a:lnTo>
                  <a:lnTo>
                    <a:pt x="22668" y="959442"/>
                  </a:lnTo>
                  <a:lnTo>
                    <a:pt x="15754" y="1011240"/>
                  </a:lnTo>
                  <a:lnTo>
                    <a:pt x="10090" y="1063202"/>
                  </a:lnTo>
                  <a:lnTo>
                    <a:pt x="5680" y="1115305"/>
                  </a:lnTo>
                  <a:lnTo>
                    <a:pt x="2526" y="1167526"/>
                  </a:lnTo>
                  <a:lnTo>
                    <a:pt x="632" y="1219844"/>
                  </a:lnTo>
                  <a:lnTo>
                    <a:pt x="0" y="1272235"/>
                  </a:lnTo>
                  <a:lnTo>
                    <a:pt x="632" y="1324549"/>
                  </a:lnTo>
                  <a:lnTo>
                    <a:pt x="2526" y="1376803"/>
                  </a:lnTo>
                  <a:lnTo>
                    <a:pt x="5680" y="1428971"/>
                  </a:lnTo>
                  <a:lnTo>
                    <a:pt x="10090" y="1481030"/>
                  </a:lnTo>
                  <a:lnTo>
                    <a:pt x="15754" y="1532957"/>
                  </a:lnTo>
                  <a:lnTo>
                    <a:pt x="22668" y="1584727"/>
                  </a:lnTo>
                  <a:lnTo>
                    <a:pt x="30830" y="1636318"/>
                  </a:lnTo>
                  <a:lnTo>
                    <a:pt x="40237" y="1687706"/>
                  </a:lnTo>
                  <a:lnTo>
                    <a:pt x="50886" y="1738866"/>
                  </a:lnTo>
                  <a:lnTo>
                    <a:pt x="62773" y="1789775"/>
                  </a:lnTo>
                  <a:lnTo>
                    <a:pt x="75897" y="1840410"/>
                  </a:lnTo>
                  <a:lnTo>
                    <a:pt x="90254" y="1890747"/>
                  </a:lnTo>
                  <a:lnTo>
                    <a:pt x="105841" y="1940763"/>
                  </a:lnTo>
                  <a:lnTo>
                    <a:pt x="122633" y="1990386"/>
                  </a:lnTo>
                  <a:lnTo>
                    <a:pt x="140603" y="2039553"/>
                  </a:lnTo>
                  <a:lnTo>
                    <a:pt x="159742" y="2088242"/>
                  </a:lnTo>
                  <a:lnTo>
                    <a:pt x="180041" y="2136433"/>
                  </a:lnTo>
                  <a:lnTo>
                    <a:pt x="201490" y="2184102"/>
                  </a:lnTo>
                  <a:lnTo>
                    <a:pt x="224077" y="2231229"/>
                  </a:lnTo>
                  <a:lnTo>
                    <a:pt x="247795" y="2277793"/>
                  </a:lnTo>
                  <a:lnTo>
                    <a:pt x="272632" y="2323770"/>
                  </a:lnTo>
                  <a:lnTo>
                    <a:pt x="298580" y="2369140"/>
                  </a:lnTo>
                  <a:lnTo>
                    <a:pt x="325627" y="2413881"/>
                  </a:lnTo>
                  <a:lnTo>
                    <a:pt x="353764" y="2457972"/>
                  </a:lnTo>
                  <a:lnTo>
                    <a:pt x="382982" y="2501390"/>
                  </a:lnTo>
                  <a:lnTo>
                    <a:pt x="413270" y="2544114"/>
                  </a:lnTo>
                  <a:lnTo>
                    <a:pt x="1288796" y="1907997"/>
                  </a:lnTo>
                  <a:lnTo>
                    <a:pt x="1261031" y="1868050"/>
                  </a:lnTo>
                  <a:lnTo>
                    <a:pt x="1235149" y="1826938"/>
                  </a:lnTo>
                  <a:lnTo>
                    <a:pt x="1211181" y="1784729"/>
                  </a:lnTo>
                  <a:lnTo>
                    <a:pt x="1189158" y="1741494"/>
                  </a:lnTo>
                  <a:lnTo>
                    <a:pt x="1169111" y="1697301"/>
                  </a:lnTo>
                  <a:lnTo>
                    <a:pt x="1151073" y="1652221"/>
                  </a:lnTo>
                  <a:lnTo>
                    <a:pt x="1135075" y="1606321"/>
                  </a:lnTo>
                  <a:lnTo>
                    <a:pt x="1121034" y="1559760"/>
                  </a:lnTo>
                  <a:lnTo>
                    <a:pt x="1109154" y="1512694"/>
                  </a:lnTo>
                  <a:lnTo>
                    <a:pt x="1099434" y="1465193"/>
                  </a:lnTo>
                  <a:lnTo>
                    <a:pt x="1091874" y="1417328"/>
                  </a:lnTo>
                  <a:lnTo>
                    <a:pt x="1086474" y="1369166"/>
                  </a:lnTo>
                  <a:lnTo>
                    <a:pt x="1083234" y="1320779"/>
                  </a:lnTo>
                  <a:lnTo>
                    <a:pt x="1082154" y="1272235"/>
                  </a:lnTo>
                  <a:lnTo>
                    <a:pt x="1083234" y="1223671"/>
                  </a:lnTo>
                  <a:lnTo>
                    <a:pt x="1086474" y="1175233"/>
                  </a:lnTo>
                  <a:lnTo>
                    <a:pt x="1091874" y="1127002"/>
                  </a:lnTo>
                  <a:lnTo>
                    <a:pt x="1099434" y="1079060"/>
                  </a:lnTo>
                  <a:lnTo>
                    <a:pt x="1109154" y="1031490"/>
                  </a:lnTo>
                  <a:lnTo>
                    <a:pt x="1121034" y="984374"/>
                  </a:lnTo>
                  <a:lnTo>
                    <a:pt x="1135075" y="937793"/>
                  </a:lnTo>
                  <a:lnTo>
                    <a:pt x="1151073" y="891893"/>
                  </a:lnTo>
                  <a:lnTo>
                    <a:pt x="1169111" y="846812"/>
                  </a:lnTo>
                  <a:lnTo>
                    <a:pt x="1189158" y="802620"/>
                  </a:lnTo>
                  <a:lnTo>
                    <a:pt x="1211181" y="759384"/>
                  </a:lnTo>
                  <a:lnTo>
                    <a:pt x="1235149" y="717176"/>
                  </a:lnTo>
                  <a:lnTo>
                    <a:pt x="1261031" y="676064"/>
                  </a:lnTo>
                  <a:lnTo>
                    <a:pt x="1288796" y="636117"/>
                  </a:lnTo>
                  <a:lnTo>
                    <a:pt x="413270" y="0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94713" y="1543316"/>
              <a:ext cx="1751330" cy="1528445"/>
            </a:xfrm>
            <a:custGeom>
              <a:avLst/>
              <a:gdLst/>
              <a:ahLst/>
              <a:cxnLst/>
              <a:rect l="l" t="t" r="r" b="b"/>
              <a:pathLst>
                <a:path w="1751330" h="1528445">
                  <a:moveTo>
                    <a:pt x="1751050" y="0"/>
                  </a:moveTo>
                  <a:lnTo>
                    <a:pt x="1698657" y="632"/>
                  </a:lnTo>
                  <a:lnTo>
                    <a:pt x="1646338" y="2527"/>
                  </a:lnTo>
                  <a:lnTo>
                    <a:pt x="1594115" y="5681"/>
                  </a:lnTo>
                  <a:lnTo>
                    <a:pt x="1542011" y="10092"/>
                  </a:lnTo>
                  <a:lnTo>
                    <a:pt x="1490050" y="15757"/>
                  </a:lnTo>
                  <a:lnTo>
                    <a:pt x="1438252" y="22672"/>
                  </a:lnTo>
                  <a:lnTo>
                    <a:pt x="1386642" y="30835"/>
                  </a:lnTo>
                  <a:lnTo>
                    <a:pt x="1335240" y="40243"/>
                  </a:lnTo>
                  <a:lnTo>
                    <a:pt x="1284071" y="50891"/>
                  </a:lnTo>
                  <a:lnTo>
                    <a:pt x="1233157" y="62779"/>
                  </a:lnTo>
                  <a:lnTo>
                    <a:pt x="1182519" y="75901"/>
                  </a:lnTo>
                  <a:lnTo>
                    <a:pt x="1132182" y="90257"/>
                  </a:lnTo>
                  <a:lnTo>
                    <a:pt x="1082167" y="105841"/>
                  </a:lnTo>
                  <a:lnTo>
                    <a:pt x="1032541" y="122635"/>
                  </a:lnTo>
                  <a:lnTo>
                    <a:pt x="983372" y="140607"/>
                  </a:lnTo>
                  <a:lnTo>
                    <a:pt x="934680" y="159748"/>
                  </a:lnTo>
                  <a:lnTo>
                    <a:pt x="886488" y="180047"/>
                  </a:lnTo>
                  <a:lnTo>
                    <a:pt x="838817" y="201496"/>
                  </a:lnTo>
                  <a:lnTo>
                    <a:pt x="791689" y="224084"/>
                  </a:lnTo>
                  <a:lnTo>
                    <a:pt x="745125" y="247801"/>
                  </a:lnTo>
                  <a:lnTo>
                    <a:pt x="699147" y="272639"/>
                  </a:lnTo>
                  <a:lnTo>
                    <a:pt x="653777" y="298586"/>
                  </a:lnTo>
                  <a:lnTo>
                    <a:pt x="609035" y="325634"/>
                  </a:lnTo>
                  <a:lnTo>
                    <a:pt x="564945" y="353773"/>
                  </a:lnTo>
                  <a:lnTo>
                    <a:pt x="521527" y="382992"/>
                  </a:lnTo>
                  <a:lnTo>
                    <a:pt x="478802" y="413283"/>
                  </a:lnTo>
                  <a:lnTo>
                    <a:pt x="436827" y="444601"/>
                  </a:lnTo>
                  <a:lnTo>
                    <a:pt x="395648" y="476899"/>
                  </a:lnTo>
                  <a:lnTo>
                    <a:pt x="355282" y="510161"/>
                  </a:lnTo>
                  <a:lnTo>
                    <a:pt x="315745" y="544369"/>
                  </a:lnTo>
                  <a:lnTo>
                    <a:pt x="277054" y="579506"/>
                  </a:lnTo>
                  <a:lnTo>
                    <a:pt x="239226" y="615557"/>
                  </a:lnTo>
                  <a:lnTo>
                    <a:pt x="202278" y="652505"/>
                  </a:lnTo>
                  <a:lnTo>
                    <a:pt x="166226" y="690332"/>
                  </a:lnTo>
                  <a:lnTo>
                    <a:pt x="131088" y="729023"/>
                  </a:lnTo>
                  <a:lnTo>
                    <a:pt x="96879" y="768560"/>
                  </a:lnTo>
                  <a:lnTo>
                    <a:pt x="63617" y="808928"/>
                  </a:lnTo>
                  <a:lnTo>
                    <a:pt x="31318" y="850108"/>
                  </a:lnTo>
                  <a:lnTo>
                    <a:pt x="0" y="892086"/>
                  </a:lnTo>
                  <a:lnTo>
                    <a:pt x="875525" y="1528203"/>
                  </a:lnTo>
                  <a:lnTo>
                    <a:pt x="904938" y="1489534"/>
                  </a:lnTo>
                  <a:lnTo>
                    <a:pt x="936052" y="1452249"/>
                  </a:lnTo>
                  <a:lnTo>
                    <a:pt x="968804" y="1416412"/>
                  </a:lnTo>
                  <a:lnTo>
                    <a:pt x="1003129" y="1382087"/>
                  </a:lnTo>
                  <a:lnTo>
                    <a:pt x="1038966" y="1349336"/>
                  </a:lnTo>
                  <a:lnTo>
                    <a:pt x="1076250" y="1318222"/>
                  </a:lnTo>
                  <a:lnTo>
                    <a:pt x="1114920" y="1288808"/>
                  </a:lnTo>
                  <a:lnTo>
                    <a:pt x="1154871" y="1261039"/>
                  </a:lnTo>
                  <a:lnTo>
                    <a:pt x="1195987" y="1235154"/>
                  </a:lnTo>
                  <a:lnTo>
                    <a:pt x="1238198" y="1211184"/>
                  </a:lnTo>
                  <a:lnTo>
                    <a:pt x="1281434" y="1189161"/>
                  </a:lnTo>
                  <a:lnTo>
                    <a:pt x="1325627" y="1169116"/>
                  </a:lnTo>
                  <a:lnTo>
                    <a:pt x="1370709" y="1151081"/>
                  </a:lnTo>
                  <a:lnTo>
                    <a:pt x="1416608" y="1135087"/>
                  </a:lnTo>
                  <a:lnTo>
                    <a:pt x="1463189" y="1121047"/>
                  </a:lnTo>
                  <a:lnTo>
                    <a:pt x="1510306" y="1109167"/>
                  </a:lnTo>
                  <a:lnTo>
                    <a:pt x="1557876" y="1099447"/>
                  </a:lnTo>
                  <a:lnTo>
                    <a:pt x="1605817" y="1091887"/>
                  </a:lnTo>
                  <a:lnTo>
                    <a:pt x="1654048" y="1086487"/>
                  </a:lnTo>
                  <a:lnTo>
                    <a:pt x="1702486" y="1083247"/>
                  </a:lnTo>
                  <a:lnTo>
                    <a:pt x="1751050" y="1082166"/>
                  </a:lnTo>
                  <a:lnTo>
                    <a:pt x="1751050" y="0"/>
                  </a:lnTo>
                  <a:close/>
                </a:path>
              </a:pathLst>
            </a:custGeom>
            <a:solidFill>
              <a:srgbClr val="E2D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614798" y="3080550"/>
            <a:ext cx="3441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5" dirty="0">
                <a:solidFill>
                  <a:srgbClr val="FFFFFF"/>
                </a:solidFill>
                <a:latin typeface="Arial MT"/>
                <a:cs typeface="Arial MT"/>
              </a:rPr>
              <a:t>40%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17075" y="5185321"/>
            <a:ext cx="3441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5" dirty="0">
                <a:solidFill>
                  <a:srgbClr val="FFFFFF"/>
                </a:solidFill>
                <a:latin typeface="Arial MT"/>
                <a:cs typeface="Arial MT"/>
              </a:rPr>
              <a:t>25%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47723" y="3581996"/>
            <a:ext cx="3441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5" dirty="0">
                <a:solidFill>
                  <a:srgbClr val="FFFFFF"/>
                </a:solidFill>
                <a:latin typeface="Arial MT"/>
                <a:cs typeface="Arial MT"/>
              </a:rPr>
              <a:t>20%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33993" y="2135619"/>
            <a:ext cx="3441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5" dirty="0">
                <a:solidFill>
                  <a:srgbClr val="FFFFFF"/>
                </a:solidFill>
                <a:latin typeface="Arial MT"/>
                <a:cs typeface="Arial MT"/>
              </a:rPr>
              <a:t>15%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58125" y="6143040"/>
            <a:ext cx="87630" cy="87630"/>
          </a:xfrm>
          <a:custGeom>
            <a:avLst/>
            <a:gdLst/>
            <a:ahLst/>
            <a:cxnLst/>
            <a:rect l="l" t="t" r="r" b="b"/>
            <a:pathLst>
              <a:path w="87630" h="87629">
                <a:moveTo>
                  <a:pt x="87477" y="0"/>
                </a:moveTo>
                <a:lnTo>
                  <a:pt x="0" y="0"/>
                </a:lnTo>
                <a:lnTo>
                  <a:pt x="0" y="87477"/>
                </a:lnTo>
                <a:lnTo>
                  <a:pt x="43548" y="87477"/>
                </a:lnTo>
                <a:lnTo>
                  <a:pt x="87477" y="87477"/>
                </a:lnTo>
                <a:lnTo>
                  <a:pt x="87477" y="0"/>
                </a:lnTo>
                <a:close/>
              </a:path>
            </a:pathLst>
          </a:custGeom>
          <a:solidFill>
            <a:srgbClr val="C70F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78519" y="6143040"/>
            <a:ext cx="87630" cy="87630"/>
          </a:xfrm>
          <a:custGeom>
            <a:avLst/>
            <a:gdLst/>
            <a:ahLst/>
            <a:cxnLst/>
            <a:rect l="l" t="t" r="r" b="b"/>
            <a:pathLst>
              <a:path w="87630" h="87629">
                <a:moveTo>
                  <a:pt x="87477" y="0"/>
                </a:moveTo>
                <a:lnTo>
                  <a:pt x="0" y="0"/>
                </a:lnTo>
                <a:lnTo>
                  <a:pt x="0" y="87477"/>
                </a:lnTo>
                <a:lnTo>
                  <a:pt x="43561" y="87477"/>
                </a:lnTo>
                <a:lnTo>
                  <a:pt x="87477" y="87477"/>
                </a:lnTo>
                <a:lnTo>
                  <a:pt x="87477" y="0"/>
                </a:lnTo>
                <a:close/>
              </a:path>
            </a:pathLst>
          </a:custGeom>
          <a:solidFill>
            <a:srgbClr val="D3AE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341522" y="6143040"/>
            <a:ext cx="87630" cy="87630"/>
          </a:xfrm>
          <a:custGeom>
            <a:avLst/>
            <a:gdLst/>
            <a:ahLst/>
            <a:cxnLst/>
            <a:rect l="l" t="t" r="r" b="b"/>
            <a:pathLst>
              <a:path w="87629" h="87629">
                <a:moveTo>
                  <a:pt x="87477" y="0"/>
                </a:moveTo>
                <a:lnTo>
                  <a:pt x="0" y="0"/>
                </a:lnTo>
                <a:lnTo>
                  <a:pt x="0" y="87477"/>
                </a:lnTo>
                <a:lnTo>
                  <a:pt x="43916" y="87477"/>
                </a:lnTo>
                <a:lnTo>
                  <a:pt x="87477" y="87477"/>
                </a:lnTo>
                <a:lnTo>
                  <a:pt x="87477" y="0"/>
                </a:lnTo>
                <a:close/>
              </a:path>
            </a:pathLst>
          </a:custGeom>
          <a:solidFill>
            <a:srgbClr val="2323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90555" y="6143040"/>
            <a:ext cx="87630" cy="87630"/>
          </a:xfrm>
          <a:custGeom>
            <a:avLst/>
            <a:gdLst/>
            <a:ahLst/>
            <a:cxnLst/>
            <a:rect l="l" t="t" r="r" b="b"/>
            <a:pathLst>
              <a:path w="87629" h="87629">
                <a:moveTo>
                  <a:pt x="87490" y="0"/>
                </a:moveTo>
                <a:lnTo>
                  <a:pt x="0" y="0"/>
                </a:lnTo>
                <a:lnTo>
                  <a:pt x="0" y="87477"/>
                </a:lnTo>
                <a:lnTo>
                  <a:pt x="43929" y="87477"/>
                </a:lnTo>
                <a:lnTo>
                  <a:pt x="87490" y="87477"/>
                </a:lnTo>
                <a:lnTo>
                  <a:pt x="87490" y="0"/>
                </a:lnTo>
                <a:close/>
              </a:path>
            </a:pathLst>
          </a:custGeom>
          <a:solidFill>
            <a:srgbClr val="E2DF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68818" y="6075171"/>
            <a:ext cx="103187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65" dirty="0">
                <a:solidFill>
                  <a:srgbClr val="131313"/>
                </a:solidFill>
                <a:latin typeface="Tahoma"/>
                <a:cs typeface="Tahoma"/>
              </a:rPr>
              <a:t>Quick-</a:t>
            </a:r>
            <a:r>
              <a:rPr sz="1150" spc="-45" dirty="0">
                <a:solidFill>
                  <a:srgbClr val="131313"/>
                </a:solidFill>
                <a:latin typeface="Tahoma"/>
                <a:cs typeface="Tahoma"/>
              </a:rPr>
              <a:t>Commerce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89136" y="6075171"/>
            <a:ext cx="76517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130" dirty="0">
                <a:solidFill>
                  <a:srgbClr val="131313"/>
                </a:solidFill>
                <a:latin typeface="Tahoma"/>
                <a:cs typeface="Tahoma"/>
              </a:rPr>
              <a:t>E-</a:t>
            </a:r>
            <a:r>
              <a:rPr sz="1150" spc="-45" dirty="0">
                <a:solidFill>
                  <a:srgbClr val="131313"/>
                </a:solidFill>
                <a:latin typeface="Tahoma"/>
                <a:cs typeface="Tahoma"/>
              </a:rPr>
              <a:t>Commerce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52431" y="6075171"/>
            <a:ext cx="86106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35" dirty="0">
                <a:solidFill>
                  <a:srgbClr val="131313"/>
                </a:solidFill>
                <a:latin typeface="Tahoma"/>
                <a:cs typeface="Tahoma"/>
              </a:rPr>
              <a:t>Modern</a:t>
            </a:r>
            <a:r>
              <a:rPr sz="1150" spc="-8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150" spc="-40" dirty="0">
                <a:solidFill>
                  <a:srgbClr val="131313"/>
                </a:solidFill>
                <a:latin typeface="Tahoma"/>
                <a:cs typeface="Tahoma"/>
              </a:rPr>
              <a:t>Trade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01413" y="6075171"/>
            <a:ext cx="85090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55" dirty="0">
                <a:solidFill>
                  <a:srgbClr val="131313"/>
                </a:solidFill>
                <a:latin typeface="Tahoma"/>
                <a:cs typeface="Tahoma"/>
              </a:rPr>
              <a:t>General</a:t>
            </a:r>
            <a:r>
              <a:rPr sz="1150" spc="-6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150" spc="-40" dirty="0">
                <a:solidFill>
                  <a:srgbClr val="131313"/>
                </a:solidFill>
                <a:latin typeface="Tahoma"/>
                <a:cs typeface="Tahoma"/>
              </a:rPr>
              <a:t>Trade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355079" y="1508760"/>
            <a:ext cx="73025" cy="960119"/>
          </a:xfrm>
          <a:custGeom>
            <a:avLst/>
            <a:gdLst/>
            <a:ahLst/>
            <a:cxnLst/>
            <a:rect l="l" t="t" r="r" b="b"/>
            <a:pathLst>
              <a:path w="73025" h="960119">
                <a:moveTo>
                  <a:pt x="72720" y="0"/>
                </a:moveTo>
                <a:lnTo>
                  <a:pt x="0" y="0"/>
                </a:lnTo>
                <a:lnTo>
                  <a:pt x="0" y="959764"/>
                </a:lnTo>
                <a:lnTo>
                  <a:pt x="36360" y="959764"/>
                </a:lnTo>
                <a:lnTo>
                  <a:pt x="72720" y="959764"/>
                </a:lnTo>
                <a:lnTo>
                  <a:pt x="72720" y="0"/>
                </a:lnTo>
                <a:close/>
              </a:path>
            </a:pathLst>
          </a:custGeom>
          <a:solidFill>
            <a:srgbClr val="C70F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524904" y="1511542"/>
            <a:ext cx="277149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131313"/>
                </a:solidFill>
                <a:latin typeface="Times New Roman"/>
                <a:cs typeface="Times New Roman"/>
              </a:rPr>
              <a:t>Quick-</a:t>
            </a:r>
            <a:r>
              <a:rPr sz="1400" b="1" dirty="0">
                <a:solidFill>
                  <a:srgbClr val="131313"/>
                </a:solidFill>
                <a:latin typeface="Times New Roman"/>
                <a:cs typeface="Times New Roman"/>
              </a:rPr>
              <a:t>Commerce</a:t>
            </a:r>
            <a:r>
              <a:rPr sz="1400" b="1" spc="-1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31313"/>
                </a:solidFill>
                <a:latin typeface="Times New Roman"/>
                <a:cs typeface="Times New Roman"/>
              </a:rPr>
              <a:t>—</a:t>
            </a:r>
            <a:r>
              <a:rPr sz="1400" b="1" spc="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131313"/>
                </a:solidFill>
                <a:latin typeface="Times New Roman"/>
                <a:cs typeface="Times New Roman"/>
              </a:rPr>
              <a:t>40%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24904" y="1933658"/>
            <a:ext cx="4711065" cy="4257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900"/>
              </a:lnSpc>
              <a:spcBef>
                <a:spcPts val="100"/>
              </a:spcBef>
            </a:pPr>
            <a:r>
              <a:rPr sz="1200" spc="-35" dirty="0">
                <a:solidFill>
                  <a:srgbClr val="6D6A67"/>
                </a:solidFill>
                <a:latin typeface="Tahoma"/>
                <a:cs typeface="Tahoma"/>
              </a:rPr>
              <a:t>Matches</a:t>
            </a:r>
            <a:r>
              <a:rPr sz="120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6D6A67"/>
                </a:solidFill>
                <a:latin typeface="Tahoma"/>
                <a:cs typeface="Tahoma"/>
              </a:rPr>
              <a:t>the</a:t>
            </a:r>
            <a:r>
              <a:rPr sz="1200" spc="-6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6D6A67"/>
                </a:solidFill>
                <a:latin typeface="Tahoma"/>
                <a:cs typeface="Tahoma"/>
              </a:rPr>
              <a:t>"need</a:t>
            </a:r>
            <a:r>
              <a:rPr sz="1200" spc="-7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6D6A67"/>
                </a:solidFill>
                <a:latin typeface="Tahoma"/>
                <a:cs typeface="Tahoma"/>
              </a:rPr>
              <a:t>energy</a:t>
            </a:r>
            <a:r>
              <a:rPr sz="1200" spc="-6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6D6A67"/>
                </a:solidFill>
                <a:latin typeface="Tahoma"/>
                <a:cs typeface="Tahoma"/>
              </a:rPr>
              <a:t>now"</a:t>
            </a:r>
            <a:r>
              <a:rPr sz="1200" spc="-6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6D6A67"/>
                </a:solidFill>
                <a:latin typeface="Tahoma"/>
                <a:cs typeface="Tahoma"/>
              </a:rPr>
              <a:t>occasion</a:t>
            </a:r>
            <a:r>
              <a:rPr sz="1200" spc="-7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6D6A67"/>
                </a:solidFill>
                <a:latin typeface="Tahoma"/>
                <a:cs typeface="Tahoma"/>
              </a:rPr>
              <a:t>and</a:t>
            </a:r>
            <a:r>
              <a:rPr sz="1200" spc="-7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6D6A67"/>
                </a:solidFill>
                <a:latin typeface="Tahoma"/>
                <a:cs typeface="Tahoma"/>
              </a:rPr>
              <a:t>Beats’</a:t>
            </a:r>
            <a:r>
              <a:rPr sz="1200" spc="-8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6D6A67"/>
                </a:solidFill>
                <a:latin typeface="Tahoma"/>
                <a:cs typeface="Tahoma"/>
              </a:rPr>
              <a:t>core</a:t>
            </a:r>
            <a:r>
              <a:rPr sz="1200" spc="-7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6D6A67"/>
                </a:solidFill>
                <a:latin typeface="Tahoma"/>
                <a:cs typeface="Tahoma"/>
              </a:rPr>
              <a:t>18–</a:t>
            </a:r>
            <a:r>
              <a:rPr sz="1200" spc="-60" dirty="0">
                <a:solidFill>
                  <a:srgbClr val="6D6A67"/>
                </a:solidFill>
                <a:latin typeface="Tahoma"/>
                <a:cs typeface="Tahoma"/>
              </a:rPr>
              <a:t>24 </a:t>
            </a:r>
            <a:r>
              <a:rPr sz="1200" spc="-50" dirty="0">
                <a:solidFill>
                  <a:srgbClr val="6D6A67"/>
                </a:solidFill>
                <a:latin typeface="Tahoma"/>
                <a:cs typeface="Tahoma"/>
              </a:rPr>
              <a:t>audience;</a:t>
            </a:r>
            <a:r>
              <a:rPr sz="1200" spc="-6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6D6A67"/>
                </a:solidFill>
                <a:latin typeface="Tahoma"/>
                <a:cs typeface="Tahoma"/>
              </a:rPr>
              <a:t>fastest-</a:t>
            </a:r>
            <a:r>
              <a:rPr sz="1200" spc="-55" dirty="0">
                <a:solidFill>
                  <a:srgbClr val="6D6A67"/>
                </a:solidFill>
                <a:latin typeface="Tahoma"/>
                <a:cs typeface="Tahoma"/>
              </a:rPr>
              <a:t>growing</a:t>
            </a:r>
            <a:r>
              <a:rPr sz="120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6D6A67"/>
                </a:solidFill>
                <a:latin typeface="Tahoma"/>
                <a:cs typeface="Tahoma"/>
              </a:rPr>
              <a:t>channel</a:t>
            </a:r>
            <a:r>
              <a:rPr sz="1200" spc="-6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6D6A67"/>
                </a:solidFill>
                <a:latin typeface="Tahoma"/>
                <a:cs typeface="Tahoma"/>
              </a:rPr>
              <a:t>in</a:t>
            </a:r>
            <a:r>
              <a:rPr sz="120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6D6A67"/>
                </a:solidFill>
                <a:latin typeface="Tahoma"/>
                <a:cs typeface="Tahoma"/>
              </a:rPr>
              <a:t>India </a:t>
            </a:r>
            <a:r>
              <a:rPr sz="1200" spc="-10" dirty="0">
                <a:solidFill>
                  <a:srgbClr val="6D6A67"/>
                </a:solidFill>
                <a:latin typeface="Tahoma"/>
                <a:cs typeface="Tahoma"/>
              </a:rPr>
              <a:t>retail.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355079" y="2697479"/>
            <a:ext cx="73025" cy="960119"/>
          </a:xfrm>
          <a:custGeom>
            <a:avLst/>
            <a:gdLst/>
            <a:ahLst/>
            <a:cxnLst/>
            <a:rect l="l" t="t" r="r" b="b"/>
            <a:pathLst>
              <a:path w="73025" h="960120">
                <a:moveTo>
                  <a:pt x="72720" y="0"/>
                </a:moveTo>
                <a:lnTo>
                  <a:pt x="0" y="0"/>
                </a:lnTo>
                <a:lnTo>
                  <a:pt x="0" y="959764"/>
                </a:lnTo>
                <a:lnTo>
                  <a:pt x="36360" y="959764"/>
                </a:lnTo>
                <a:lnTo>
                  <a:pt x="72720" y="959764"/>
                </a:lnTo>
                <a:lnTo>
                  <a:pt x="72720" y="0"/>
                </a:lnTo>
                <a:close/>
              </a:path>
            </a:pathLst>
          </a:custGeom>
          <a:solidFill>
            <a:srgbClr val="D3AE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524904" y="2700262"/>
            <a:ext cx="2261533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5" dirty="0">
                <a:solidFill>
                  <a:srgbClr val="131313"/>
                </a:solidFill>
                <a:latin typeface="Times New Roman"/>
                <a:cs typeface="Times New Roman"/>
              </a:rPr>
              <a:t>E-</a:t>
            </a:r>
            <a:r>
              <a:rPr sz="1400" b="1" dirty="0">
                <a:solidFill>
                  <a:srgbClr val="131313"/>
                </a:solidFill>
                <a:latin typeface="Times New Roman"/>
                <a:cs typeface="Times New Roman"/>
              </a:rPr>
              <a:t>Commerce</a:t>
            </a:r>
            <a:r>
              <a:rPr sz="1400" b="1" spc="-2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31313"/>
                </a:solidFill>
                <a:latin typeface="Times New Roman"/>
                <a:cs typeface="Times New Roman"/>
              </a:rPr>
              <a:t>—</a:t>
            </a:r>
            <a:r>
              <a:rPr sz="1400" b="1" spc="-1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131313"/>
                </a:solidFill>
                <a:latin typeface="Times New Roman"/>
                <a:cs typeface="Times New Roman"/>
              </a:rPr>
              <a:t>25%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24904" y="3122378"/>
            <a:ext cx="4984750" cy="4257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900"/>
              </a:lnSpc>
              <a:spcBef>
                <a:spcPts val="100"/>
              </a:spcBef>
            </a:pPr>
            <a:r>
              <a:rPr sz="1200" spc="-45" dirty="0">
                <a:solidFill>
                  <a:srgbClr val="6D6A67"/>
                </a:solidFill>
                <a:latin typeface="Tahoma"/>
                <a:cs typeface="Tahoma"/>
              </a:rPr>
              <a:t>Carries</a:t>
            </a:r>
            <a:r>
              <a:rPr sz="1200" spc="-7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6D6A67"/>
                </a:solidFill>
                <a:latin typeface="Tahoma"/>
                <a:cs typeface="Tahoma"/>
              </a:rPr>
              <a:t>subscriptions</a:t>
            </a:r>
            <a:r>
              <a:rPr sz="1200" spc="-5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6D6A67"/>
                </a:solidFill>
                <a:latin typeface="Tahoma"/>
                <a:cs typeface="Tahoma"/>
              </a:rPr>
              <a:t>and</a:t>
            </a:r>
            <a:r>
              <a:rPr sz="120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6D6A67"/>
                </a:solidFill>
                <a:latin typeface="Tahoma"/>
                <a:cs typeface="Tahoma"/>
              </a:rPr>
              <a:t>multi-</a:t>
            </a:r>
            <a:r>
              <a:rPr sz="1200" spc="-50" dirty="0">
                <a:solidFill>
                  <a:srgbClr val="6D6A67"/>
                </a:solidFill>
                <a:latin typeface="Tahoma"/>
                <a:cs typeface="Tahoma"/>
              </a:rPr>
              <a:t>can</a:t>
            </a:r>
            <a:r>
              <a:rPr sz="1200" spc="-60" dirty="0">
                <a:solidFill>
                  <a:srgbClr val="6D6A67"/>
                </a:solidFill>
                <a:latin typeface="Tahoma"/>
                <a:cs typeface="Tahoma"/>
              </a:rPr>
              <a:t> packs</a:t>
            </a:r>
            <a:r>
              <a:rPr sz="1200" spc="-5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6D6A67"/>
                </a:solidFill>
                <a:latin typeface="Tahoma"/>
                <a:cs typeface="Tahoma"/>
              </a:rPr>
              <a:t>for</a:t>
            </a:r>
            <a:r>
              <a:rPr sz="1200" spc="-7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6D6A67"/>
                </a:solidFill>
                <a:latin typeface="Tahoma"/>
                <a:cs typeface="Tahoma"/>
              </a:rPr>
              <a:t>Metro</a:t>
            </a:r>
            <a:r>
              <a:rPr sz="1200" spc="-6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6D6A67"/>
                </a:solidFill>
                <a:latin typeface="Tahoma"/>
                <a:cs typeface="Tahoma"/>
              </a:rPr>
              <a:t>Grinders</a:t>
            </a:r>
            <a:r>
              <a:rPr sz="1200" spc="-5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6D6A67"/>
                </a:solidFill>
                <a:latin typeface="Tahoma"/>
                <a:cs typeface="Tahoma"/>
              </a:rPr>
              <a:t>who</a:t>
            </a:r>
            <a:r>
              <a:rPr sz="120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6D6A67"/>
                </a:solidFill>
                <a:latin typeface="Tahoma"/>
                <a:cs typeface="Tahoma"/>
              </a:rPr>
              <a:t>plan</a:t>
            </a:r>
            <a:r>
              <a:rPr sz="1200" spc="-6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6D6A67"/>
                </a:solidFill>
                <a:latin typeface="Tahoma"/>
                <a:cs typeface="Tahoma"/>
              </a:rPr>
              <a:t>ahead</a:t>
            </a:r>
            <a:r>
              <a:rPr sz="1200" spc="-6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6D6A67"/>
                </a:solidFill>
                <a:latin typeface="Tahoma"/>
                <a:cs typeface="Tahoma"/>
              </a:rPr>
              <a:t>and</a:t>
            </a:r>
            <a:r>
              <a:rPr sz="120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6D6A67"/>
                </a:solidFill>
                <a:latin typeface="Tahoma"/>
                <a:cs typeface="Tahoma"/>
              </a:rPr>
              <a:t>value </a:t>
            </a:r>
            <a:r>
              <a:rPr sz="1200" spc="-45" dirty="0">
                <a:solidFill>
                  <a:srgbClr val="6D6A67"/>
                </a:solidFill>
                <a:latin typeface="Tahoma"/>
                <a:cs typeface="Tahoma"/>
              </a:rPr>
              <a:t>convenience</a:t>
            </a:r>
            <a:r>
              <a:rPr sz="1200" spc="-5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6D6A67"/>
                </a:solidFill>
                <a:latin typeface="Tahoma"/>
                <a:cs typeface="Tahoma"/>
              </a:rPr>
              <a:t>over</a:t>
            </a:r>
            <a:r>
              <a:rPr sz="1200" spc="-5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6D6A67"/>
                </a:solidFill>
                <a:latin typeface="Tahoma"/>
                <a:cs typeface="Tahoma"/>
              </a:rPr>
              <a:t>speed.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355079" y="3886200"/>
            <a:ext cx="73025" cy="960119"/>
          </a:xfrm>
          <a:custGeom>
            <a:avLst/>
            <a:gdLst/>
            <a:ahLst/>
            <a:cxnLst/>
            <a:rect l="l" t="t" r="r" b="b"/>
            <a:pathLst>
              <a:path w="73025" h="960120">
                <a:moveTo>
                  <a:pt x="72720" y="0"/>
                </a:moveTo>
                <a:lnTo>
                  <a:pt x="0" y="0"/>
                </a:lnTo>
                <a:lnTo>
                  <a:pt x="0" y="959764"/>
                </a:lnTo>
                <a:lnTo>
                  <a:pt x="36360" y="959764"/>
                </a:lnTo>
                <a:lnTo>
                  <a:pt x="72720" y="959764"/>
                </a:lnTo>
                <a:lnTo>
                  <a:pt x="72720" y="0"/>
                </a:lnTo>
                <a:close/>
              </a:path>
            </a:pathLst>
          </a:custGeom>
          <a:solidFill>
            <a:srgbClr val="2323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524904" y="3888981"/>
            <a:ext cx="4688205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31313"/>
                </a:solidFill>
                <a:latin typeface="Times New Roman"/>
                <a:cs typeface="Times New Roman"/>
              </a:rPr>
              <a:t>Modern</a:t>
            </a:r>
            <a:r>
              <a:rPr sz="1400" b="1" spc="-4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131313"/>
                </a:solidFill>
                <a:latin typeface="Times New Roman"/>
                <a:cs typeface="Times New Roman"/>
              </a:rPr>
              <a:t>Trade</a:t>
            </a:r>
            <a:r>
              <a:rPr sz="1400" b="1" spc="-3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31313"/>
                </a:solidFill>
                <a:latin typeface="Times New Roman"/>
                <a:cs typeface="Times New Roman"/>
              </a:rPr>
              <a:t>—</a:t>
            </a:r>
            <a:r>
              <a:rPr sz="1400" b="1" spc="-5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131313"/>
                </a:solidFill>
                <a:latin typeface="Times New Roman"/>
                <a:cs typeface="Times New Roman"/>
              </a:rPr>
              <a:t>20%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 dirty="0">
              <a:latin typeface="Times New Roman"/>
              <a:cs typeface="Times New Roman"/>
            </a:endParaRPr>
          </a:p>
          <a:p>
            <a:pPr marL="12700" marR="5080">
              <a:lnSpc>
                <a:spcPct val="117900"/>
              </a:lnSpc>
            </a:pPr>
            <a:r>
              <a:rPr sz="1200" spc="-50" dirty="0">
                <a:solidFill>
                  <a:srgbClr val="6D6A67"/>
                </a:solidFill>
                <a:latin typeface="Tahoma"/>
                <a:cs typeface="Tahoma"/>
              </a:rPr>
              <a:t>Drives physical</a:t>
            </a:r>
            <a:r>
              <a:rPr sz="120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6D6A67"/>
                </a:solidFill>
                <a:latin typeface="Tahoma"/>
                <a:cs typeface="Tahoma"/>
              </a:rPr>
              <a:t>discovery,</a:t>
            </a:r>
            <a:r>
              <a:rPr sz="1200" spc="-4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6D6A67"/>
                </a:solidFill>
                <a:latin typeface="Tahoma"/>
                <a:cs typeface="Tahoma"/>
              </a:rPr>
              <a:t>in-store</a:t>
            </a:r>
            <a:r>
              <a:rPr sz="1200" spc="-6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6D6A67"/>
                </a:solidFill>
                <a:latin typeface="Tahoma"/>
                <a:cs typeface="Tahoma"/>
              </a:rPr>
              <a:t>sampling</a:t>
            </a:r>
            <a:r>
              <a:rPr sz="1200" spc="-4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6D6A67"/>
                </a:solidFill>
                <a:latin typeface="Tahoma"/>
                <a:cs typeface="Tahoma"/>
              </a:rPr>
              <a:t>and </a:t>
            </a:r>
            <a:r>
              <a:rPr sz="1200" spc="-35" dirty="0">
                <a:solidFill>
                  <a:srgbClr val="6D6A67"/>
                </a:solidFill>
                <a:latin typeface="Tahoma"/>
                <a:cs typeface="Tahoma"/>
              </a:rPr>
              <a:t>shelf</a:t>
            </a:r>
            <a:r>
              <a:rPr sz="1200" spc="-5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6D6A67"/>
                </a:solidFill>
                <a:latin typeface="Tahoma"/>
                <a:cs typeface="Tahoma"/>
              </a:rPr>
              <a:t>visibility</a:t>
            </a:r>
            <a:r>
              <a:rPr sz="1200" spc="-6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6D6A67"/>
                </a:solidFill>
                <a:latin typeface="Tahoma"/>
                <a:cs typeface="Tahoma"/>
              </a:rPr>
              <a:t>ahead</a:t>
            </a:r>
            <a:r>
              <a:rPr sz="1200" spc="-4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6D6A67"/>
                </a:solidFill>
                <a:latin typeface="Tahoma"/>
                <a:cs typeface="Tahoma"/>
              </a:rPr>
              <a:t>of</a:t>
            </a:r>
            <a:r>
              <a:rPr sz="1200" spc="-5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6D6A67"/>
                </a:solidFill>
                <a:latin typeface="Tahoma"/>
                <a:cs typeface="Tahoma"/>
              </a:rPr>
              <a:t>a</a:t>
            </a:r>
            <a:r>
              <a:rPr sz="1200" spc="-5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6D6A67"/>
                </a:solidFill>
                <a:latin typeface="Tahoma"/>
                <a:cs typeface="Tahoma"/>
              </a:rPr>
              <a:t>purchase </a:t>
            </a:r>
            <a:r>
              <a:rPr sz="1200" spc="-55" dirty="0">
                <a:solidFill>
                  <a:srgbClr val="6D6A67"/>
                </a:solidFill>
                <a:latin typeface="Tahoma"/>
                <a:cs typeface="Tahoma"/>
              </a:rPr>
              <a:t>moving</a:t>
            </a:r>
            <a:r>
              <a:rPr sz="1200" spc="-5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6D6A67"/>
                </a:solidFill>
                <a:latin typeface="Tahoma"/>
                <a:cs typeface="Tahoma"/>
              </a:rPr>
              <a:t>online.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355079" y="5074920"/>
            <a:ext cx="73025" cy="960119"/>
          </a:xfrm>
          <a:custGeom>
            <a:avLst/>
            <a:gdLst/>
            <a:ahLst/>
            <a:cxnLst/>
            <a:rect l="l" t="t" r="r" b="b"/>
            <a:pathLst>
              <a:path w="73025" h="960120">
                <a:moveTo>
                  <a:pt x="72720" y="0"/>
                </a:moveTo>
                <a:lnTo>
                  <a:pt x="0" y="0"/>
                </a:lnTo>
                <a:lnTo>
                  <a:pt x="0" y="959764"/>
                </a:lnTo>
                <a:lnTo>
                  <a:pt x="36360" y="959764"/>
                </a:lnTo>
                <a:lnTo>
                  <a:pt x="72720" y="959764"/>
                </a:lnTo>
                <a:lnTo>
                  <a:pt x="72720" y="0"/>
                </a:lnTo>
                <a:close/>
              </a:path>
            </a:pathLst>
          </a:custGeom>
          <a:solidFill>
            <a:srgbClr val="E2DF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524904" y="5077701"/>
            <a:ext cx="195516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31313"/>
                </a:solidFill>
                <a:latin typeface="Times New Roman"/>
                <a:cs typeface="Times New Roman"/>
              </a:rPr>
              <a:t>General</a:t>
            </a:r>
            <a:r>
              <a:rPr sz="1400" b="1" spc="-4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131313"/>
                </a:solidFill>
                <a:latin typeface="Times New Roman"/>
                <a:cs typeface="Times New Roman"/>
              </a:rPr>
              <a:t>Trade</a:t>
            </a:r>
            <a:r>
              <a:rPr sz="1400" b="1" spc="-4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31313"/>
                </a:solidFill>
                <a:latin typeface="Times New Roman"/>
                <a:cs typeface="Times New Roman"/>
              </a:rPr>
              <a:t>—</a:t>
            </a:r>
            <a:r>
              <a:rPr sz="1400" b="1" spc="-6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131313"/>
                </a:solidFill>
                <a:latin typeface="Times New Roman"/>
                <a:cs typeface="Times New Roman"/>
              </a:rPr>
              <a:t>15%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524904" y="5499818"/>
            <a:ext cx="5123180" cy="4257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900"/>
              </a:lnSpc>
              <a:spcBef>
                <a:spcPts val="100"/>
              </a:spcBef>
            </a:pPr>
            <a:r>
              <a:rPr sz="1200" spc="-55" dirty="0">
                <a:solidFill>
                  <a:srgbClr val="6D6A67"/>
                </a:solidFill>
                <a:latin typeface="Tahoma"/>
                <a:cs typeface="Tahoma"/>
              </a:rPr>
              <a:t>Kept</a:t>
            </a:r>
            <a:r>
              <a:rPr sz="1200" spc="-6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6D6A67"/>
                </a:solidFill>
                <a:latin typeface="Tahoma"/>
                <a:cs typeface="Tahoma"/>
              </a:rPr>
              <a:t>lean</a:t>
            </a:r>
            <a:r>
              <a:rPr sz="120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6D6A67"/>
                </a:solidFill>
                <a:latin typeface="Tahoma"/>
                <a:cs typeface="Tahoma"/>
              </a:rPr>
              <a:t>in</a:t>
            </a:r>
            <a:r>
              <a:rPr sz="1200" spc="-6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80" dirty="0">
                <a:solidFill>
                  <a:srgbClr val="6D6A67"/>
                </a:solidFill>
                <a:latin typeface="Tahoma"/>
                <a:cs typeface="Tahoma"/>
              </a:rPr>
              <a:t>Year</a:t>
            </a:r>
            <a:r>
              <a:rPr sz="120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75" dirty="0">
                <a:solidFill>
                  <a:srgbClr val="6D6A67"/>
                </a:solidFill>
                <a:latin typeface="Tahoma"/>
                <a:cs typeface="Tahoma"/>
              </a:rPr>
              <a:t>1; </a:t>
            </a:r>
            <a:r>
              <a:rPr sz="1200" spc="-45" dirty="0">
                <a:solidFill>
                  <a:srgbClr val="6D6A67"/>
                </a:solidFill>
                <a:latin typeface="Tahoma"/>
                <a:cs typeface="Tahoma"/>
              </a:rPr>
              <a:t>scaled</a:t>
            </a:r>
            <a:r>
              <a:rPr sz="1200" spc="-5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6D6A67"/>
                </a:solidFill>
                <a:latin typeface="Tahoma"/>
                <a:cs typeface="Tahoma"/>
              </a:rPr>
              <a:t>once</a:t>
            </a:r>
            <a:r>
              <a:rPr sz="1200" spc="-6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6D6A67"/>
                </a:solidFill>
                <a:latin typeface="Tahoma"/>
                <a:cs typeface="Tahoma"/>
              </a:rPr>
              <a:t>digital</a:t>
            </a:r>
            <a:r>
              <a:rPr sz="120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6D6A67"/>
                </a:solidFill>
                <a:latin typeface="Tahoma"/>
                <a:cs typeface="Tahoma"/>
              </a:rPr>
              <a:t>demand</a:t>
            </a:r>
            <a:r>
              <a:rPr sz="1200" spc="-5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6D6A67"/>
                </a:solidFill>
                <a:latin typeface="Tahoma"/>
                <a:cs typeface="Tahoma"/>
              </a:rPr>
              <a:t>is</a:t>
            </a:r>
            <a:r>
              <a:rPr sz="1200" spc="-7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6D6A67"/>
                </a:solidFill>
                <a:latin typeface="Tahoma"/>
                <a:cs typeface="Tahoma"/>
              </a:rPr>
              <a:t>proven,</a:t>
            </a:r>
            <a:r>
              <a:rPr sz="120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6D6A67"/>
                </a:solidFill>
                <a:latin typeface="Tahoma"/>
                <a:cs typeface="Tahoma"/>
              </a:rPr>
              <a:t>to</a:t>
            </a:r>
            <a:r>
              <a:rPr sz="120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6D6A67"/>
                </a:solidFill>
                <a:latin typeface="Tahoma"/>
                <a:cs typeface="Tahoma"/>
              </a:rPr>
              <a:t>protect</a:t>
            </a:r>
            <a:r>
              <a:rPr sz="1200" spc="-6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6D6A67"/>
                </a:solidFill>
                <a:latin typeface="Tahoma"/>
                <a:cs typeface="Tahoma"/>
              </a:rPr>
              <a:t>margin</a:t>
            </a:r>
            <a:r>
              <a:rPr sz="1200" spc="-70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6D6A67"/>
                </a:solidFill>
                <a:latin typeface="Tahoma"/>
                <a:cs typeface="Tahoma"/>
              </a:rPr>
              <a:t>while</a:t>
            </a:r>
            <a:r>
              <a:rPr sz="1200" spc="-55" dirty="0">
                <a:solidFill>
                  <a:srgbClr val="6D6A67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6D6A67"/>
                </a:solidFill>
                <a:latin typeface="Tahoma"/>
                <a:cs typeface="Tahoma"/>
              </a:rPr>
              <a:t>building reach.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4143" y="6584301"/>
            <a:ext cx="193437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r>
              <a:rPr sz="900" spc="-4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sz="900" spc="-5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900" spc="-5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Channel </a:t>
            </a:r>
            <a:r>
              <a:rPr sz="900" spc="-2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831857" y="6584301"/>
            <a:ext cx="191643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Budweiser</a:t>
            </a:r>
            <a:r>
              <a:rPr sz="900" spc="-5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Beats</a:t>
            </a:r>
            <a:r>
              <a:rPr sz="900" spc="-5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900" spc="-5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5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India</a:t>
            </a:r>
            <a:r>
              <a:rPr sz="900" spc="-4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3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Growth</a:t>
            </a:r>
            <a:r>
              <a:rPr sz="900" spc="-5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3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Strategy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400" y="381000"/>
            <a:ext cx="3200400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CC0523"/>
                </a:solidFill>
                <a:latin typeface="Arial"/>
                <a:cs typeface="Arial"/>
              </a:rPr>
              <a:t>DEMAND</a:t>
            </a:r>
            <a:r>
              <a:rPr sz="1250" b="1" spc="-15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CC0523"/>
                </a:solidFill>
                <a:latin typeface="Arial"/>
                <a:cs typeface="Arial"/>
              </a:rPr>
              <a:t>&amp;</a:t>
            </a:r>
            <a:r>
              <a:rPr sz="1250" b="1" spc="-15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CC0523"/>
                </a:solidFill>
                <a:latin typeface="Arial"/>
                <a:cs typeface="Arial"/>
              </a:rPr>
              <a:t>SALES</a:t>
            </a:r>
            <a:r>
              <a:rPr sz="1250" b="1" spc="-10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CC0523"/>
                </a:solidFill>
                <a:latin typeface="Arial"/>
                <a:cs typeface="Arial"/>
              </a:rPr>
              <a:t>OPPORTUNITY</a:t>
            </a:r>
            <a:r>
              <a:rPr sz="1250" b="1" spc="-10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CC0523"/>
                </a:solidFill>
                <a:latin typeface="Arial"/>
                <a:cs typeface="Arial"/>
              </a:rPr>
              <a:t>·</a:t>
            </a:r>
            <a:r>
              <a:rPr sz="1250" b="1" spc="-5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250" b="1" spc="-50" dirty="0">
                <a:solidFill>
                  <a:srgbClr val="CC0523"/>
                </a:solidFill>
                <a:latin typeface="Arial"/>
                <a:cs typeface="Arial"/>
              </a:rPr>
              <a:t>1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41414"/>
                </a:solidFill>
              </a:rPr>
              <a:t>A Transparent Base-Case </a:t>
            </a:r>
            <a:r>
              <a:rPr spc="-10" dirty="0">
                <a:solidFill>
                  <a:srgbClr val="141414"/>
                </a:solidFill>
              </a:rPr>
              <a:t>Model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3400" y="1181100"/>
            <a:ext cx="53054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Every</a:t>
            </a:r>
            <a:r>
              <a:rPr sz="1100" i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commercial</a:t>
            </a:r>
            <a:r>
              <a:rPr sz="1100" i="1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output</a:t>
            </a:r>
            <a:r>
              <a:rPr sz="1100" i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is</a:t>
            </a:r>
            <a:r>
              <a:rPr sz="1100" i="1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an</a:t>
            </a:r>
            <a:r>
              <a:rPr sz="1100" i="1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assumption-driven</a:t>
            </a:r>
            <a:r>
              <a:rPr sz="1100" i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scenario,</a:t>
            </a:r>
            <a:r>
              <a:rPr sz="1100" i="1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not</a:t>
            </a:r>
            <a:r>
              <a:rPr sz="1100" i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an</a:t>
            </a:r>
            <a:r>
              <a:rPr sz="1100" i="1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AB</a:t>
            </a:r>
            <a:r>
              <a:rPr sz="1100" i="1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InBev</a:t>
            </a:r>
            <a:r>
              <a:rPr sz="1100" i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666666"/>
                </a:solidFill>
                <a:latin typeface="Arial"/>
                <a:cs typeface="Arial"/>
              </a:rPr>
              <a:t>forecast.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9750" y="1771650"/>
            <a:ext cx="5435600" cy="3352200"/>
          </a:xfrm>
          <a:prstGeom prst="rect">
            <a:avLst/>
          </a:prstGeom>
          <a:solidFill>
            <a:srgbClr val="F2EFED"/>
          </a:solidFill>
          <a:ln w="3175">
            <a:solidFill>
              <a:srgbClr val="F2EFED"/>
            </a:solidFill>
          </a:ln>
        </p:spPr>
        <p:txBody>
          <a:bodyPr vert="horz" wrap="square" lIns="0" tIns="889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0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247650">
              <a:lnSpc>
                <a:spcPct val="100000"/>
              </a:lnSpc>
            </a:pPr>
            <a:r>
              <a:rPr sz="1000" b="1" dirty="0">
                <a:solidFill>
                  <a:srgbClr val="CC0523"/>
                </a:solidFill>
                <a:latin typeface="Arial"/>
                <a:cs typeface="Arial"/>
              </a:rPr>
              <a:t>MODEL</a:t>
            </a:r>
            <a:r>
              <a:rPr sz="1000" b="1" spc="-40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CC0523"/>
                </a:solidFill>
                <a:latin typeface="Arial"/>
                <a:cs typeface="Arial"/>
              </a:rPr>
              <a:t>INPUTS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0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</a:pPr>
            <a:r>
              <a:rPr lang="en-IN" sz="1100" i="1" dirty="0">
                <a:solidFill>
                  <a:srgbClr val="141414"/>
                </a:solidFill>
                <a:latin typeface="Arial"/>
                <a:cs typeface="Arial"/>
              </a:rPr>
              <a:t>1.</a:t>
            </a:r>
            <a:r>
              <a:rPr sz="1100" i="1" dirty="0">
                <a:solidFill>
                  <a:srgbClr val="141414"/>
                </a:solidFill>
                <a:latin typeface="Arial"/>
                <a:cs typeface="Arial"/>
              </a:rPr>
              <a:t> Wave 1 launches in 5 metro </a:t>
            </a:r>
            <a:r>
              <a:rPr sz="1100" i="1" spc="-10" dirty="0">
                <a:solidFill>
                  <a:srgbClr val="141414"/>
                </a:solidFill>
                <a:latin typeface="Arial"/>
                <a:cs typeface="Arial"/>
              </a:rPr>
              <a:t>markets.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1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</a:pPr>
            <a:r>
              <a:rPr lang="en-IN" sz="1100" i="1" dirty="0">
                <a:solidFill>
                  <a:srgbClr val="141414"/>
                </a:solidFill>
                <a:latin typeface="Arial"/>
                <a:cs typeface="Arial"/>
              </a:rPr>
              <a:t>2.</a:t>
            </a:r>
            <a:r>
              <a:rPr sz="1100" i="1" dirty="0">
                <a:solidFill>
                  <a:srgbClr val="141414"/>
                </a:solidFill>
                <a:latin typeface="Arial"/>
                <a:cs typeface="Arial"/>
              </a:rPr>
              <a:t> Expansion to 8 cities in Year 2 and 10 in Year </a:t>
            </a:r>
            <a:r>
              <a:rPr sz="1100" i="1" spc="-25" dirty="0">
                <a:solidFill>
                  <a:srgbClr val="141414"/>
                </a:solidFill>
                <a:latin typeface="Arial"/>
                <a:cs typeface="Arial"/>
              </a:rPr>
              <a:t>3.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1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</a:pPr>
            <a:r>
              <a:rPr lang="en-IN" sz="1100" i="1" dirty="0">
                <a:solidFill>
                  <a:srgbClr val="141414"/>
                </a:solidFill>
                <a:latin typeface="Arial"/>
                <a:cs typeface="Arial"/>
              </a:rPr>
              <a:t>3.</a:t>
            </a:r>
            <a:r>
              <a:rPr sz="1100" i="1" dirty="0">
                <a:solidFill>
                  <a:srgbClr val="141414"/>
                </a:solidFill>
                <a:latin typeface="Arial"/>
                <a:cs typeface="Arial"/>
              </a:rPr>
              <a:t> Illustrative net revenue per can = </a:t>
            </a:r>
            <a:r>
              <a:rPr lang="en-IN" sz="1100" i="1" spc="-20" dirty="0">
                <a:solidFill>
                  <a:srgbClr val="141414"/>
                </a:solidFill>
                <a:latin typeface="Arial"/>
                <a:cs typeface="Arial"/>
              </a:rPr>
              <a:t>Rs. </a:t>
            </a:r>
            <a:r>
              <a:rPr sz="1100" i="1" spc="-20" dirty="0">
                <a:solidFill>
                  <a:srgbClr val="141414"/>
                </a:solidFill>
                <a:latin typeface="Arial"/>
                <a:cs typeface="Arial"/>
              </a:rPr>
              <a:t>90.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1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</a:pPr>
            <a:r>
              <a:rPr lang="en-IN" sz="1100" i="1" dirty="0">
                <a:solidFill>
                  <a:srgbClr val="141414"/>
                </a:solidFill>
                <a:latin typeface="Arial"/>
                <a:cs typeface="Arial"/>
              </a:rPr>
              <a:t>4.</a:t>
            </a:r>
            <a:r>
              <a:rPr sz="1100" i="1" dirty="0">
                <a:solidFill>
                  <a:srgbClr val="141414"/>
                </a:solidFill>
                <a:latin typeface="Arial"/>
                <a:cs typeface="Arial"/>
              </a:rPr>
              <a:t> Revenue is driven by city rollout + repeat purchase, not price </a:t>
            </a:r>
            <a:r>
              <a:rPr sz="1100" i="1" spc="-10" dirty="0">
                <a:solidFill>
                  <a:srgbClr val="141414"/>
                </a:solidFill>
                <a:latin typeface="Arial"/>
                <a:cs typeface="Arial"/>
              </a:rPr>
              <a:t>increases.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1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</a:pPr>
            <a:r>
              <a:rPr lang="en-IN" sz="1100" i="1" dirty="0">
                <a:solidFill>
                  <a:srgbClr val="141414"/>
                </a:solidFill>
                <a:latin typeface="Arial"/>
                <a:cs typeface="Arial"/>
              </a:rPr>
              <a:t>5.</a:t>
            </a:r>
            <a:r>
              <a:rPr sz="1100" i="1" dirty="0">
                <a:solidFill>
                  <a:srgbClr val="141414"/>
                </a:solidFill>
                <a:latin typeface="Arial"/>
                <a:cs typeface="Arial"/>
              </a:rPr>
              <a:t> No proprietary AB InBev demand data is </a:t>
            </a:r>
            <a:r>
              <a:rPr sz="1100" i="1" spc="-10" dirty="0">
                <a:solidFill>
                  <a:srgbClr val="141414"/>
                </a:solidFill>
                <a:latin typeface="Arial"/>
                <a:cs typeface="Arial"/>
              </a:rPr>
              <a:t>assumed.</a:t>
            </a:r>
            <a:endParaRPr lang="en-IN" sz="900" i="1" spc="-10" dirty="0">
              <a:solidFill>
                <a:srgbClr val="141414"/>
              </a:solidFill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</a:pPr>
            <a:endParaRPr sz="9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400800" y="1771650"/>
            <a:ext cx="5372100" cy="3314700"/>
            <a:chOff x="6280150" y="1771650"/>
            <a:chExt cx="5372100" cy="3314700"/>
          </a:xfrm>
        </p:grpSpPr>
        <p:sp>
          <p:nvSpPr>
            <p:cNvPr id="7" name="object 7"/>
            <p:cNvSpPr/>
            <p:nvPr/>
          </p:nvSpPr>
          <p:spPr>
            <a:xfrm>
              <a:off x="6286500" y="1778000"/>
              <a:ext cx="5359400" cy="3302000"/>
            </a:xfrm>
            <a:custGeom>
              <a:avLst/>
              <a:gdLst/>
              <a:ahLst/>
              <a:cxnLst/>
              <a:rect l="l" t="t" r="r" b="b"/>
              <a:pathLst>
                <a:path w="5359400" h="3302000">
                  <a:moveTo>
                    <a:pt x="5359400" y="0"/>
                  </a:moveTo>
                  <a:lnTo>
                    <a:pt x="0" y="0"/>
                  </a:lnTo>
                  <a:lnTo>
                    <a:pt x="0" y="3302000"/>
                  </a:lnTo>
                  <a:lnTo>
                    <a:pt x="5359400" y="3302000"/>
                  </a:lnTo>
                  <a:lnTo>
                    <a:pt x="5359400" y="0"/>
                  </a:lnTo>
                  <a:close/>
                </a:path>
              </a:pathLst>
            </a:custGeom>
            <a:solidFill>
              <a:srgbClr val="F2E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86500" y="1778000"/>
              <a:ext cx="5359400" cy="3302000"/>
            </a:xfrm>
            <a:custGeom>
              <a:avLst/>
              <a:gdLst/>
              <a:ahLst/>
              <a:cxnLst/>
              <a:rect l="l" t="t" r="r" b="b"/>
              <a:pathLst>
                <a:path w="5359400" h="3302000">
                  <a:moveTo>
                    <a:pt x="0" y="3302000"/>
                  </a:moveTo>
                  <a:lnTo>
                    <a:pt x="5359400" y="3302000"/>
                  </a:lnTo>
                  <a:lnTo>
                    <a:pt x="5359400" y="0"/>
                  </a:lnTo>
                  <a:lnTo>
                    <a:pt x="0" y="0"/>
                  </a:lnTo>
                  <a:lnTo>
                    <a:pt x="0" y="3302000"/>
                  </a:lnTo>
                  <a:close/>
                </a:path>
              </a:pathLst>
            </a:custGeom>
            <a:ln w="12700">
              <a:solidFill>
                <a:srgbClr val="F2EF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540500" y="1993900"/>
            <a:ext cx="11703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CC0523"/>
                </a:solidFill>
                <a:latin typeface="Arial"/>
                <a:cs typeface="Arial"/>
              </a:rPr>
              <a:t>BASE-CASE </a:t>
            </a:r>
            <a:r>
              <a:rPr sz="1000" b="1" spc="-20" dirty="0">
                <a:solidFill>
                  <a:srgbClr val="CC0523"/>
                </a:solidFill>
                <a:latin typeface="Arial"/>
                <a:cs typeface="Arial"/>
              </a:rPr>
              <a:t>RAMP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31000" y="2590800"/>
            <a:ext cx="1682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b="1" spc="-25" dirty="0">
                <a:solidFill>
                  <a:srgbClr val="141414"/>
                </a:solidFill>
                <a:latin typeface="Arial"/>
                <a:cs typeface="Arial"/>
              </a:rPr>
              <a:t>Y1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724650" y="2978150"/>
            <a:ext cx="4203700" cy="1536700"/>
            <a:chOff x="6724650" y="2978150"/>
            <a:chExt cx="4203700" cy="1536700"/>
          </a:xfrm>
        </p:grpSpPr>
        <p:sp>
          <p:nvSpPr>
            <p:cNvPr id="12" name="object 12"/>
            <p:cNvSpPr/>
            <p:nvPr/>
          </p:nvSpPr>
          <p:spPr>
            <a:xfrm>
              <a:off x="6731000" y="2984500"/>
              <a:ext cx="1016000" cy="381000"/>
            </a:xfrm>
            <a:custGeom>
              <a:avLst/>
              <a:gdLst/>
              <a:ahLst/>
              <a:cxnLst/>
              <a:rect l="l" t="t" r="r" b="b"/>
              <a:pathLst>
                <a:path w="1016000" h="381000">
                  <a:moveTo>
                    <a:pt x="10160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016000" y="381000"/>
                  </a:lnTo>
                  <a:lnTo>
                    <a:pt x="1016000" y="0"/>
                  </a:lnTo>
                  <a:close/>
                </a:path>
              </a:pathLst>
            </a:custGeom>
            <a:solidFill>
              <a:srgbClr val="CC05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31000" y="2984500"/>
              <a:ext cx="1016000" cy="381000"/>
            </a:xfrm>
            <a:custGeom>
              <a:avLst/>
              <a:gdLst/>
              <a:ahLst/>
              <a:cxnLst/>
              <a:rect l="l" t="t" r="r" b="b"/>
              <a:pathLst>
                <a:path w="1016000" h="381000">
                  <a:moveTo>
                    <a:pt x="0" y="381000"/>
                  </a:moveTo>
                  <a:lnTo>
                    <a:pt x="1016000" y="381000"/>
                  </a:lnTo>
                  <a:lnTo>
                    <a:pt x="10160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700">
              <a:solidFill>
                <a:srgbClr val="CC05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318500" y="2984500"/>
              <a:ext cx="1016000" cy="804545"/>
            </a:xfrm>
            <a:custGeom>
              <a:avLst/>
              <a:gdLst/>
              <a:ahLst/>
              <a:cxnLst/>
              <a:rect l="l" t="t" r="r" b="b"/>
              <a:pathLst>
                <a:path w="1016000" h="804545">
                  <a:moveTo>
                    <a:pt x="1016000" y="0"/>
                  </a:moveTo>
                  <a:lnTo>
                    <a:pt x="0" y="0"/>
                  </a:lnTo>
                  <a:lnTo>
                    <a:pt x="0" y="804333"/>
                  </a:lnTo>
                  <a:lnTo>
                    <a:pt x="1016000" y="804333"/>
                  </a:lnTo>
                  <a:lnTo>
                    <a:pt x="1016000" y="0"/>
                  </a:lnTo>
                  <a:close/>
                </a:path>
              </a:pathLst>
            </a:custGeom>
            <a:solidFill>
              <a:srgbClr val="CC05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318500" y="2984500"/>
              <a:ext cx="1016000" cy="804545"/>
            </a:xfrm>
            <a:custGeom>
              <a:avLst/>
              <a:gdLst/>
              <a:ahLst/>
              <a:cxnLst/>
              <a:rect l="l" t="t" r="r" b="b"/>
              <a:pathLst>
                <a:path w="1016000" h="804545">
                  <a:moveTo>
                    <a:pt x="0" y="804333"/>
                  </a:moveTo>
                  <a:lnTo>
                    <a:pt x="1016000" y="804333"/>
                  </a:lnTo>
                  <a:lnTo>
                    <a:pt x="1016000" y="0"/>
                  </a:lnTo>
                  <a:lnTo>
                    <a:pt x="0" y="0"/>
                  </a:lnTo>
                  <a:lnTo>
                    <a:pt x="0" y="804333"/>
                  </a:lnTo>
                  <a:close/>
                </a:path>
              </a:pathLst>
            </a:custGeom>
            <a:ln w="12700">
              <a:solidFill>
                <a:srgbClr val="CC05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906000" y="2984500"/>
              <a:ext cx="1016000" cy="1524000"/>
            </a:xfrm>
            <a:custGeom>
              <a:avLst/>
              <a:gdLst/>
              <a:ahLst/>
              <a:cxnLst/>
              <a:rect l="l" t="t" r="r" b="b"/>
              <a:pathLst>
                <a:path w="1016000" h="1524000">
                  <a:moveTo>
                    <a:pt x="1016000" y="0"/>
                  </a:moveTo>
                  <a:lnTo>
                    <a:pt x="0" y="0"/>
                  </a:lnTo>
                  <a:lnTo>
                    <a:pt x="0" y="1524000"/>
                  </a:lnTo>
                  <a:lnTo>
                    <a:pt x="1016000" y="1524000"/>
                  </a:lnTo>
                  <a:lnTo>
                    <a:pt x="1016000" y="0"/>
                  </a:lnTo>
                  <a:close/>
                </a:path>
              </a:pathLst>
            </a:custGeom>
            <a:solidFill>
              <a:srgbClr val="CC05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906000" y="2984500"/>
              <a:ext cx="1016000" cy="1524000"/>
            </a:xfrm>
            <a:custGeom>
              <a:avLst/>
              <a:gdLst/>
              <a:ahLst/>
              <a:cxnLst/>
              <a:rect l="l" t="t" r="r" b="b"/>
              <a:pathLst>
                <a:path w="1016000" h="1524000">
                  <a:moveTo>
                    <a:pt x="0" y="1524000"/>
                  </a:moveTo>
                  <a:lnTo>
                    <a:pt x="1016000" y="1524000"/>
                  </a:lnTo>
                  <a:lnTo>
                    <a:pt x="1016000" y="0"/>
                  </a:lnTo>
                  <a:lnTo>
                    <a:pt x="0" y="0"/>
                  </a:lnTo>
                  <a:lnTo>
                    <a:pt x="0" y="1524000"/>
                  </a:lnTo>
                  <a:close/>
                </a:path>
              </a:pathLst>
            </a:custGeom>
            <a:ln w="12700">
              <a:solidFill>
                <a:srgbClr val="CC05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105332" y="3498044"/>
            <a:ext cx="101600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1000" b="1" spc="-25" dirty="0">
                <a:solidFill>
                  <a:srgbClr val="141414"/>
                </a:solidFill>
                <a:latin typeface="Arial"/>
                <a:cs typeface="Arial"/>
              </a:rPr>
              <a:t>45</a:t>
            </a:r>
            <a:r>
              <a:rPr lang="en-IN" sz="1000" b="1" spc="-2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606060"/>
                </a:solidFill>
                <a:latin typeface="Arial"/>
                <a:cs typeface="Arial"/>
              </a:rPr>
              <a:t>Cr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3400" y="5178044"/>
            <a:ext cx="11105515" cy="2083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6324600">
              <a:lnSpc>
                <a:spcPct val="100000"/>
              </a:lnSpc>
              <a:spcBef>
                <a:spcPts val="425"/>
              </a:spcBef>
              <a:tabLst>
                <a:tab pos="7911465" algn="l"/>
                <a:tab pos="9498965" algn="l"/>
              </a:tabLst>
            </a:pPr>
            <a:r>
              <a:rPr sz="1000" b="1" dirty="0">
                <a:solidFill>
                  <a:srgbClr val="606060"/>
                </a:solidFill>
                <a:latin typeface="Arial"/>
                <a:cs typeface="Arial"/>
              </a:rPr>
              <a:t>5</a:t>
            </a:r>
            <a:r>
              <a:rPr sz="1000" b="1" spc="-10" dirty="0">
                <a:solidFill>
                  <a:srgbClr val="606060"/>
                </a:solidFill>
                <a:latin typeface="Arial"/>
                <a:cs typeface="Arial"/>
              </a:rPr>
              <a:t> cities</a:t>
            </a:r>
            <a:r>
              <a:rPr sz="800" b="1" dirty="0">
                <a:solidFill>
                  <a:srgbClr val="606060"/>
                </a:solidFill>
                <a:latin typeface="Arial"/>
                <a:cs typeface="Arial"/>
              </a:rPr>
              <a:t>	</a:t>
            </a:r>
            <a:r>
              <a:rPr sz="1000" b="1" dirty="0">
                <a:solidFill>
                  <a:srgbClr val="606060"/>
                </a:solidFill>
                <a:latin typeface="Arial"/>
                <a:cs typeface="Arial"/>
              </a:rPr>
              <a:t>8</a:t>
            </a:r>
            <a:r>
              <a:rPr sz="1000" b="1" spc="-10" dirty="0">
                <a:solidFill>
                  <a:srgbClr val="606060"/>
                </a:solidFill>
                <a:latin typeface="Arial"/>
                <a:cs typeface="Arial"/>
              </a:rPr>
              <a:t> cities</a:t>
            </a:r>
            <a:r>
              <a:rPr sz="800" b="1" dirty="0">
                <a:solidFill>
                  <a:srgbClr val="606060"/>
                </a:solidFill>
                <a:latin typeface="Arial"/>
                <a:cs typeface="Arial"/>
              </a:rPr>
              <a:t>	</a:t>
            </a:r>
            <a:r>
              <a:rPr sz="1000" b="1" dirty="0">
                <a:solidFill>
                  <a:srgbClr val="606060"/>
                </a:solidFill>
                <a:latin typeface="Arial"/>
                <a:cs typeface="Arial"/>
              </a:rPr>
              <a:t>10</a:t>
            </a:r>
            <a:r>
              <a:rPr sz="1000" b="1" spc="-2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606060"/>
                </a:solidFill>
                <a:latin typeface="Arial"/>
                <a:cs typeface="Arial"/>
              </a:rPr>
              <a:t>cities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18500" y="2590800"/>
            <a:ext cx="1682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b="1" spc="-25" dirty="0">
                <a:solidFill>
                  <a:srgbClr val="141414"/>
                </a:solidFill>
                <a:latin typeface="Arial"/>
                <a:cs typeface="Arial"/>
              </a:rPr>
              <a:t>Y2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55050" y="3953465"/>
            <a:ext cx="96520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1000" b="1" spc="-25" dirty="0">
                <a:solidFill>
                  <a:srgbClr val="141414"/>
                </a:solidFill>
                <a:latin typeface="Arial"/>
                <a:cs typeface="Arial"/>
              </a:rPr>
              <a:t>95</a:t>
            </a:r>
            <a:r>
              <a:rPr lang="en-IN" sz="1000" b="1" spc="-2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606060"/>
                </a:solidFill>
                <a:latin typeface="Arial"/>
                <a:cs typeface="Arial"/>
              </a:rPr>
              <a:t>Cr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06000" y="2590800"/>
            <a:ext cx="1682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b="1" spc="-25" dirty="0">
                <a:solidFill>
                  <a:srgbClr val="141414"/>
                </a:solidFill>
                <a:latin typeface="Arial"/>
                <a:cs typeface="Arial"/>
              </a:rPr>
              <a:t>Y3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215880" y="4652600"/>
            <a:ext cx="44450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1000" b="1" spc="-25" dirty="0">
                <a:solidFill>
                  <a:srgbClr val="141414"/>
                </a:solidFill>
                <a:latin typeface="Arial"/>
                <a:cs typeface="Arial"/>
              </a:rPr>
              <a:t>180</a:t>
            </a:r>
            <a:r>
              <a:rPr lang="en-IN" sz="1000" b="1" spc="-2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606060"/>
                </a:solidFill>
                <a:latin typeface="Arial"/>
                <a:cs typeface="Arial"/>
              </a:rPr>
              <a:t>Cr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9750" y="6062508"/>
            <a:ext cx="62814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Model</a:t>
            </a:r>
            <a:r>
              <a:rPr sz="700" i="1" spc="-1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status:</a:t>
            </a:r>
            <a:r>
              <a:rPr sz="700" i="1" spc="-1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ILLUSTRATIVE</a:t>
            </a:r>
            <a:r>
              <a:rPr sz="700" i="1" spc="-1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BASE</a:t>
            </a:r>
            <a:r>
              <a:rPr sz="700" i="1" spc="-1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CASE.</a:t>
            </a:r>
            <a:r>
              <a:rPr sz="700" i="1" spc="-1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Public</a:t>
            </a:r>
            <a:r>
              <a:rPr sz="700" i="1" spc="-1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market/channel</a:t>
            </a:r>
            <a:r>
              <a:rPr sz="700" i="1" spc="-1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evidence</a:t>
            </a:r>
            <a:r>
              <a:rPr sz="700" i="1" spc="-1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informs</a:t>
            </a:r>
            <a:r>
              <a:rPr sz="700" i="1" spc="-1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the</a:t>
            </a:r>
            <a:r>
              <a:rPr sz="700" i="1" spc="-1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direction;</a:t>
            </a:r>
            <a:r>
              <a:rPr sz="700" i="1" spc="-1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the</a:t>
            </a:r>
            <a:r>
              <a:rPr sz="700" i="1" spc="-1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lang="en-IN" sz="700" i="1" dirty="0">
                <a:solidFill>
                  <a:srgbClr val="606060"/>
                </a:solidFill>
                <a:latin typeface="Arial"/>
                <a:cs typeface="Arial"/>
              </a:rPr>
              <a:t>Rs.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45/</a:t>
            </a:r>
            <a:r>
              <a:rPr lang="en-IN" sz="700" i="1" dirty="0">
                <a:solidFill>
                  <a:srgbClr val="606060"/>
                </a:solidFill>
                <a:latin typeface="Arial"/>
                <a:cs typeface="Arial"/>
              </a:rPr>
              <a:t>Rs.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95/</a:t>
            </a:r>
            <a:r>
              <a:rPr lang="en-IN" sz="700" i="1" dirty="0">
                <a:solidFill>
                  <a:srgbClr val="606060"/>
                </a:solidFill>
                <a:latin typeface="Arial"/>
                <a:cs typeface="Arial"/>
              </a:rPr>
              <a:t>Rs.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180</a:t>
            </a:r>
            <a:r>
              <a:rPr sz="700" i="1" spc="-1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Cr</a:t>
            </a:r>
            <a:r>
              <a:rPr sz="700" i="1" spc="-1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outputs</a:t>
            </a:r>
            <a:r>
              <a:rPr sz="700" i="1" spc="-1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are</a:t>
            </a:r>
            <a:r>
              <a:rPr sz="700" i="1" spc="-1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management</a:t>
            </a:r>
            <a:r>
              <a:rPr sz="700" i="1" spc="-10" dirty="0">
                <a:solidFill>
                  <a:srgbClr val="606060"/>
                </a:solidFill>
                <a:latin typeface="Arial"/>
                <a:cs typeface="Arial"/>
              </a:rPr>
              <a:t> assumptions.</a:t>
            </a:r>
            <a:endParaRPr sz="700" dirty="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9750" y="6572504"/>
            <a:ext cx="235585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Section 4 · Demand &amp; Sales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Opportunity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620250" y="6572504"/>
            <a:ext cx="219786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solidFill>
                  <a:srgbClr val="666666"/>
                </a:solidFill>
                <a:latin typeface="Arial"/>
                <a:cs typeface="Arial"/>
              </a:rPr>
              <a:t>Budweiser</a:t>
            </a:r>
            <a:r>
              <a:rPr sz="900" i="1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66666"/>
                </a:solidFill>
                <a:latin typeface="Arial"/>
                <a:cs typeface="Arial"/>
              </a:rPr>
              <a:t>Beats</a:t>
            </a:r>
            <a:r>
              <a:rPr sz="900" i="1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sz="900" i="1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66666"/>
                </a:solidFill>
                <a:latin typeface="Arial"/>
                <a:cs typeface="Arial"/>
              </a:rPr>
              <a:t>India</a:t>
            </a:r>
            <a:r>
              <a:rPr sz="900" i="1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66666"/>
                </a:solidFill>
                <a:latin typeface="Arial"/>
                <a:cs typeface="Arial"/>
              </a:rPr>
              <a:t>Growth</a:t>
            </a:r>
            <a:r>
              <a:rPr sz="900" i="1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666666"/>
                </a:solidFill>
                <a:latin typeface="Arial"/>
                <a:cs typeface="Arial"/>
              </a:rPr>
              <a:t>Strategy</a:t>
            </a:r>
            <a:endParaRPr sz="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400" y="381000"/>
            <a:ext cx="3048000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CC0523"/>
                </a:solidFill>
                <a:latin typeface="Arial"/>
                <a:cs typeface="Arial"/>
              </a:rPr>
              <a:t>DEMAND</a:t>
            </a:r>
            <a:r>
              <a:rPr sz="1250" b="1" spc="-15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CC0523"/>
                </a:solidFill>
                <a:latin typeface="Arial"/>
                <a:cs typeface="Arial"/>
              </a:rPr>
              <a:t>&amp;</a:t>
            </a:r>
            <a:r>
              <a:rPr sz="1250" b="1" spc="-15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CC0523"/>
                </a:solidFill>
                <a:latin typeface="Arial"/>
                <a:cs typeface="Arial"/>
              </a:rPr>
              <a:t>SALES</a:t>
            </a:r>
            <a:r>
              <a:rPr sz="1250" b="1" spc="-10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CC0523"/>
                </a:solidFill>
                <a:latin typeface="Arial"/>
                <a:cs typeface="Arial"/>
              </a:rPr>
              <a:t>OPPORTUNITY</a:t>
            </a:r>
            <a:r>
              <a:rPr sz="1250" b="1" spc="-10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lang="en-IN" sz="1250" b="1" spc="-10" dirty="0">
                <a:solidFill>
                  <a:srgbClr val="CC0523"/>
                </a:solidFill>
                <a:latin typeface="Arial"/>
                <a:cs typeface="Arial"/>
              </a:rPr>
              <a:t>-</a:t>
            </a:r>
            <a:r>
              <a:rPr sz="1250" b="1" spc="-5" dirty="0">
                <a:solidFill>
                  <a:srgbClr val="CC0523"/>
                </a:solidFill>
                <a:latin typeface="Arial"/>
                <a:cs typeface="Arial"/>
              </a:rPr>
              <a:t> </a:t>
            </a:r>
            <a:r>
              <a:rPr sz="1250" b="1" spc="-50" dirty="0">
                <a:solidFill>
                  <a:srgbClr val="CC0523"/>
                </a:solidFill>
                <a:latin typeface="Arial"/>
                <a:cs typeface="Arial"/>
              </a:rPr>
              <a:t>2</a:t>
            </a:r>
            <a:endParaRPr sz="1250" b="1" dirty="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41414"/>
                </a:solidFill>
              </a:rPr>
              <a:t>Illustrative</a:t>
            </a:r>
            <a:r>
              <a:rPr spc="-45" dirty="0">
                <a:solidFill>
                  <a:srgbClr val="141414"/>
                </a:solidFill>
              </a:rPr>
              <a:t> </a:t>
            </a:r>
            <a:r>
              <a:rPr dirty="0">
                <a:solidFill>
                  <a:srgbClr val="141414"/>
                </a:solidFill>
              </a:rPr>
              <a:t>3-Year</a:t>
            </a:r>
            <a:r>
              <a:rPr spc="-40" dirty="0">
                <a:solidFill>
                  <a:srgbClr val="141414"/>
                </a:solidFill>
              </a:rPr>
              <a:t> </a:t>
            </a:r>
            <a:r>
              <a:rPr dirty="0">
                <a:solidFill>
                  <a:srgbClr val="141414"/>
                </a:solidFill>
              </a:rPr>
              <a:t>Revenue</a:t>
            </a:r>
            <a:r>
              <a:rPr spc="-45" dirty="0">
                <a:solidFill>
                  <a:srgbClr val="141414"/>
                </a:solidFill>
              </a:rPr>
              <a:t> </a:t>
            </a:r>
            <a:r>
              <a:rPr spc="-10" dirty="0">
                <a:solidFill>
                  <a:srgbClr val="141414"/>
                </a:solidFill>
              </a:rPr>
              <a:t>Scenario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3400" y="1181100"/>
            <a:ext cx="42265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100" i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simple</a:t>
            </a:r>
            <a:r>
              <a:rPr sz="1100" i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666666"/>
                </a:solidFill>
                <a:latin typeface="Arial"/>
                <a:cs typeface="Arial"/>
              </a:rPr>
              <a:t>unit-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economics</a:t>
            </a:r>
            <a:r>
              <a:rPr sz="1100" i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bridge</a:t>
            </a:r>
            <a:r>
              <a:rPr sz="1100" i="1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makes</a:t>
            </a:r>
            <a:r>
              <a:rPr sz="1100" i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1100" i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opportunity</a:t>
            </a:r>
            <a:r>
              <a:rPr sz="1100" i="1" spc="-10" dirty="0">
                <a:solidFill>
                  <a:srgbClr val="666666"/>
                </a:solidFill>
                <a:latin typeface="Arial"/>
                <a:cs typeface="Arial"/>
              </a:rPr>
              <a:t> reproducible.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703221"/>
              </p:ext>
            </p:extLst>
          </p:nvPr>
        </p:nvGraphicFramePr>
        <p:xfrm>
          <a:off x="548642" y="1771650"/>
          <a:ext cx="11109958" cy="2884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0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6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347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 marL="158750">
                        <a:lnSpc>
                          <a:spcPct val="100000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Metric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89890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 </a:t>
                      </a: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901065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 </a:t>
                      </a: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901065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 </a:t>
                      </a: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964565">
                        <a:lnSpc>
                          <a:spcPct val="100000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Logic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230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050" b="1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Active </a:t>
                      </a:r>
                      <a:r>
                        <a:rPr sz="1050" b="1" spc="-10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cities</a:t>
                      </a:r>
                      <a:endParaRPr sz="1050" dirty="0">
                        <a:latin typeface="Arial"/>
                        <a:cs typeface="Arial"/>
                      </a:endParaRPr>
                    </a:p>
                  </a:txBody>
                  <a:tcPr marL="0" marR="0" marT="115570" marB="0"/>
                </a:tc>
                <a:tc>
                  <a:txBody>
                    <a:bodyPr/>
                    <a:lstStyle/>
                    <a:p>
                      <a:pPr marL="364490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100" i="1" spc="-50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15570" marB="0"/>
                </a:tc>
                <a:tc>
                  <a:txBody>
                    <a:bodyPr/>
                    <a:lstStyle/>
                    <a:p>
                      <a:pPr marL="87566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100" i="1" spc="-50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15570" marB="0"/>
                </a:tc>
                <a:tc>
                  <a:txBody>
                    <a:bodyPr/>
                    <a:lstStyle/>
                    <a:p>
                      <a:pPr marL="87566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100" i="1" spc="-25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15570" marB="0"/>
                </a:tc>
                <a:tc>
                  <a:txBody>
                    <a:bodyPr/>
                    <a:lstStyle/>
                    <a:p>
                      <a:pPr marL="81216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100" i="1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Rollout</a:t>
                      </a:r>
                      <a:r>
                        <a:rPr sz="1100" i="1" spc="-25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plan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149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133350">
                        <a:lnSpc>
                          <a:spcPct val="100000"/>
                        </a:lnSpc>
                      </a:pPr>
                      <a:r>
                        <a:rPr sz="1050" b="1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Revenue</a:t>
                      </a:r>
                      <a:r>
                        <a:rPr sz="1050" b="1" spc="-5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050" b="1" spc="-25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Cr)</a:t>
                      </a:r>
                      <a:endParaRPr sz="1050" dirty="0">
                        <a:latin typeface="Arial"/>
                        <a:cs typeface="Arial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364490">
                        <a:lnSpc>
                          <a:spcPct val="100000"/>
                        </a:lnSpc>
                      </a:pPr>
                      <a:r>
                        <a:rPr sz="1100" i="1" spc="-25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45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75665">
                        <a:lnSpc>
                          <a:spcPct val="100000"/>
                        </a:lnSpc>
                      </a:pPr>
                      <a:r>
                        <a:rPr sz="1100" i="1" spc="-25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95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75665">
                        <a:lnSpc>
                          <a:spcPct val="100000"/>
                        </a:lnSpc>
                      </a:pPr>
                      <a:r>
                        <a:rPr sz="1100" i="1" spc="-25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180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12165">
                        <a:lnSpc>
                          <a:spcPct val="100000"/>
                        </a:lnSpc>
                      </a:pPr>
                      <a:r>
                        <a:rPr sz="1100" i="1" spc="-10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Base-</a:t>
                      </a:r>
                      <a:r>
                        <a:rPr sz="1100" i="1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case</a:t>
                      </a:r>
                      <a:r>
                        <a:rPr sz="1100" i="1" spc="10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10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scenario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223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133350">
                        <a:lnSpc>
                          <a:spcPct val="100000"/>
                        </a:lnSpc>
                      </a:pPr>
                      <a:r>
                        <a:rPr sz="1050" b="1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Net revenue / </a:t>
                      </a:r>
                      <a:r>
                        <a:rPr sz="1050" b="1" spc="-25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can</a:t>
                      </a:r>
                      <a:endParaRPr sz="1050" dirty="0">
                        <a:latin typeface="Arial"/>
                        <a:cs typeface="Arial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364490">
                        <a:lnSpc>
                          <a:spcPct val="100000"/>
                        </a:lnSpc>
                      </a:pPr>
                      <a:r>
                        <a:rPr lang="en-IN" sz="1100" i="1" spc="-25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Rs. </a:t>
                      </a:r>
                      <a:r>
                        <a:rPr sz="1100" i="1" spc="-25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90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875665">
                        <a:lnSpc>
                          <a:spcPct val="100000"/>
                        </a:lnSpc>
                      </a:pPr>
                      <a:r>
                        <a:rPr lang="en-IN" sz="1100" i="1" spc="-25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Rs. </a:t>
                      </a:r>
                      <a:r>
                        <a:rPr sz="1100" i="1" spc="-25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90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875665">
                        <a:lnSpc>
                          <a:spcPct val="100000"/>
                        </a:lnSpc>
                      </a:pPr>
                      <a:r>
                        <a:rPr lang="en-IN" sz="1100" i="1" spc="-25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Rs. </a:t>
                      </a:r>
                      <a:r>
                        <a:rPr sz="1100" i="1" spc="-25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90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12165">
                        <a:lnSpc>
                          <a:spcPct val="100000"/>
                        </a:lnSpc>
                      </a:pPr>
                      <a:r>
                        <a:rPr sz="1100" i="1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Illustrative</a:t>
                      </a:r>
                      <a:r>
                        <a:rPr sz="1100" i="1" spc="-40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10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assumption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223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133350">
                        <a:lnSpc>
                          <a:spcPct val="100000"/>
                        </a:lnSpc>
                      </a:pPr>
                      <a:r>
                        <a:rPr sz="1050" b="1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Cans sold </a:t>
                      </a:r>
                      <a:r>
                        <a:rPr sz="1050" b="1" spc="-25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(M)</a:t>
                      </a:r>
                      <a:endParaRPr sz="1050" dirty="0">
                        <a:latin typeface="Arial"/>
                        <a:cs typeface="Arial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64490">
                        <a:lnSpc>
                          <a:spcPct val="100000"/>
                        </a:lnSpc>
                      </a:pPr>
                      <a:r>
                        <a:rPr sz="1100" i="1" spc="-25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5.0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875665">
                        <a:lnSpc>
                          <a:spcPct val="100000"/>
                        </a:lnSpc>
                      </a:pPr>
                      <a:r>
                        <a:rPr sz="1100" i="1" spc="-20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10.6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75665">
                        <a:lnSpc>
                          <a:spcPct val="100000"/>
                        </a:lnSpc>
                      </a:pPr>
                      <a:r>
                        <a:rPr sz="1100" i="1" spc="-20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20.0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812165">
                        <a:lnSpc>
                          <a:spcPct val="100000"/>
                        </a:lnSpc>
                      </a:pPr>
                      <a:r>
                        <a:rPr sz="1100" i="1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Revenue</a:t>
                      </a:r>
                      <a:r>
                        <a:rPr sz="1100" i="1" spc="-20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÷</a:t>
                      </a:r>
                      <a:r>
                        <a:rPr sz="1100" i="1" spc="-15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IN" sz="1100" i="1" spc="-25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Rs. </a:t>
                      </a:r>
                      <a:r>
                        <a:rPr sz="1100" i="1" spc="-25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90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6223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133350">
                        <a:lnSpc>
                          <a:spcPts val="990"/>
                        </a:lnSpc>
                      </a:pPr>
                      <a:r>
                        <a:rPr sz="1050" b="1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Digital-addressable </a:t>
                      </a:r>
                      <a:r>
                        <a:rPr sz="1050" b="1" spc="-10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share</a:t>
                      </a:r>
                      <a:endParaRPr sz="1050" dirty="0">
                        <a:latin typeface="Arial"/>
                        <a:cs typeface="Arial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64490">
                        <a:lnSpc>
                          <a:spcPts val="990"/>
                        </a:lnSpc>
                      </a:pPr>
                      <a:r>
                        <a:rPr sz="1100" i="1" spc="-25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3%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875665">
                        <a:lnSpc>
                          <a:spcPts val="990"/>
                        </a:lnSpc>
                      </a:pPr>
                      <a:r>
                        <a:rPr sz="1100" i="1" spc="-25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6%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875665">
                        <a:lnSpc>
                          <a:spcPts val="990"/>
                        </a:lnSpc>
                      </a:pPr>
                      <a:r>
                        <a:rPr sz="1100" i="1" spc="-25" dirty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10%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812165">
                        <a:lnSpc>
                          <a:spcPct val="100000"/>
                        </a:lnSpc>
                      </a:pPr>
                      <a:r>
                        <a:rPr sz="1100" i="1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Strategic</a:t>
                      </a:r>
                      <a:r>
                        <a:rPr sz="1100" i="1" spc="-30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target,</a:t>
                      </a:r>
                      <a:r>
                        <a:rPr sz="1100" i="1" spc="-30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not</a:t>
                      </a:r>
                      <a:r>
                        <a:rPr sz="1100" i="1" spc="-25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observed</a:t>
                      </a:r>
                      <a:r>
                        <a:rPr sz="1100" i="1" spc="-30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solidFill>
                            <a:srgbClr val="606060"/>
                          </a:solidFill>
                          <a:latin typeface="Arial"/>
                          <a:cs typeface="Arial"/>
                        </a:rPr>
                        <a:t>share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6223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39750" y="5391150"/>
            <a:ext cx="11112500" cy="414216"/>
          </a:xfrm>
          <a:prstGeom prst="rect">
            <a:avLst/>
          </a:prstGeom>
          <a:solidFill>
            <a:srgbClr val="F4EDE5"/>
          </a:solidFill>
          <a:ln w="3175">
            <a:solidFill>
              <a:srgbClr val="F4EDE5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222250">
              <a:lnSpc>
                <a:spcPct val="100000"/>
              </a:lnSpc>
            </a:pPr>
            <a:r>
              <a:rPr sz="1150" b="1" dirty="0">
                <a:solidFill>
                  <a:srgbClr val="141414"/>
                </a:solidFill>
                <a:latin typeface="Arial"/>
                <a:cs typeface="Arial"/>
              </a:rPr>
              <a:t>KEY</a:t>
            </a:r>
            <a:r>
              <a:rPr sz="115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141414"/>
                </a:solidFill>
                <a:latin typeface="Arial"/>
                <a:cs typeface="Arial"/>
              </a:rPr>
              <a:t>TAKEAWAY</a:t>
            </a:r>
            <a:r>
              <a:rPr sz="1150" b="1" spc="270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141414"/>
                </a:solidFill>
                <a:latin typeface="Arial"/>
                <a:cs typeface="Arial"/>
              </a:rPr>
              <a:t>|</a:t>
            </a:r>
            <a:r>
              <a:rPr sz="1150" b="1" spc="270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141414"/>
                </a:solidFill>
                <a:latin typeface="Arial"/>
                <a:cs typeface="Arial"/>
              </a:rPr>
              <a:t>At</a:t>
            </a:r>
            <a:r>
              <a:rPr sz="115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141414"/>
                </a:solidFill>
                <a:latin typeface="Arial"/>
                <a:cs typeface="Arial"/>
              </a:rPr>
              <a:t>a</a:t>
            </a:r>
            <a:r>
              <a:rPr sz="115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141414"/>
                </a:solidFill>
                <a:latin typeface="Arial"/>
                <a:cs typeface="Arial"/>
              </a:rPr>
              <a:t>constant </a:t>
            </a:r>
            <a:r>
              <a:rPr lang="en-IN" sz="1150" b="1" dirty="0">
                <a:solidFill>
                  <a:srgbClr val="141414"/>
                </a:solidFill>
                <a:latin typeface="Arial"/>
                <a:cs typeface="Arial"/>
              </a:rPr>
              <a:t>Rs. </a:t>
            </a:r>
            <a:r>
              <a:rPr sz="1150" b="1" dirty="0">
                <a:solidFill>
                  <a:srgbClr val="141414"/>
                </a:solidFill>
                <a:latin typeface="Arial"/>
                <a:cs typeface="Arial"/>
              </a:rPr>
              <a:t>90</a:t>
            </a:r>
            <a:r>
              <a:rPr sz="115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141414"/>
                </a:solidFill>
                <a:latin typeface="Arial"/>
                <a:cs typeface="Arial"/>
              </a:rPr>
              <a:t>illustrative net</a:t>
            </a:r>
            <a:r>
              <a:rPr sz="115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141414"/>
                </a:solidFill>
                <a:latin typeface="Arial"/>
                <a:cs typeface="Arial"/>
              </a:rPr>
              <a:t>revenue</a:t>
            </a:r>
            <a:r>
              <a:rPr sz="115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141414"/>
                </a:solidFill>
                <a:latin typeface="Arial"/>
                <a:cs typeface="Arial"/>
              </a:rPr>
              <a:t>per can,</a:t>
            </a:r>
            <a:r>
              <a:rPr sz="115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141414"/>
                </a:solidFill>
                <a:latin typeface="Arial"/>
                <a:cs typeface="Arial"/>
              </a:rPr>
              <a:t>Year 3</a:t>
            </a:r>
            <a:r>
              <a:rPr sz="115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141414"/>
                </a:solidFill>
                <a:latin typeface="Arial"/>
                <a:cs typeface="Arial"/>
              </a:rPr>
              <a:t>requires ~20M</a:t>
            </a:r>
            <a:r>
              <a:rPr sz="115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141414"/>
                </a:solidFill>
                <a:latin typeface="Arial"/>
                <a:cs typeface="Arial"/>
              </a:rPr>
              <a:t>cans.</a:t>
            </a:r>
            <a:r>
              <a:rPr sz="115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141414"/>
                </a:solidFill>
                <a:latin typeface="Arial"/>
                <a:cs typeface="Arial"/>
              </a:rPr>
              <a:t>This is</a:t>
            </a:r>
            <a:r>
              <a:rPr sz="115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141414"/>
                </a:solidFill>
                <a:latin typeface="Arial"/>
                <a:cs typeface="Arial"/>
              </a:rPr>
              <a:t>a scenario</a:t>
            </a:r>
            <a:r>
              <a:rPr sz="115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141414"/>
                </a:solidFill>
                <a:latin typeface="Arial"/>
                <a:cs typeface="Arial"/>
              </a:rPr>
              <a:t>to</a:t>
            </a:r>
            <a:r>
              <a:rPr sz="115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141414"/>
                </a:solidFill>
                <a:latin typeface="Arial"/>
                <a:cs typeface="Arial"/>
              </a:rPr>
              <a:t>test </a:t>
            </a:r>
            <a:r>
              <a:rPr lang="en-IN" sz="1150" b="1" dirty="0">
                <a:solidFill>
                  <a:srgbClr val="141414"/>
                </a:solidFill>
                <a:latin typeface="Arial"/>
                <a:cs typeface="Arial"/>
              </a:rPr>
              <a:t>Rs. 90</a:t>
            </a:r>
            <a:r>
              <a:rPr sz="115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141414"/>
                </a:solidFill>
                <a:latin typeface="Arial"/>
                <a:cs typeface="Arial"/>
              </a:rPr>
              <a:t>not a</a:t>
            </a:r>
            <a:r>
              <a:rPr sz="115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141414"/>
                </a:solidFill>
                <a:latin typeface="Arial"/>
                <a:cs typeface="Arial"/>
              </a:rPr>
              <a:t>claim</a:t>
            </a:r>
            <a:r>
              <a:rPr sz="115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141414"/>
                </a:solidFill>
                <a:latin typeface="Arial"/>
                <a:cs typeface="Arial"/>
              </a:rPr>
              <a:t>about actual</a:t>
            </a:r>
            <a:r>
              <a:rPr sz="115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141414"/>
                </a:solidFill>
                <a:latin typeface="Arial"/>
                <a:cs typeface="Arial"/>
              </a:rPr>
              <a:t>Beats </a:t>
            </a:r>
            <a:r>
              <a:rPr sz="1150" b="1" spc="-10" dirty="0">
                <a:solidFill>
                  <a:srgbClr val="141414"/>
                </a:solidFill>
                <a:latin typeface="Arial"/>
                <a:cs typeface="Arial"/>
              </a:rPr>
              <a:t>demand.</a:t>
            </a:r>
            <a:endParaRPr sz="115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9750" y="6125943"/>
            <a:ext cx="5556250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dirty="0">
                <a:solidFill>
                  <a:srgbClr val="606060"/>
                </a:solidFill>
                <a:latin typeface="Arial"/>
                <a:cs typeface="Arial"/>
              </a:rPr>
              <a:t>Source</a:t>
            </a:r>
            <a:r>
              <a:rPr sz="8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606060"/>
                </a:solidFill>
                <a:latin typeface="Arial"/>
                <a:cs typeface="Arial"/>
              </a:rPr>
              <a:t>/</a:t>
            </a:r>
            <a:r>
              <a:rPr sz="8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606060"/>
                </a:solidFill>
                <a:latin typeface="Arial"/>
                <a:cs typeface="Arial"/>
              </a:rPr>
              <a:t>model</a:t>
            </a:r>
            <a:r>
              <a:rPr sz="8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606060"/>
                </a:solidFill>
                <a:latin typeface="Arial"/>
                <a:cs typeface="Arial"/>
              </a:rPr>
              <a:t>note:</a:t>
            </a:r>
            <a:r>
              <a:rPr sz="8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606060"/>
                </a:solidFill>
                <a:latin typeface="Arial"/>
                <a:cs typeface="Arial"/>
              </a:rPr>
              <a:t>city rollout</a:t>
            </a:r>
            <a:r>
              <a:rPr sz="8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606060"/>
                </a:solidFill>
                <a:latin typeface="Arial"/>
                <a:cs typeface="Arial"/>
              </a:rPr>
              <a:t>and</a:t>
            </a:r>
            <a:r>
              <a:rPr sz="8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606060"/>
                </a:solidFill>
                <a:latin typeface="Arial"/>
                <a:cs typeface="Arial"/>
              </a:rPr>
              <a:t>commercial</a:t>
            </a:r>
            <a:r>
              <a:rPr sz="8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606060"/>
                </a:solidFill>
                <a:latin typeface="Arial"/>
                <a:cs typeface="Arial"/>
              </a:rPr>
              <a:t>assumptions are</a:t>
            </a:r>
            <a:r>
              <a:rPr sz="8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606060"/>
                </a:solidFill>
                <a:latin typeface="Arial"/>
                <a:cs typeface="Arial"/>
              </a:rPr>
              <a:t>analyst-built;</a:t>
            </a:r>
            <a:r>
              <a:rPr sz="8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606060"/>
                </a:solidFill>
                <a:latin typeface="Arial"/>
                <a:cs typeface="Arial"/>
              </a:rPr>
              <a:t>no</a:t>
            </a:r>
            <a:r>
              <a:rPr sz="8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606060"/>
                </a:solidFill>
                <a:latin typeface="Arial"/>
                <a:cs typeface="Arial"/>
              </a:rPr>
              <a:t>proprietary AB</a:t>
            </a:r>
            <a:r>
              <a:rPr sz="8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606060"/>
                </a:solidFill>
                <a:latin typeface="Arial"/>
                <a:cs typeface="Arial"/>
              </a:rPr>
              <a:t>InBev</a:t>
            </a:r>
            <a:r>
              <a:rPr sz="8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606060"/>
                </a:solidFill>
                <a:latin typeface="Arial"/>
                <a:cs typeface="Arial"/>
              </a:rPr>
              <a:t>sales</a:t>
            </a:r>
            <a:r>
              <a:rPr sz="8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606060"/>
                </a:solidFill>
                <a:latin typeface="Arial"/>
                <a:cs typeface="Arial"/>
              </a:rPr>
              <a:t>data</a:t>
            </a:r>
            <a:r>
              <a:rPr sz="8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i="1" spc="-10" dirty="0">
                <a:solidFill>
                  <a:srgbClr val="606060"/>
                </a:solidFill>
                <a:latin typeface="Arial"/>
                <a:cs typeface="Arial"/>
              </a:rPr>
              <a:t>used.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5452" y="6446520"/>
            <a:ext cx="2517748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Section 4 · Demand &amp; Sales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Opportunity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06000" y="6446520"/>
            <a:ext cx="237448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solidFill>
                  <a:srgbClr val="666666"/>
                </a:solidFill>
                <a:latin typeface="Arial"/>
                <a:cs typeface="Arial"/>
              </a:rPr>
              <a:t>Budweiser</a:t>
            </a:r>
            <a:r>
              <a:rPr sz="900" i="1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66666"/>
                </a:solidFill>
                <a:latin typeface="Arial"/>
                <a:cs typeface="Arial"/>
              </a:rPr>
              <a:t>Beats</a:t>
            </a:r>
            <a:r>
              <a:rPr sz="900" i="1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sz="900" i="1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66666"/>
                </a:solidFill>
                <a:latin typeface="Arial"/>
                <a:cs typeface="Arial"/>
              </a:rPr>
              <a:t>India</a:t>
            </a:r>
            <a:r>
              <a:rPr sz="900" i="1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666666"/>
                </a:solidFill>
                <a:latin typeface="Arial"/>
                <a:cs typeface="Arial"/>
              </a:rPr>
              <a:t>Growth</a:t>
            </a:r>
            <a:r>
              <a:rPr sz="900" i="1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666666"/>
                </a:solidFill>
                <a:latin typeface="Arial"/>
                <a:cs typeface="Arial"/>
              </a:rPr>
              <a:t>Strategy</a:t>
            </a:r>
            <a:endParaRPr sz="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400" y="381000"/>
            <a:ext cx="2667000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CC0523"/>
                </a:solidFill>
                <a:latin typeface="Arial"/>
                <a:cs typeface="Arial"/>
              </a:rPr>
              <a:t>SUSTAINABILITY </a:t>
            </a:r>
            <a:r>
              <a:rPr sz="1250" b="1" spc="-10" dirty="0">
                <a:solidFill>
                  <a:srgbClr val="CC0523"/>
                </a:solidFill>
                <a:latin typeface="Arial"/>
                <a:cs typeface="Arial"/>
              </a:rPr>
              <a:t>ALIGNMENT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41414"/>
                </a:solidFill>
              </a:rPr>
              <a:t>Grounding</a:t>
            </a:r>
            <a:r>
              <a:rPr spc="-80" dirty="0">
                <a:solidFill>
                  <a:srgbClr val="141414"/>
                </a:solidFill>
              </a:rPr>
              <a:t> </a:t>
            </a:r>
            <a:r>
              <a:rPr dirty="0">
                <a:solidFill>
                  <a:srgbClr val="141414"/>
                </a:solidFill>
              </a:rPr>
              <a:t>Growth</a:t>
            </a:r>
            <a:r>
              <a:rPr spc="-65" dirty="0">
                <a:solidFill>
                  <a:srgbClr val="141414"/>
                </a:solidFill>
              </a:rPr>
              <a:t> </a:t>
            </a:r>
            <a:r>
              <a:rPr dirty="0">
                <a:solidFill>
                  <a:srgbClr val="141414"/>
                </a:solidFill>
              </a:rPr>
              <a:t>in</a:t>
            </a:r>
            <a:r>
              <a:rPr spc="-65" dirty="0">
                <a:solidFill>
                  <a:srgbClr val="141414"/>
                </a:solidFill>
              </a:rPr>
              <a:t> </a:t>
            </a:r>
            <a:r>
              <a:rPr dirty="0">
                <a:solidFill>
                  <a:srgbClr val="141414"/>
                </a:solidFill>
              </a:rPr>
              <a:t>AB</a:t>
            </a:r>
            <a:r>
              <a:rPr spc="-65" dirty="0">
                <a:solidFill>
                  <a:srgbClr val="141414"/>
                </a:solidFill>
              </a:rPr>
              <a:t> </a:t>
            </a:r>
            <a:r>
              <a:rPr dirty="0">
                <a:solidFill>
                  <a:srgbClr val="141414"/>
                </a:solidFill>
              </a:rPr>
              <a:t>InBev</a:t>
            </a:r>
            <a:r>
              <a:rPr lang="en-IN" dirty="0">
                <a:solidFill>
                  <a:srgbClr val="141414"/>
                </a:solidFill>
              </a:rPr>
              <a:t>'</a:t>
            </a:r>
            <a:r>
              <a:rPr dirty="0">
                <a:solidFill>
                  <a:srgbClr val="141414"/>
                </a:solidFill>
              </a:rPr>
              <a:t>s</a:t>
            </a:r>
            <a:r>
              <a:rPr spc="-70" dirty="0">
                <a:solidFill>
                  <a:srgbClr val="141414"/>
                </a:solidFill>
              </a:rPr>
              <a:t> </a:t>
            </a:r>
            <a:r>
              <a:rPr dirty="0">
                <a:solidFill>
                  <a:srgbClr val="141414"/>
                </a:solidFill>
              </a:rPr>
              <a:t>Sustainability</a:t>
            </a:r>
            <a:r>
              <a:rPr spc="-65" dirty="0">
                <a:solidFill>
                  <a:srgbClr val="141414"/>
                </a:solidFill>
              </a:rPr>
              <a:t> </a:t>
            </a:r>
            <a:r>
              <a:rPr spc="-10" dirty="0">
                <a:solidFill>
                  <a:srgbClr val="141414"/>
                </a:solidFill>
              </a:rPr>
              <a:t>Framework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3400" y="1181100"/>
            <a:ext cx="58648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1100" i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GTM</a:t>
            </a:r>
            <a:r>
              <a:rPr sz="1100" i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proposal</a:t>
            </a:r>
            <a:r>
              <a:rPr sz="1100" i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links</a:t>
            </a:r>
            <a:r>
              <a:rPr sz="1100" i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commercial</a:t>
            </a:r>
            <a:r>
              <a:rPr sz="1100" i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execution</a:t>
            </a:r>
            <a:r>
              <a:rPr sz="1100" i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100" i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established</a:t>
            </a:r>
            <a:r>
              <a:rPr sz="1100" i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AB</a:t>
            </a:r>
            <a:r>
              <a:rPr sz="1100" i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InBev</a:t>
            </a:r>
            <a:r>
              <a:rPr sz="1100" i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sustainability</a:t>
            </a:r>
            <a:r>
              <a:rPr sz="1100" i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666666"/>
                </a:solidFill>
                <a:latin typeface="Arial"/>
                <a:cs typeface="Arial"/>
              </a:rPr>
              <a:t>priorities.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9750" y="1898650"/>
            <a:ext cx="2616200" cy="3251200"/>
          </a:xfrm>
          <a:prstGeom prst="rect">
            <a:avLst/>
          </a:prstGeom>
          <a:solidFill>
            <a:srgbClr val="161616"/>
          </a:solidFill>
          <a:ln w="3175">
            <a:solidFill>
              <a:srgbClr val="16161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050" dirty="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</a:pP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SMART</a:t>
            </a:r>
            <a:r>
              <a:rPr sz="10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Arial"/>
                <a:cs typeface="Arial"/>
              </a:rPr>
              <a:t>AGRICULTURE</a:t>
            </a: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050" dirty="0">
              <a:latin typeface="Arial"/>
              <a:cs typeface="Arial"/>
            </a:endParaRPr>
          </a:p>
          <a:p>
            <a:pPr marL="234950" marR="619760">
              <a:lnSpc>
                <a:spcPct val="120700"/>
              </a:lnSpc>
              <a:spcBef>
                <a:spcPts val="5"/>
              </a:spcBef>
            </a:pPr>
            <a:r>
              <a:rPr sz="1050" i="1" dirty="0">
                <a:solidFill>
                  <a:srgbClr val="FFFFFF"/>
                </a:solidFill>
                <a:latin typeface="Arial"/>
                <a:cs typeface="Arial"/>
              </a:rPr>
              <a:t>Supplier / ingredient resilience </a:t>
            </a:r>
            <a:r>
              <a:rPr sz="1050" i="1" spc="-2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1050" i="1" dirty="0">
                <a:solidFill>
                  <a:srgbClr val="FFFFFF"/>
                </a:solidFill>
                <a:latin typeface="Arial"/>
                <a:cs typeface="Arial"/>
              </a:rPr>
              <a:t>responsible </a:t>
            </a:r>
            <a:r>
              <a:rPr sz="1050" i="1" spc="-10" dirty="0">
                <a:solidFill>
                  <a:srgbClr val="FFFFFF"/>
                </a:solidFill>
                <a:latin typeface="Arial"/>
                <a:cs typeface="Arial"/>
              </a:rPr>
              <a:t>sourcing.</a:t>
            </a: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1050" dirty="0"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r>
              <a:rPr sz="1050" i="1" dirty="0">
                <a:solidFill>
                  <a:srgbClr val="B7B7B7"/>
                </a:solidFill>
                <a:latin typeface="Arial"/>
                <a:cs typeface="Arial"/>
              </a:rPr>
              <a:t>Aligns</a:t>
            </a:r>
            <a:r>
              <a:rPr sz="1050" i="1" spc="-25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B7B7B7"/>
                </a:solidFill>
                <a:latin typeface="Arial"/>
                <a:cs typeface="Arial"/>
              </a:rPr>
              <a:t>with</a:t>
            </a:r>
            <a:r>
              <a:rPr sz="1050" i="1" spc="-25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B7B7B7"/>
                </a:solidFill>
                <a:latin typeface="Arial"/>
                <a:cs typeface="Arial"/>
              </a:rPr>
              <a:t>AB</a:t>
            </a:r>
            <a:r>
              <a:rPr sz="1050" i="1" spc="-2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B7B7B7"/>
                </a:solidFill>
                <a:latin typeface="Arial"/>
                <a:cs typeface="Arial"/>
              </a:rPr>
              <a:t>InBev</a:t>
            </a:r>
            <a:r>
              <a:rPr lang="en-IN" sz="1050" i="1" dirty="0">
                <a:solidFill>
                  <a:srgbClr val="B7B7B7"/>
                </a:solidFill>
                <a:latin typeface="Arial"/>
                <a:cs typeface="Arial"/>
              </a:rPr>
              <a:t>'s </a:t>
            </a:r>
            <a:r>
              <a:rPr sz="1050" i="1" spc="-25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B7B7B7"/>
                </a:solidFill>
                <a:latin typeface="Arial"/>
                <a:cs typeface="Arial"/>
              </a:rPr>
              <a:t>agriculture</a:t>
            </a:r>
            <a:r>
              <a:rPr sz="1050" i="1" spc="-2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050" i="1" spc="-10" dirty="0">
                <a:solidFill>
                  <a:srgbClr val="B7B7B7"/>
                </a:solidFill>
                <a:latin typeface="Arial"/>
                <a:cs typeface="Arial"/>
              </a:rPr>
              <a:t>priority.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59150" y="1898650"/>
            <a:ext cx="2616200" cy="3200043"/>
          </a:xfrm>
          <a:prstGeom prst="rect">
            <a:avLst/>
          </a:prstGeom>
          <a:solidFill>
            <a:srgbClr val="EFEDEA"/>
          </a:solidFill>
          <a:ln w="3175">
            <a:solidFill>
              <a:srgbClr val="EFEDE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</a:pPr>
            <a:r>
              <a:rPr sz="1050" b="1" dirty="0">
                <a:solidFill>
                  <a:srgbClr val="141414"/>
                </a:solidFill>
                <a:latin typeface="Arial"/>
                <a:cs typeface="Arial"/>
              </a:rPr>
              <a:t>WATER</a:t>
            </a:r>
            <a:r>
              <a:rPr sz="1050" b="1" spc="-40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141414"/>
                </a:solidFill>
                <a:latin typeface="Arial"/>
                <a:cs typeface="Arial"/>
              </a:rPr>
              <a:t>STEWARDSHIP</a:t>
            </a: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050" dirty="0">
              <a:latin typeface="Arial"/>
              <a:cs typeface="Arial"/>
            </a:endParaRPr>
          </a:p>
          <a:p>
            <a:pPr marL="234950" marR="715010">
              <a:lnSpc>
                <a:spcPct val="120700"/>
              </a:lnSpc>
              <a:spcBef>
                <a:spcPts val="5"/>
              </a:spcBef>
            </a:pPr>
            <a:r>
              <a:rPr sz="1050" i="1" dirty="0">
                <a:solidFill>
                  <a:srgbClr val="141414"/>
                </a:solidFill>
                <a:latin typeface="Arial"/>
                <a:cs typeface="Arial"/>
              </a:rPr>
              <a:t>Prioritize efficient operations </a:t>
            </a:r>
            <a:r>
              <a:rPr sz="1050" i="1" spc="-25" dirty="0">
                <a:solidFill>
                  <a:srgbClr val="141414"/>
                </a:solidFill>
                <a:latin typeface="Arial"/>
                <a:cs typeface="Arial"/>
              </a:rPr>
              <a:t>and </a:t>
            </a:r>
            <a:r>
              <a:rPr sz="1050" i="1" dirty="0">
                <a:solidFill>
                  <a:srgbClr val="141414"/>
                </a:solidFill>
                <a:latin typeface="Arial"/>
                <a:cs typeface="Arial"/>
              </a:rPr>
              <a:t>watershed-aware </a:t>
            </a:r>
            <a:r>
              <a:rPr sz="1050" i="1" spc="-10" dirty="0">
                <a:solidFill>
                  <a:srgbClr val="141414"/>
                </a:solidFill>
                <a:latin typeface="Arial"/>
                <a:cs typeface="Arial"/>
              </a:rPr>
              <a:t>partnerships.</a:t>
            </a: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lang="en-IN"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endParaRPr lang="en-IN" sz="1050" dirty="0"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r>
              <a:rPr sz="1050" i="1" dirty="0">
                <a:solidFill>
                  <a:srgbClr val="606060"/>
                </a:solidFill>
                <a:latin typeface="Arial"/>
                <a:cs typeface="Arial"/>
              </a:rPr>
              <a:t>Aligns</a:t>
            </a:r>
            <a:r>
              <a:rPr sz="1050" i="1" spc="-2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606060"/>
                </a:solidFill>
                <a:latin typeface="Arial"/>
                <a:cs typeface="Arial"/>
              </a:rPr>
              <a:t>with</a:t>
            </a:r>
            <a:r>
              <a:rPr sz="1050" i="1" spc="-2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606060"/>
                </a:solidFill>
                <a:latin typeface="Arial"/>
                <a:cs typeface="Arial"/>
              </a:rPr>
              <a:t>AB</a:t>
            </a:r>
            <a:r>
              <a:rPr sz="1050" i="1" spc="-2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606060"/>
                </a:solidFill>
                <a:latin typeface="Arial"/>
                <a:cs typeface="Arial"/>
              </a:rPr>
              <a:t>InBev</a:t>
            </a:r>
            <a:r>
              <a:rPr lang="en-IN" sz="1050" i="1" dirty="0">
                <a:solidFill>
                  <a:srgbClr val="606060"/>
                </a:solidFill>
                <a:latin typeface="Arial"/>
                <a:cs typeface="Arial"/>
              </a:rPr>
              <a:t>'</a:t>
            </a:r>
            <a:r>
              <a:rPr sz="1050" i="1" dirty="0">
                <a:solidFill>
                  <a:srgbClr val="606060"/>
                </a:solidFill>
                <a:latin typeface="Arial"/>
                <a:cs typeface="Arial"/>
              </a:rPr>
              <a:t>s</a:t>
            </a:r>
            <a:r>
              <a:rPr sz="1050" i="1" spc="-2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606060"/>
                </a:solidFill>
                <a:latin typeface="Arial"/>
                <a:cs typeface="Arial"/>
              </a:rPr>
              <a:t>water</a:t>
            </a:r>
            <a:r>
              <a:rPr sz="1050" i="1" spc="-2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50" i="1" spc="-10" dirty="0">
                <a:solidFill>
                  <a:srgbClr val="606060"/>
                </a:solidFill>
                <a:latin typeface="Arial"/>
                <a:cs typeface="Arial"/>
              </a:rPr>
              <a:t>goals.</a:t>
            </a:r>
            <a:endParaRPr lang="en-IN" sz="1050" i="1" spc="-10" dirty="0">
              <a:solidFill>
                <a:srgbClr val="606060"/>
              </a:solidFill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endParaRPr sz="105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78550" y="1898650"/>
            <a:ext cx="2616200" cy="3207738"/>
          </a:xfrm>
          <a:prstGeom prst="rect">
            <a:avLst/>
          </a:prstGeom>
          <a:solidFill>
            <a:srgbClr val="161616"/>
          </a:solidFill>
          <a:ln w="3175">
            <a:solidFill>
              <a:srgbClr val="16161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050" dirty="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</a:pP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CIRCULAR</a:t>
            </a:r>
            <a:r>
              <a:rPr sz="105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Arial"/>
                <a:cs typeface="Arial"/>
              </a:rPr>
              <a:t>PACKAGING</a:t>
            </a: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050" dirty="0">
              <a:latin typeface="Arial"/>
              <a:cs typeface="Arial"/>
            </a:endParaRPr>
          </a:p>
          <a:p>
            <a:pPr marL="234950" marR="422909">
              <a:lnSpc>
                <a:spcPct val="120700"/>
              </a:lnSpc>
              <a:spcBef>
                <a:spcPts val="5"/>
              </a:spcBef>
            </a:pPr>
            <a:r>
              <a:rPr sz="1050" i="1" dirty="0">
                <a:solidFill>
                  <a:srgbClr val="FFFFFF"/>
                </a:solidFill>
                <a:latin typeface="Arial"/>
                <a:cs typeface="Arial"/>
              </a:rPr>
              <a:t>Design recovery / recycling </a:t>
            </a:r>
            <a:r>
              <a:rPr sz="1050" i="1" spc="-10" dirty="0">
                <a:solidFill>
                  <a:srgbClr val="FFFFFF"/>
                </a:solidFill>
                <a:latin typeface="Arial"/>
                <a:cs typeface="Arial"/>
              </a:rPr>
              <a:t>mechanics </a:t>
            </a:r>
            <a:r>
              <a:rPr sz="1050" i="1" dirty="0">
                <a:solidFill>
                  <a:srgbClr val="FFFFFF"/>
                </a:solidFill>
                <a:latin typeface="Arial"/>
                <a:cs typeface="Arial"/>
              </a:rPr>
              <a:t>around the can </a:t>
            </a:r>
            <a:r>
              <a:rPr sz="1050" i="1" spc="-10" dirty="0">
                <a:solidFill>
                  <a:srgbClr val="FFFFFF"/>
                </a:solidFill>
                <a:latin typeface="Arial"/>
                <a:cs typeface="Arial"/>
              </a:rPr>
              <a:t>journey.</a:t>
            </a: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lang="en-IN"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endParaRPr lang="en-IN" sz="1050" dirty="0"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r>
              <a:rPr sz="1050" i="1" dirty="0">
                <a:solidFill>
                  <a:srgbClr val="B7B7B7"/>
                </a:solidFill>
                <a:latin typeface="Arial"/>
                <a:cs typeface="Arial"/>
              </a:rPr>
              <a:t>Aligns</a:t>
            </a:r>
            <a:r>
              <a:rPr sz="1050" i="1" spc="-2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B7B7B7"/>
                </a:solidFill>
                <a:latin typeface="Arial"/>
                <a:cs typeface="Arial"/>
              </a:rPr>
              <a:t>with</a:t>
            </a:r>
            <a:r>
              <a:rPr sz="1050" i="1" spc="-2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B7B7B7"/>
                </a:solidFill>
                <a:latin typeface="Arial"/>
                <a:cs typeface="Arial"/>
              </a:rPr>
              <a:t>circular</a:t>
            </a:r>
            <a:r>
              <a:rPr sz="1050" i="1" spc="-15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B7B7B7"/>
                </a:solidFill>
                <a:latin typeface="Arial"/>
                <a:cs typeface="Arial"/>
              </a:rPr>
              <a:t>packaging</a:t>
            </a:r>
            <a:r>
              <a:rPr sz="1050" i="1" spc="-2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050" i="1" spc="-10" dirty="0">
                <a:solidFill>
                  <a:srgbClr val="B7B7B7"/>
                </a:solidFill>
                <a:latin typeface="Arial"/>
                <a:cs typeface="Arial"/>
              </a:rPr>
              <a:t>ambition.</a:t>
            </a:r>
            <a:endParaRPr lang="en-IN" sz="1050" i="1" spc="-10" dirty="0">
              <a:solidFill>
                <a:srgbClr val="B7B7B7"/>
              </a:solidFill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endParaRPr sz="105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97950" y="1898650"/>
            <a:ext cx="2616200" cy="3207738"/>
          </a:xfrm>
          <a:prstGeom prst="rect">
            <a:avLst/>
          </a:prstGeom>
          <a:solidFill>
            <a:srgbClr val="EFEDEA"/>
          </a:solidFill>
          <a:ln w="3175">
            <a:solidFill>
              <a:srgbClr val="EFEDE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050" dirty="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</a:pPr>
            <a:r>
              <a:rPr sz="1050" b="1" dirty="0">
                <a:solidFill>
                  <a:srgbClr val="141414"/>
                </a:solidFill>
                <a:latin typeface="Arial"/>
                <a:cs typeface="Arial"/>
              </a:rPr>
              <a:t>CLIMATE</a:t>
            </a:r>
            <a:r>
              <a:rPr sz="1050" b="1" spc="-4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141414"/>
                </a:solidFill>
                <a:latin typeface="Arial"/>
                <a:cs typeface="Arial"/>
              </a:rPr>
              <a:t>ACTION</a:t>
            </a: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050" dirty="0">
              <a:latin typeface="Arial"/>
              <a:cs typeface="Arial"/>
            </a:endParaRPr>
          </a:p>
          <a:p>
            <a:pPr marL="234950" marR="645160">
              <a:lnSpc>
                <a:spcPct val="120700"/>
              </a:lnSpc>
              <a:spcBef>
                <a:spcPts val="5"/>
              </a:spcBef>
            </a:pPr>
            <a:r>
              <a:rPr sz="1050" i="1" dirty="0">
                <a:solidFill>
                  <a:srgbClr val="141414"/>
                </a:solidFill>
                <a:latin typeface="Arial"/>
                <a:cs typeface="Arial"/>
              </a:rPr>
              <a:t>Explore lower-carbon delivery </a:t>
            </a:r>
            <a:r>
              <a:rPr sz="1050" i="1" spc="-25" dirty="0">
                <a:solidFill>
                  <a:srgbClr val="141414"/>
                </a:solidFill>
                <a:latin typeface="Arial"/>
                <a:cs typeface="Arial"/>
              </a:rPr>
              <a:t>and </a:t>
            </a:r>
            <a:r>
              <a:rPr sz="1050" i="1" dirty="0">
                <a:solidFill>
                  <a:srgbClr val="141414"/>
                </a:solidFill>
                <a:latin typeface="Arial"/>
                <a:cs typeface="Arial"/>
              </a:rPr>
              <a:t>logistics </a:t>
            </a:r>
            <a:r>
              <a:rPr sz="1050" i="1" spc="-10" dirty="0">
                <a:solidFill>
                  <a:srgbClr val="141414"/>
                </a:solidFill>
                <a:latin typeface="Arial"/>
                <a:cs typeface="Arial"/>
              </a:rPr>
              <a:t>partnerships.</a:t>
            </a: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lang="en-IN"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endParaRPr lang="en-IN" sz="1050" dirty="0"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r>
              <a:rPr sz="1050" i="1" dirty="0">
                <a:solidFill>
                  <a:srgbClr val="606060"/>
                </a:solidFill>
                <a:latin typeface="Arial"/>
                <a:cs typeface="Arial"/>
              </a:rPr>
              <a:t>Aligns</a:t>
            </a:r>
            <a:r>
              <a:rPr sz="105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606060"/>
                </a:solidFill>
                <a:latin typeface="Arial"/>
                <a:cs typeface="Arial"/>
              </a:rPr>
              <a:t>with </a:t>
            </a:r>
            <a:r>
              <a:rPr sz="1050" i="1" spc="-10" dirty="0">
                <a:solidFill>
                  <a:srgbClr val="606060"/>
                </a:solidFill>
                <a:latin typeface="Arial"/>
                <a:cs typeface="Arial"/>
              </a:rPr>
              <a:t>emissions-</a:t>
            </a:r>
            <a:r>
              <a:rPr sz="1050" i="1" dirty="0">
                <a:solidFill>
                  <a:srgbClr val="606060"/>
                </a:solidFill>
                <a:latin typeface="Arial"/>
                <a:cs typeface="Arial"/>
              </a:rPr>
              <a:t>reduction</a:t>
            </a:r>
            <a:r>
              <a:rPr sz="105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50" i="1" spc="-10" dirty="0">
                <a:solidFill>
                  <a:srgbClr val="606060"/>
                </a:solidFill>
                <a:latin typeface="Arial"/>
                <a:cs typeface="Arial"/>
              </a:rPr>
              <a:t>agenda</a:t>
            </a:r>
            <a:endParaRPr lang="en-IN" sz="1050" i="1" spc="-10" dirty="0">
              <a:solidFill>
                <a:srgbClr val="606060"/>
              </a:solidFill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r>
              <a:rPr sz="1050" i="1" spc="-10" dirty="0">
                <a:solidFill>
                  <a:srgbClr val="606060"/>
                </a:solidFill>
                <a:latin typeface="Arial"/>
                <a:cs typeface="Arial"/>
              </a:rPr>
              <a:t>.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1073" y="5584731"/>
            <a:ext cx="979995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Important</a:t>
            </a:r>
            <a:r>
              <a:rPr sz="12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distinction</a:t>
            </a:r>
            <a:r>
              <a:rPr sz="1200" b="1" spc="26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|</a:t>
            </a:r>
            <a:r>
              <a:rPr sz="1200" b="1" spc="26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These are</a:t>
            </a:r>
            <a:r>
              <a:rPr sz="12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proposed</a:t>
            </a:r>
            <a:r>
              <a:rPr sz="12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GTM</a:t>
            </a:r>
            <a:r>
              <a:rPr sz="12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initiatives</a:t>
            </a:r>
            <a:r>
              <a:rPr sz="12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mapped</a:t>
            </a:r>
            <a:r>
              <a:rPr sz="12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to AB</a:t>
            </a:r>
            <a:r>
              <a:rPr sz="12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InBev</a:t>
            </a:r>
            <a:r>
              <a:rPr lang="en-IN" sz="1200" b="1" dirty="0">
                <a:solidFill>
                  <a:srgbClr val="141414"/>
                </a:solidFill>
                <a:latin typeface="Arial"/>
                <a:cs typeface="Arial"/>
              </a:rPr>
              <a:t>'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s</a:t>
            </a:r>
            <a:r>
              <a:rPr sz="12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framework;</a:t>
            </a:r>
            <a:r>
              <a:rPr sz="12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they</a:t>
            </a:r>
            <a:r>
              <a:rPr sz="12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are not</a:t>
            </a:r>
            <a:r>
              <a:rPr sz="12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presented</a:t>
            </a:r>
            <a:r>
              <a:rPr sz="12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as</a:t>
            </a:r>
            <a:r>
              <a:rPr sz="12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existing</a:t>
            </a:r>
            <a:r>
              <a:rPr sz="12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Budweiser</a:t>
            </a:r>
            <a:r>
              <a:rPr sz="12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Beats </a:t>
            </a:r>
            <a:r>
              <a:rPr sz="1200" b="1" spc="-10" dirty="0">
                <a:solidFill>
                  <a:srgbClr val="141414"/>
                </a:solidFill>
                <a:latin typeface="Arial"/>
                <a:cs typeface="Arial"/>
              </a:rPr>
              <a:t>commitments.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3400" y="6343522"/>
            <a:ext cx="652335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Source:</a:t>
            </a:r>
            <a:r>
              <a:rPr sz="700" i="1" spc="-1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AB</a:t>
            </a:r>
            <a:r>
              <a:rPr sz="7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InBev</a:t>
            </a:r>
            <a:r>
              <a:rPr sz="7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sustainability</a:t>
            </a:r>
            <a:r>
              <a:rPr sz="7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materials; current</a:t>
            </a:r>
            <a:r>
              <a:rPr sz="7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2030</a:t>
            </a:r>
            <a:r>
              <a:rPr sz="7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goals</a:t>
            </a:r>
            <a:r>
              <a:rPr sz="7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focus</a:t>
            </a:r>
            <a:r>
              <a:rPr sz="7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on Agriculture,</a:t>
            </a:r>
            <a:r>
              <a:rPr sz="7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Water,</a:t>
            </a:r>
            <a:r>
              <a:rPr sz="7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and</a:t>
            </a:r>
            <a:r>
              <a:rPr sz="7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Energy</a:t>
            </a:r>
            <a:r>
              <a:rPr sz="7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&amp; Emissions,</a:t>
            </a:r>
            <a:r>
              <a:rPr sz="7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building</a:t>
            </a:r>
            <a:r>
              <a:rPr sz="7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on</a:t>
            </a:r>
            <a:r>
              <a:rPr sz="7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prior</a:t>
            </a:r>
            <a:r>
              <a:rPr sz="7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packaging and</a:t>
            </a:r>
            <a:r>
              <a:rPr sz="7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606060"/>
                </a:solidFill>
                <a:latin typeface="Arial"/>
                <a:cs typeface="Arial"/>
              </a:rPr>
              <a:t>climate</a:t>
            </a:r>
            <a:r>
              <a:rPr sz="700" i="1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700" i="1" spc="-10" dirty="0">
                <a:solidFill>
                  <a:srgbClr val="606060"/>
                </a:solidFill>
                <a:latin typeface="Arial"/>
                <a:cs typeface="Arial"/>
              </a:rPr>
              <a:t>priorities.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3400" y="6578601"/>
            <a:ext cx="20574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Section</a:t>
            </a:r>
            <a:r>
              <a:rPr sz="90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5</a:t>
            </a:r>
            <a:r>
              <a:rPr sz="90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Sustainability</a:t>
            </a:r>
            <a:r>
              <a:rPr sz="90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Alignment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25000" y="6578601"/>
            <a:ext cx="231711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Budweiser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Beats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India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Growth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Strategy</a:t>
            </a:r>
            <a:endParaRPr sz="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81000" y="-190500"/>
            <a:ext cx="12649200" cy="7238999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3400" y="381000"/>
            <a:ext cx="3124200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-10" dirty="0">
                <a:solidFill>
                  <a:srgbClr val="D1A31E"/>
                </a:solidFill>
                <a:latin typeface="Arial"/>
                <a:cs typeface="Arial"/>
              </a:rPr>
              <a:t>GO-TO-</a:t>
            </a:r>
            <a:r>
              <a:rPr sz="1250" b="1" dirty="0">
                <a:solidFill>
                  <a:srgbClr val="D1A31E"/>
                </a:solidFill>
                <a:latin typeface="Arial"/>
                <a:cs typeface="Arial"/>
              </a:rPr>
              <a:t>MARKET</a:t>
            </a:r>
            <a:r>
              <a:rPr sz="1250" b="1" spc="-15" dirty="0">
                <a:solidFill>
                  <a:srgbClr val="D1A31E"/>
                </a:solidFill>
                <a:latin typeface="Arial"/>
                <a:cs typeface="Arial"/>
              </a:rPr>
              <a:t> </a:t>
            </a:r>
            <a:r>
              <a:rPr sz="1250" b="1" spc="-10" dirty="0">
                <a:solidFill>
                  <a:srgbClr val="D1A31E"/>
                </a:solidFill>
                <a:latin typeface="Arial"/>
                <a:cs typeface="Arial"/>
              </a:rPr>
              <a:t>RECOMMENDATION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One</a:t>
            </a:r>
            <a:r>
              <a:rPr spc="-30" dirty="0"/>
              <a:t> </a:t>
            </a:r>
            <a:r>
              <a:rPr dirty="0"/>
              <a:t>Answer,</a:t>
            </a:r>
            <a:r>
              <a:rPr spc="-15" dirty="0"/>
              <a:t> </a:t>
            </a:r>
            <a:r>
              <a:rPr dirty="0"/>
              <a:t>Seven</a:t>
            </a:r>
            <a:r>
              <a:rPr spc="-15" dirty="0"/>
              <a:t> </a:t>
            </a:r>
            <a:r>
              <a:rPr spc="-10" dirty="0"/>
              <a:t>Questions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3400" y="1181100"/>
            <a:ext cx="42652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solidFill>
                  <a:srgbClr val="B7B7B7"/>
                </a:solidFill>
                <a:latin typeface="Arial"/>
                <a:cs typeface="Arial"/>
              </a:rPr>
              <a:t>A</a:t>
            </a:r>
            <a:r>
              <a:rPr sz="1100" i="1" spc="-25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B7B7B7"/>
                </a:solidFill>
                <a:latin typeface="Arial"/>
                <a:cs typeface="Arial"/>
              </a:rPr>
              <a:t>focused</a:t>
            </a:r>
            <a:r>
              <a:rPr sz="1100" i="1" spc="-2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B7B7B7"/>
                </a:solidFill>
                <a:latin typeface="Arial"/>
                <a:cs typeface="Arial"/>
              </a:rPr>
              <a:t>launch</a:t>
            </a:r>
            <a:r>
              <a:rPr sz="1100" i="1" spc="-2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B7B7B7"/>
                </a:solidFill>
                <a:latin typeface="Arial"/>
                <a:cs typeface="Arial"/>
              </a:rPr>
              <a:t>thesis</a:t>
            </a:r>
            <a:r>
              <a:rPr sz="1100" i="1" spc="-2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B7B7B7"/>
                </a:solidFill>
                <a:latin typeface="Arial"/>
                <a:cs typeface="Arial"/>
              </a:rPr>
              <a:t>with</a:t>
            </a:r>
            <a:r>
              <a:rPr sz="1100" i="1" spc="-2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B7B7B7"/>
                </a:solidFill>
                <a:latin typeface="Arial"/>
                <a:cs typeface="Arial"/>
              </a:rPr>
              <a:t>explicit</a:t>
            </a:r>
            <a:r>
              <a:rPr sz="1100" i="1" spc="-2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B7B7B7"/>
                </a:solidFill>
                <a:latin typeface="Arial"/>
                <a:cs typeface="Arial"/>
              </a:rPr>
              <a:t>assumptions</a:t>
            </a:r>
            <a:r>
              <a:rPr sz="1100" i="1" spc="-2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B7B7B7"/>
                </a:solidFill>
                <a:latin typeface="Arial"/>
                <a:cs typeface="Arial"/>
              </a:rPr>
              <a:t>and</a:t>
            </a:r>
            <a:r>
              <a:rPr sz="1100" i="1" spc="-2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B7B7B7"/>
                </a:solidFill>
                <a:latin typeface="Arial"/>
                <a:cs typeface="Arial"/>
              </a:rPr>
              <a:t>decision</a:t>
            </a:r>
            <a:r>
              <a:rPr sz="1100" i="1" spc="-2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B7B7B7"/>
                </a:solidFill>
                <a:latin typeface="Arial"/>
                <a:cs typeface="Arial"/>
              </a:rPr>
              <a:t>logic.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9750" y="1835150"/>
            <a:ext cx="11112500" cy="462947"/>
          </a:xfrm>
          <a:prstGeom prst="rect">
            <a:avLst/>
          </a:prstGeom>
          <a:solidFill>
            <a:srgbClr val="212121"/>
          </a:solidFill>
          <a:ln w="3175">
            <a:solidFill>
              <a:srgbClr val="212121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96850">
              <a:lnSpc>
                <a:spcPct val="100000"/>
              </a:lnSpc>
              <a:tabLst>
                <a:tab pos="2063114" algn="l"/>
              </a:tabLst>
            </a:pPr>
            <a:r>
              <a:rPr sz="1200" b="1" spc="-20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WHO</a:t>
            </a:r>
            <a:r>
              <a:rPr lang="en-IN" sz="1200" b="1" spc="-20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r>
              <a:rPr sz="1200" b="1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Campus</a:t>
            </a:r>
            <a:r>
              <a:rPr sz="1200" i="1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Hustlers</a:t>
            </a:r>
            <a:r>
              <a:rPr sz="1200" i="1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sz="1200" i="1" spc="-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Metro</a:t>
            </a:r>
            <a:r>
              <a:rPr sz="1200" i="1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Grinders</a:t>
            </a:r>
            <a:r>
              <a:rPr sz="1200" i="1" spc="-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(18</a:t>
            </a:r>
            <a:r>
              <a:rPr lang="en-IN"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32)</a:t>
            </a:r>
            <a:r>
              <a:rPr sz="1200" i="1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sz="1200" i="1" spc="-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strategic</a:t>
            </a:r>
            <a:r>
              <a:rPr sz="1200" i="1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priority</a:t>
            </a:r>
            <a:r>
              <a:rPr sz="1200" i="1" spc="-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segments.</a:t>
            </a:r>
            <a:endParaRPr lang="en-IN" sz="1200" i="1" spc="-1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6850">
              <a:lnSpc>
                <a:spcPct val="100000"/>
              </a:lnSpc>
              <a:tabLst>
                <a:tab pos="2063114" algn="l"/>
              </a:tabLst>
            </a:pP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9750" y="2432050"/>
            <a:ext cx="11112500" cy="462947"/>
          </a:xfrm>
          <a:prstGeom prst="rect">
            <a:avLst/>
          </a:prstGeom>
          <a:solidFill>
            <a:srgbClr val="212121"/>
          </a:solidFill>
          <a:ln w="3175">
            <a:solidFill>
              <a:srgbClr val="212121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96850">
              <a:lnSpc>
                <a:spcPct val="100000"/>
              </a:lnSpc>
              <a:tabLst>
                <a:tab pos="2063114" algn="l"/>
              </a:tabLst>
            </a:pPr>
            <a:r>
              <a:rPr sz="1200" b="1" spc="-10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en-IN" sz="1200" b="1" spc="-10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r>
              <a:rPr sz="1200" b="1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Wave</a:t>
            </a:r>
            <a:r>
              <a:rPr sz="1200" i="1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1:</a:t>
            </a:r>
            <a:r>
              <a:rPr sz="1200" i="1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Bengaluru,</a:t>
            </a:r>
            <a:r>
              <a:rPr sz="1200" i="1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Delhi</a:t>
            </a:r>
            <a:r>
              <a:rPr sz="1200" i="1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NCR,</a:t>
            </a:r>
            <a:r>
              <a:rPr sz="1200" i="1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Hyderabad,</a:t>
            </a:r>
            <a:r>
              <a:rPr sz="1200" i="1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Mumbai,</a:t>
            </a:r>
            <a:r>
              <a:rPr sz="1200" i="1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Pune.</a:t>
            </a:r>
            <a:endParaRPr lang="en-IN" sz="1200" i="1" spc="-1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6850">
              <a:lnSpc>
                <a:spcPct val="100000"/>
              </a:lnSpc>
              <a:tabLst>
                <a:tab pos="2063114" algn="l"/>
              </a:tabLst>
            </a:pP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9750" y="3028950"/>
            <a:ext cx="11112500" cy="462947"/>
          </a:xfrm>
          <a:prstGeom prst="rect">
            <a:avLst/>
          </a:prstGeom>
          <a:solidFill>
            <a:srgbClr val="212121"/>
          </a:solidFill>
          <a:ln w="3175">
            <a:solidFill>
              <a:srgbClr val="212121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96850">
              <a:lnSpc>
                <a:spcPct val="100000"/>
              </a:lnSpc>
              <a:tabLst>
                <a:tab pos="2063114" algn="l"/>
              </a:tabLst>
            </a:pPr>
            <a:r>
              <a:rPr sz="1200" b="1" spc="-20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</a:t>
            </a:r>
            <a:r>
              <a:rPr lang="en-IN" sz="1200" b="1" spc="-20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r>
              <a:rPr sz="1200" b="1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200" i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Q-commerce-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led</a:t>
            </a:r>
            <a:r>
              <a:rPr sz="1200" i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trial;</a:t>
            </a:r>
            <a:r>
              <a:rPr sz="1200" i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e-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commerce</a:t>
            </a:r>
            <a:r>
              <a:rPr sz="1200" i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1200" i="1" spc="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repeat/subscription;</a:t>
            </a:r>
            <a:r>
              <a:rPr sz="1200" i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selective</a:t>
            </a:r>
            <a:r>
              <a:rPr sz="1200" i="1" spc="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trade</a:t>
            </a:r>
            <a:r>
              <a:rPr sz="1200" i="1" spc="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expansion.</a:t>
            </a:r>
            <a:endParaRPr lang="en-IN" sz="1200" i="1" spc="-1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6850">
              <a:lnSpc>
                <a:spcPct val="100000"/>
              </a:lnSpc>
              <a:tabLst>
                <a:tab pos="2063114" algn="l"/>
              </a:tabLst>
            </a:pP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9750" y="3625850"/>
            <a:ext cx="11112500" cy="462947"/>
          </a:xfrm>
          <a:prstGeom prst="rect">
            <a:avLst/>
          </a:prstGeom>
          <a:solidFill>
            <a:srgbClr val="212121"/>
          </a:solidFill>
          <a:ln w="3175">
            <a:solidFill>
              <a:srgbClr val="212121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96850">
              <a:lnSpc>
                <a:spcPct val="100000"/>
              </a:lnSpc>
              <a:tabLst>
                <a:tab pos="2063114" algn="l"/>
              </a:tabLst>
            </a:pPr>
            <a:r>
              <a:rPr sz="1200" b="1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</a:t>
            </a:r>
            <a:r>
              <a:rPr sz="1200" b="1" spc="-10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POSITIONING</a:t>
            </a:r>
            <a:r>
              <a:rPr lang="en-IN" sz="1200" b="1" spc="-10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r>
              <a:rPr sz="1200" b="1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Cognitive</a:t>
            </a:r>
            <a:r>
              <a:rPr sz="1200" i="1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energy</a:t>
            </a:r>
            <a:r>
              <a:rPr sz="1200" i="1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1200" i="1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creative,</a:t>
            </a:r>
            <a:r>
              <a:rPr sz="1200" i="1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ambitious</a:t>
            </a:r>
            <a:r>
              <a:rPr sz="1200" i="1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minds·</a:t>
            </a:r>
            <a:r>
              <a:rPr sz="1200" i="1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sz="1200" i="1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focus,</a:t>
            </a:r>
            <a:r>
              <a:rPr sz="1200" i="1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hustle</a:t>
            </a:r>
            <a:r>
              <a:rPr sz="1200" i="1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200" i="1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performance.</a:t>
            </a:r>
            <a:endParaRPr lang="en-IN" sz="1200" i="1" spc="-1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6850">
              <a:lnSpc>
                <a:spcPct val="100000"/>
              </a:lnSpc>
              <a:tabLst>
                <a:tab pos="2063114" algn="l"/>
              </a:tabLst>
            </a:pP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9750" y="4222750"/>
            <a:ext cx="11112500" cy="462947"/>
          </a:xfrm>
          <a:prstGeom prst="rect">
            <a:avLst/>
          </a:prstGeom>
          <a:solidFill>
            <a:srgbClr val="212121"/>
          </a:solidFill>
          <a:ln w="3175">
            <a:solidFill>
              <a:srgbClr val="212121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96850">
              <a:lnSpc>
                <a:spcPct val="100000"/>
              </a:lnSpc>
              <a:tabLst>
                <a:tab pos="2063114" algn="l"/>
              </a:tabLst>
            </a:pPr>
            <a:r>
              <a:rPr sz="1200" b="1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</a:t>
            </a:r>
            <a:r>
              <a:rPr sz="1200" b="1" spc="-15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sz="1200" b="1" spc="-15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spc="-10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PROMOTION</a:t>
            </a:r>
            <a:r>
              <a:rPr lang="en-IN" sz="1200" b="1" spc="-10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r>
              <a:rPr sz="1200" b="1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lang="en-IN"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200" i="1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Rs.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</a:t>
            </a:r>
            <a:r>
              <a:rPr lang="en-IN"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IN"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250ml</a:t>
            </a:r>
            <a:r>
              <a:rPr sz="1200" i="1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sz="1200" i="1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sz="1200" i="1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illustrative</a:t>
            </a:r>
            <a:r>
              <a:rPr sz="1200" i="1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anchor;</a:t>
            </a:r>
            <a:r>
              <a:rPr sz="1200" i="1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  <a:r>
              <a:rPr sz="1200" i="1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bundles,</a:t>
            </a:r>
            <a:r>
              <a:rPr sz="1200" i="1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subscriptions</a:t>
            </a:r>
            <a:r>
              <a:rPr sz="1200" i="1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200" i="1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trial</a:t>
            </a:r>
            <a:r>
              <a:rPr sz="1200" i="1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offers.</a:t>
            </a:r>
            <a:endParaRPr lang="en-IN" sz="1200" i="1" spc="-1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6850">
              <a:lnSpc>
                <a:spcPct val="100000"/>
              </a:lnSpc>
              <a:tabLst>
                <a:tab pos="2063114" algn="l"/>
              </a:tabLst>
            </a:pP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9750" y="4819650"/>
            <a:ext cx="11112500" cy="462947"/>
          </a:xfrm>
          <a:prstGeom prst="rect">
            <a:avLst/>
          </a:prstGeom>
          <a:solidFill>
            <a:srgbClr val="212121"/>
          </a:solidFill>
          <a:ln w="3175">
            <a:solidFill>
              <a:srgbClr val="212121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96850">
              <a:lnSpc>
                <a:spcPct val="100000"/>
              </a:lnSpc>
              <a:tabLst>
                <a:tab pos="2063114" algn="l"/>
              </a:tabLst>
            </a:pPr>
            <a:r>
              <a:rPr sz="1200" b="1" spc="-10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SUSTAINABILITY</a:t>
            </a:r>
            <a:r>
              <a:rPr lang="en-IN" sz="1200" b="1" spc="-10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r>
              <a:rPr sz="1200" b="1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Circular</a:t>
            </a:r>
            <a:r>
              <a:rPr sz="1200" i="1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packaging,</a:t>
            </a:r>
            <a:r>
              <a:rPr sz="1200" i="1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water</a:t>
            </a:r>
            <a:r>
              <a:rPr sz="1200" i="1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efficiency</a:t>
            </a:r>
            <a:r>
              <a:rPr sz="1200" i="1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200" i="1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lower-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carbon</a:t>
            </a:r>
            <a:r>
              <a:rPr sz="1200" i="1" spc="-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delivery</a:t>
            </a:r>
            <a:r>
              <a:rPr sz="1200" i="1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partnerships.</a:t>
            </a:r>
            <a:endParaRPr lang="en-IN" sz="1200" i="1" spc="-1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6850">
              <a:lnSpc>
                <a:spcPct val="100000"/>
              </a:lnSpc>
              <a:tabLst>
                <a:tab pos="2063114" algn="l"/>
              </a:tabLst>
            </a:pP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9750" y="5416550"/>
            <a:ext cx="11112500" cy="462947"/>
          </a:xfrm>
          <a:prstGeom prst="rect">
            <a:avLst/>
          </a:prstGeom>
          <a:solidFill>
            <a:srgbClr val="212121"/>
          </a:solidFill>
          <a:ln w="3175">
            <a:solidFill>
              <a:srgbClr val="212121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96850">
              <a:lnSpc>
                <a:spcPct val="100000"/>
              </a:lnSpc>
              <a:tabLst>
                <a:tab pos="2063114" algn="l"/>
              </a:tabLst>
            </a:pPr>
            <a:r>
              <a:rPr sz="1200" b="1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  <a:r>
              <a:rPr sz="1200" b="1" spc="-45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spc="-10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r>
              <a:rPr lang="en-IN" sz="1200" b="1" spc="-10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r>
              <a:rPr sz="1200" b="1" dirty="0">
                <a:solidFill>
                  <a:srgbClr val="D1A3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12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₹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</a:t>
            </a:r>
            <a:r>
              <a:rPr sz="1200" i="1" spc="-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</a:t>
            </a:r>
            <a:r>
              <a:rPr sz="1200" i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200" i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IN" sz="12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₹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95</a:t>
            </a:r>
            <a:r>
              <a:rPr sz="1200" i="1" spc="-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</a:t>
            </a:r>
            <a:r>
              <a:rPr lang="en-IN"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</a:t>
            </a:r>
            <a:r>
              <a:rPr lang="en-IN" sz="1200" i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2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₹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  <a:r>
              <a:rPr sz="1200" i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</a:t>
            </a:r>
            <a:r>
              <a:rPr sz="1200" i="1" spc="-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illustrative</a:t>
            </a:r>
            <a:r>
              <a:rPr sz="1200" i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</a:t>
            </a:r>
            <a:r>
              <a:rPr sz="1200" i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case;</a:t>
            </a:r>
            <a:r>
              <a:rPr sz="1200" i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~20M</a:t>
            </a:r>
            <a:r>
              <a:rPr sz="1200" i="1" spc="-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cans</a:t>
            </a:r>
            <a:r>
              <a:rPr sz="1200" i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sz="1200" i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Year</a:t>
            </a:r>
            <a:r>
              <a:rPr sz="1200" i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i="1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endParaRPr lang="en-IN" sz="1200" i="1" spc="-25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6850">
              <a:lnSpc>
                <a:spcPct val="100000"/>
              </a:lnSpc>
              <a:tabLst>
                <a:tab pos="2063114" algn="l"/>
              </a:tabLst>
            </a:pP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3400" y="6166611"/>
            <a:ext cx="64770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solidFill>
                  <a:srgbClr val="BFBFBF"/>
                </a:solidFill>
                <a:latin typeface="Arial"/>
                <a:cs typeface="Arial"/>
              </a:rPr>
              <a:t>Decision</a:t>
            </a:r>
            <a:r>
              <a:rPr sz="900" i="1" spc="-25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BFBFBF"/>
                </a:solidFill>
                <a:latin typeface="Arial"/>
                <a:cs typeface="Arial"/>
              </a:rPr>
              <a:t>rule:</a:t>
            </a:r>
            <a:r>
              <a:rPr sz="900" i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BFBFBF"/>
                </a:solidFill>
                <a:latin typeface="Arial"/>
                <a:cs typeface="Arial"/>
              </a:rPr>
              <a:t>validate</a:t>
            </a:r>
            <a:r>
              <a:rPr sz="900" i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BFBFBF"/>
                </a:solidFill>
                <a:latin typeface="Arial"/>
                <a:cs typeface="Arial"/>
              </a:rPr>
              <a:t>the</a:t>
            </a:r>
            <a:r>
              <a:rPr sz="900" i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BFBFBF"/>
                </a:solidFill>
                <a:latin typeface="Arial"/>
                <a:cs typeface="Arial"/>
              </a:rPr>
              <a:t>commercial</a:t>
            </a:r>
            <a:r>
              <a:rPr sz="900" i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BFBFBF"/>
                </a:solidFill>
                <a:latin typeface="Arial"/>
                <a:cs typeface="Arial"/>
              </a:rPr>
              <a:t>scenario</a:t>
            </a:r>
            <a:r>
              <a:rPr sz="900" i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BFBFBF"/>
                </a:solidFill>
                <a:latin typeface="Arial"/>
                <a:cs typeface="Arial"/>
              </a:rPr>
              <a:t>with</a:t>
            </a:r>
            <a:r>
              <a:rPr sz="900" i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BFBFBF"/>
                </a:solidFill>
                <a:latin typeface="Arial"/>
                <a:cs typeface="Arial"/>
              </a:rPr>
              <a:t>actual</a:t>
            </a:r>
            <a:r>
              <a:rPr sz="900" i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BFBFBF"/>
                </a:solidFill>
                <a:latin typeface="Arial"/>
                <a:cs typeface="Arial"/>
              </a:rPr>
              <a:t>sell-</a:t>
            </a:r>
            <a:r>
              <a:rPr sz="900" i="1" dirty="0">
                <a:solidFill>
                  <a:srgbClr val="BFBFBF"/>
                </a:solidFill>
                <a:latin typeface="Arial"/>
                <a:cs typeface="Arial"/>
              </a:rPr>
              <a:t>out,</a:t>
            </a:r>
            <a:r>
              <a:rPr sz="900" i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BFBFBF"/>
                </a:solidFill>
                <a:latin typeface="Arial"/>
                <a:cs typeface="Arial"/>
              </a:rPr>
              <a:t>margin,</a:t>
            </a:r>
            <a:r>
              <a:rPr sz="900" i="1" spc="-25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BFBFBF"/>
                </a:solidFill>
                <a:latin typeface="Arial"/>
                <a:cs typeface="Arial"/>
              </a:rPr>
              <a:t>repeat</a:t>
            </a:r>
            <a:r>
              <a:rPr sz="900" i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BFBFBF"/>
                </a:solidFill>
                <a:latin typeface="Arial"/>
                <a:cs typeface="Arial"/>
              </a:rPr>
              <a:t>and</a:t>
            </a:r>
            <a:r>
              <a:rPr sz="900" i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BFBFBF"/>
                </a:solidFill>
                <a:latin typeface="Arial"/>
                <a:cs typeface="Arial"/>
              </a:rPr>
              <a:t>platform</a:t>
            </a:r>
            <a:r>
              <a:rPr sz="900" i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BFBFBF"/>
                </a:solidFill>
                <a:latin typeface="Arial"/>
                <a:cs typeface="Arial"/>
              </a:rPr>
              <a:t>economics</a:t>
            </a:r>
            <a:r>
              <a:rPr sz="900" i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BFBFBF"/>
                </a:solidFill>
                <a:latin typeface="Arial"/>
                <a:cs typeface="Arial"/>
              </a:rPr>
              <a:t>before</a:t>
            </a:r>
            <a:r>
              <a:rPr sz="900" i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BFBFBF"/>
                </a:solidFill>
                <a:latin typeface="Arial"/>
                <a:cs typeface="Arial"/>
              </a:rPr>
              <a:t>scaling.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3400" y="6578601"/>
            <a:ext cx="25146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2B2B2"/>
                </a:solidFill>
                <a:latin typeface="Arial"/>
                <a:cs typeface="Arial"/>
              </a:rPr>
              <a:t>Section 6 ·</a:t>
            </a:r>
            <a:r>
              <a:rPr sz="900" b="1" spc="5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B2B2B2"/>
                </a:solidFill>
                <a:latin typeface="Arial"/>
                <a:cs typeface="Arial"/>
              </a:rPr>
              <a:t>Go-To-</a:t>
            </a:r>
            <a:r>
              <a:rPr sz="900" b="1" dirty="0">
                <a:solidFill>
                  <a:srgbClr val="B2B2B2"/>
                </a:solidFill>
                <a:latin typeface="Arial"/>
                <a:cs typeface="Arial"/>
              </a:rPr>
              <a:t>Market </a:t>
            </a:r>
            <a:r>
              <a:rPr sz="900" b="1" spc="-10" dirty="0">
                <a:solidFill>
                  <a:srgbClr val="B2B2B2"/>
                </a:solidFill>
                <a:latin typeface="Arial"/>
                <a:cs typeface="Arial"/>
              </a:rPr>
              <a:t>Recommendation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06000" y="6578601"/>
            <a:ext cx="221917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solidFill>
                  <a:srgbClr val="B2B2B2"/>
                </a:solidFill>
                <a:latin typeface="Arial"/>
                <a:cs typeface="Arial"/>
              </a:rPr>
              <a:t>Budweiser</a:t>
            </a:r>
            <a:r>
              <a:rPr sz="900" i="1" spc="-10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B2B2B2"/>
                </a:solidFill>
                <a:latin typeface="Arial"/>
                <a:cs typeface="Arial"/>
              </a:rPr>
              <a:t>Beats</a:t>
            </a:r>
            <a:r>
              <a:rPr sz="900" i="1" spc="-5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B2B2B2"/>
                </a:solidFill>
                <a:latin typeface="Arial"/>
                <a:cs typeface="Arial"/>
              </a:rPr>
              <a:t>·</a:t>
            </a:r>
            <a:r>
              <a:rPr sz="900" i="1" spc="-5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B2B2B2"/>
                </a:solidFill>
                <a:latin typeface="Arial"/>
                <a:cs typeface="Arial"/>
              </a:rPr>
              <a:t>India</a:t>
            </a:r>
            <a:r>
              <a:rPr sz="900" i="1" spc="-5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B2B2B2"/>
                </a:solidFill>
                <a:latin typeface="Arial"/>
                <a:cs typeface="Arial"/>
              </a:rPr>
              <a:t>Growth</a:t>
            </a:r>
            <a:r>
              <a:rPr sz="900" i="1" spc="-5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B2B2B2"/>
                </a:solidFill>
                <a:latin typeface="Arial"/>
                <a:cs typeface="Arial"/>
              </a:rPr>
              <a:t>Strategy</a:t>
            </a:r>
            <a:endParaRPr sz="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1955" y="-38100"/>
            <a:ext cx="12326190" cy="69723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3" name="object 11">
            <a:extLst>
              <a:ext uri="{FF2B5EF4-FFF2-40B4-BE49-F238E27FC236}">
                <a16:creationId xmlns:a16="http://schemas.microsoft.com/office/drawing/2014/main" id="{D7D533EF-3EAE-8E8C-DEA1-04351F502B45}"/>
              </a:ext>
            </a:extLst>
          </p:cNvPr>
          <p:cNvGrpSpPr/>
          <p:nvPr/>
        </p:nvGrpSpPr>
        <p:grpSpPr>
          <a:xfrm>
            <a:off x="6286225" y="1772140"/>
            <a:ext cx="2752585" cy="1026133"/>
            <a:chOff x="3359150" y="1771650"/>
            <a:chExt cx="2616200" cy="749300"/>
          </a:xfrm>
        </p:grpSpPr>
        <p:sp>
          <p:nvSpPr>
            <p:cNvPr id="34" name="object 12">
              <a:extLst>
                <a:ext uri="{FF2B5EF4-FFF2-40B4-BE49-F238E27FC236}">
                  <a16:creationId xmlns:a16="http://schemas.microsoft.com/office/drawing/2014/main" id="{336171CE-86D3-85AB-04F9-75DD118EB29E}"/>
                </a:ext>
              </a:extLst>
            </p:cNvPr>
            <p:cNvSpPr/>
            <p:nvPr/>
          </p:nvSpPr>
          <p:spPr>
            <a:xfrm>
              <a:off x="3365500" y="1778000"/>
              <a:ext cx="2603500" cy="736600"/>
            </a:xfrm>
            <a:custGeom>
              <a:avLst/>
              <a:gdLst/>
              <a:ahLst/>
              <a:cxnLst/>
              <a:rect l="l" t="t" r="r" b="b"/>
              <a:pathLst>
                <a:path w="2603500" h="736600">
                  <a:moveTo>
                    <a:pt x="2603500" y="0"/>
                  </a:moveTo>
                  <a:lnTo>
                    <a:pt x="0" y="0"/>
                  </a:lnTo>
                  <a:lnTo>
                    <a:pt x="0" y="736600"/>
                  </a:lnTo>
                  <a:lnTo>
                    <a:pt x="2603500" y="736600"/>
                  </a:lnTo>
                  <a:lnTo>
                    <a:pt x="2603500" y="0"/>
                  </a:lnTo>
                  <a:close/>
                </a:path>
              </a:pathLst>
            </a:custGeom>
            <a:solidFill>
              <a:srgbClr val="1E1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13">
              <a:extLst>
                <a:ext uri="{FF2B5EF4-FFF2-40B4-BE49-F238E27FC236}">
                  <a16:creationId xmlns:a16="http://schemas.microsoft.com/office/drawing/2014/main" id="{BD244128-9BAB-5215-818B-EFB7B10EABF3}"/>
                </a:ext>
              </a:extLst>
            </p:cNvPr>
            <p:cNvSpPr/>
            <p:nvPr/>
          </p:nvSpPr>
          <p:spPr>
            <a:xfrm>
              <a:off x="3365500" y="1778000"/>
              <a:ext cx="2603500" cy="736600"/>
            </a:xfrm>
            <a:custGeom>
              <a:avLst/>
              <a:gdLst/>
              <a:ahLst/>
              <a:cxnLst/>
              <a:rect l="l" t="t" r="r" b="b"/>
              <a:pathLst>
                <a:path w="2603500" h="736600">
                  <a:moveTo>
                    <a:pt x="0" y="736600"/>
                  </a:moveTo>
                  <a:lnTo>
                    <a:pt x="2603500" y="736600"/>
                  </a:lnTo>
                  <a:lnTo>
                    <a:pt x="2603500" y="0"/>
                  </a:lnTo>
                  <a:lnTo>
                    <a:pt x="0" y="0"/>
                  </a:lnTo>
                  <a:lnTo>
                    <a:pt x="0" y="736600"/>
                  </a:lnTo>
                  <a:close/>
                </a:path>
              </a:pathLst>
            </a:custGeom>
            <a:ln w="12700">
              <a:solidFill>
                <a:srgbClr val="1E1E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object 3"/>
          <p:cNvSpPr txBox="1"/>
          <p:nvPr/>
        </p:nvSpPr>
        <p:spPr>
          <a:xfrm>
            <a:off x="533400" y="381000"/>
            <a:ext cx="2714560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D1A31E"/>
                </a:solidFill>
                <a:latin typeface="Arial"/>
                <a:cs typeface="Arial"/>
              </a:rPr>
              <a:t>EXPECTED BUSINESS </a:t>
            </a:r>
            <a:r>
              <a:rPr sz="1250" b="1" spc="-10" dirty="0">
                <a:solidFill>
                  <a:srgbClr val="D1A31E"/>
                </a:solidFill>
                <a:latin typeface="Arial"/>
                <a:cs typeface="Arial"/>
              </a:rPr>
              <a:t>IMPACT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30" dirty="0"/>
              <a:t> </a:t>
            </a:r>
            <a:r>
              <a:rPr dirty="0"/>
              <a:t>Profitable,</a:t>
            </a:r>
            <a:r>
              <a:rPr spc="-30" dirty="0"/>
              <a:t> </a:t>
            </a:r>
            <a:r>
              <a:rPr dirty="0"/>
              <a:t>Sustainable</a:t>
            </a:r>
            <a:r>
              <a:rPr spc="-30" dirty="0"/>
              <a:t> </a:t>
            </a:r>
            <a:r>
              <a:rPr dirty="0"/>
              <a:t>Path</a:t>
            </a:r>
            <a:r>
              <a:rPr spc="-3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10" dirty="0"/>
              <a:t>Scale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3400" y="1181100"/>
            <a:ext cx="56324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solidFill>
                  <a:srgbClr val="B7B7B7"/>
                </a:solidFill>
                <a:latin typeface="Arial"/>
                <a:cs typeface="Arial"/>
              </a:rPr>
              <a:t>The</a:t>
            </a:r>
            <a:r>
              <a:rPr sz="1100" i="1" spc="-25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B7B7B7"/>
                </a:solidFill>
                <a:latin typeface="Arial"/>
                <a:cs typeface="Arial"/>
              </a:rPr>
              <a:t>recommendation</a:t>
            </a:r>
            <a:r>
              <a:rPr sz="1100" i="1" spc="-25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B7B7B7"/>
                </a:solidFill>
                <a:latin typeface="Arial"/>
                <a:cs typeface="Arial"/>
              </a:rPr>
              <a:t>sequences</a:t>
            </a:r>
            <a:r>
              <a:rPr sz="1100" i="1" spc="-2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B7B7B7"/>
                </a:solidFill>
                <a:latin typeface="Arial"/>
                <a:cs typeface="Arial"/>
              </a:rPr>
              <a:t>market</a:t>
            </a:r>
            <a:r>
              <a:rPr sz="1100" i="1" spc="-25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B7B7B7"/>
                </a:solidFill>
                <a:latin typeface="Arial"/>
                <a:cs typeface="Arial"/>
              </a:rPr>
              <a:t>proof,</a:t>
            </a:r>
            <a:r>
              <a:rPr sz="1100" i="1" spc="-2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B7B7B7"/>
                </a:solidFill>
                <a:latin typeface="Arial"/>
                <a:cs typeface="Arial"/>
              </a:rPr>
              <a:t>city</a:t>
            </a:r>
            <a:r>
              <a:rPr sz="1100" i="1" spc="-25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B7B7B7"/>
                </a:solidFill>
                <a:latin typeface="Arial"/>
                <a:cs typeface="Arial"/>
              </a:rPr>
              <a:t>expansion</a:t>
            </a:r>
            <a:r>
              <a:rPr sz="1100" i="1" spc="-2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B7B7B7"/>
                </a:solidFill>
                <a:latin typeface="Arial"/>
                <a:cs typeface="Arial"/>
              </a:rPr>
              <a:t>and</a:t>
            </a:r>
            <a:r>
              <a:rPr sz="1100" i="1" spc="-25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B7B7B7"/>
                </a:solidFill>
                <a:latin typeface="Arial"/>
                <a:cs typeface="Arial"/>
              </a:rPr>
              <a:t>sustainability</a:t>
            </a:r>
            <a:r>
              <a:rPr sz="1100" i="1" spc="-2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B7B7B7"/>
                </a:solidFill>
                <a:latin typeface="Arial"/>
                <a:cs typeface="Arial"/>
              </a:rPr>
              <a:t>execution.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39750" y="1771650"/>
            <a:ext cx="2714800" cy="1047750"/>
            <a:chOff x="539750" y="1771650"/>
            <a:chExt cx="2616200" cy="749300"/>
          </a:xfrm>
        </p:grpSpPr>
        <p:sp>
          <p:nvSpPr>
            <p:cNvPr id="7" name="object 7"/>
            <p:cNvSpPr/>
            <p:nvPr/>
          </p:nvSpPr>
          <p:spPr>
            <a:xfrm>
              <a:off x="546100" y="1778000"/>
              <a:ext cx="2603500" cy="736600"/>
            </a:xfrm>
            <a:custGeom>
              <a:avLst/>
              <a:gdLst/>
              <a:ahLst/>
              <a:cxnLst/>
              <a:rect l="l" t="t" r="r" b="b"/>
              <a:pathLst>
                <a:path w="2603500" h="736600">
                  <a:moveTo>
                    <a:pt x="2603500" y="0"/>
                  </a:moveTo>
                  <a:lnTo>
                    <a:pt x="0" y="0"/>
                  </a:lnTo>
                  <a:lnTo>
                    <a:pt x="0" y="736600"/>
                  </a:lnTo>
                  <a:lnTo>
                    <a:pt x="2603500" y="736600"/>
                  </a:lnTo>
                  <a:lnTo>
                    <a:pt x="2603500" y="0"/>
                  </a:lnTo>
                  <a:close/>
                </a:path>
              </a:pathLst>
            </a:custGeom>
            <a:solidFill>
              <a:srgbClr val="1E1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6100" y="1778000"/>
              <a:ext cx="2603500" cy="736600"/>
            </a:xfrm>
            <a:custGeom>
              <a:avLst/>
              <a:gdLst/>
              <a:ahLst/>
              <a:cxnLst/>
              <a:rect l="l" t="t" r="r" b="b"/>
              <a:pathLst>
                <a:path w="2603500" h="736600">
                  <a:moveTo>
                    <a:pt x="0" y="736600"/>
                  </a:moveTo>
                  <a:lnTo>
                    <a:pt x="2603500" y="736600"/>
                  </a:lnTo>
                  <a:lnTo>
                    <a:pt x="2603500" y="0"/>
                  </a:lnTo>
                  <a:lnTo>
                    <a:pt x="0" y="0"/>
                  </a:lnTo>
                  <a:lnTo>
                    <a:pt x="0" y="736600"/>
                  </a:lnTo>
                  <a:close/>
                </a:path>
              </a:pathLst>
            </a:custGeom>
            <a:ln w="12700">
              <a:solidFill>
                <a:srgbClr val="1E1E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61683" y="1943100"/>
            <a:ext cx="990917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A5A5A5"/>
                </a:solidFill>
                <a:latin typeface="Arial"/>
                <a:cs typeface="Arial"/>
              </a:rPr>
              <a:t>180</a:t>
            </a:r>
            <a:r>
              <a:rPr sz="1600" b="1" spc="-20" dirty="0">
                <a:solidFill>
                  <a:srgbClr val="A5A5A5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A5A5A5"/>
                </a:solidFill>
                <a:latin typeface="Arial"/>
                <a:cs typeface="Arial"/>
              </a:rPr>
              <a:t>Cr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90800" y="1784387"/>
            <a:ext cx="2752585" cy="1026133"/>
            <a:chOff x="3359150" y="1771650"/>
            <a:chExt cx="2616200" cy="749300"/>
          </a:xfrm>
        </p:grpSpPr>
        <p:sp>
          <p:nvSpPr>
            <p:cNvPr id="12" name="object 12"/>
            <p:cNvSpPr/>
            <p:nvPr/>
          </p:nvSpPr>
          <p:spPr>
            <a:xfrm>
              <a:off x="3365500" y="1778000"/>
              <a:ext cx="2603500" cy="736600"/>
            </a:xfrm>
            <a:custGeom>
              <a:avLst/>
              <a:gdLst/>
              <a:ahLst/>
              <a:cxnLst/>
              <a:rect l="l" t="t" r="r" b="b"/>
              <a:pathLst>
                <a:path w="2603500" h="736600">
                  <a:moveTo>
                    <a:pt x="2603500" y="0"/>
                  </a:moveTo>
                  <a:lnTo>
                    <a:pt x="0" y="0"/>
                  </a:lnTo>
                  <a:lnTo>
                    <a:pt x="0" y="736600"/>
                  </a:lnTo>
                  <a:lnTo>
                    <a:pt x="2603500" y="736600"/>
                  </a:lnTo>
                  <a:lnTo>
                    <a:pt x="2603500" y="0"/>
                  </a:lnTo>
                  <a:close/>
                </a:path>
              </a:pathLst>
            </a:custGeom>
            <a:solidFill>
              <a:srgbClr val="1E1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65500" y="1778000"/>
              <a:ext cx="2603500" cy="736600"/>
            </a:xfrm>
            <a:custGeom>
              <a:avLst/>
              <a:gdLst/>
              <a:ahLst/>
              <a:cxnLst/>
              <a:rect l="l" t="t" r="r" b="b"/>
              <a:pathLst>
                <a:path w="2603500" h="736600">
                  <a:moveTo>
                    <a:pt x="0" y="736600"/>
                  </a:moveTo>
                  <a:lnTo>
                    <a:pt x="2603500" y="736600"/>
                  </a:lnTo>
                  <a:lnTo>
                    <a:pt x="2603500" y="0"/>
                  </a:lnTo>
                  <a:lnTo>
                    <a:pt x="0" y="0"/>
                  </a:lnTo>
                  <a:lnTo>
                    <a:pt x="0" y="736600"/>
                  </a:lnTo>
                  <a:close/>
                </a:path>
              </a:pathLst>
            </a:custGeom>
            <a:ln w="12700">
              <a:solidFill>
                <a:srgbClr val="1E1E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581083" y="1943100"/>
            <a:ext cx="124757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A5A5A5"/>
                </a:solidFill>
                <a:latin typeface="Arial"/>
                <a:cs typeface="Arial"/>
              </a:rPr>
              <a:t>3%</a:t>
            </a:r>
            <a:r>
              <a:rPr sz="1600" b="1" spc="-5" dirty="0">
                <a:solidFill>
                  <a:srgbClr val="A5A5A5"/>
                </a:solidFill>
                <a:latin typeface="Arial"/>
                <a:cs typeface="Arial"/>
              </a:rPr>
              <a:t> </a:t>
            </a:r>
            <a:r>
              <a:rPr lang="en-IN" sz="1600" b="1" spc="-5" dirty="0">
                <a:solidFill>
                  <a:srgbClr val="A5A5A5"/>
                </a:solidFill>
                <a:latin typeface="Arial"/>
                <a:cs typeface="Arial"/>
              </a:rPr>
              <a:t>-</a:t>
            </a:r>
            <a:r>
              <a:rPr sz="1600" b="1" spc="-5" dirty="0">
                <a:solidFill>
                  <a:srgbClr val="A5A5A5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A5A5A5"/>
                </a:solidFill>
                <a:latin typeface="Arial"/>
                <a:cs typeface="Arial"/>
              </a:rPr>
              <a:t>10%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53200" y="1943100"/>
            <a:ext cx="37053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A5A5A5"/>
                </a:solidFill>
                <a:latin typeface="Arial"/>
                <a:cs typeface="Arial"/>
              </a:rPr>
              <a:t>10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116011" y="1749980"/>
            <a:ext cx="2654300" cy="1057614"/>
            <a:chOff x="8997950" y="1771650"/>
            <a:chExt cx="2654300" cy="749300"/>
          </a:xfrm>
        </p:grpSpPr>
        <p:sp>
          <p:nvSpPr>
            <p:cNvPr id="22" name="object 22"/>
            <p:cNvSpPr/>
            <p:nvPr/>
          </p:nvSpPr>
          <p:spPr>
            <a:xfrm>
              <a:off x="9004300" y="1778000"/>
              <a:ext cx="2641600" cy="736600"/>
            </a:xfrm>
            <a:custGeom>
              <a:avLst/>
              <a:gdLst/>
              <a:ahLst/>
              <a:cxnLst/>
              <a:rect l="l" t="t" r="r" b="b"/>
              <a:pathLst>
                <a:path w="2641600" h="736600">
                  <a:moveTo>
                    <a:pt x="2641600" y="0"/>
                  </a:moveTo>
                  <a:lnTo>
                    <a:pt x="0" y="0"/>
                  </a:lnTo>
                  <a:lnTo>
                    <a:pt x="0" y="736600"/>
                  </a:lnTo>
                  <a:lnTo>
                    <a:pt x="2641600" y="736600"/>
                  </a:lnTo>
                  <a:lnTo>
                    <a:pt x="2641600" y="0"/>
                  </a:lnTo>
                  <a:close/>
                </a:path>
              </a:pathLst>
            </a:custGeom>
            <a:solidFill>
              <a:srgbClr val="1E1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004300" y="1778000"/>
              <a:ext cx="2641600" cy="736600"/>
            </a:xfrm>
            <a:custGeom>
              <a:avLst/>
              <a:gdLst/>
              <a:ahLst/>
              <a:cxnLst/>
              <a:rect l="l" t="t" r="r" b="b"/>
              <a:pathLst>
                <a:path w="2641600" h="736600">
                  <a:moveTo>
                    <a:pt x="0" y="736600"/>
                  </a:moveTo>
                  <a:lnTo>
                    <a:pt x="2641600" y="736600"/>
                  </a:lnTo>
                  <a:lnTo>
                    <a:pt x="2641600" y="0"/>
                  </a:lnTo>
                  <a:lnTo>
                    <a:pt x="0" y="0"/>
                  </a:lnTo>
                  <a:lnTo>
                    <a:pt x="0" y="736600"/>
                  </a:lnTo>
                  <a:close/>
                </a:path>
              </a:pathLst>
            </a:custGeom>
            <a:ln w="12700">
              <a:solidFill>
                <a:srgbClr val="1E1E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299797" y="1930712"/>
            <a:ext cx="1096298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A5A5A5"/>
                </a:solidFill>
                <a:latin typeface="Arial"/>
                <a:cs typeface="Arial"/>
              </a:rPr>
              <a:t>4</a:t>
            </a:r>
            <a:r>
              <a:rPr sz="1600" b="1" spc="-10" dirty="0">
                <a:solidFill>
                  <a:srgbClr val="A5A5A5"/>
                </a:solidFill>
                <a:latin typeface="Arial"/>
                <a:cs typeface="Arial"/>
              </a:rPr>
              <a:t> pillars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1388" y="2409455"/>
            <a:ext cx="11583035" cy="16251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100"/>
              </a:spcBef>
              <a:tabLst>
                <a:tab pos="3009265" algn="l"/>
                <a:tab pos="5828665" algn="l"/>
                <a:tab pos="8648065" algn="l"/>
              </a:tabLst>
            </a:pPr>
            <a:r>
              <a:rPr lang="en-IN" sz="2000" b="1" dirty="0">
                <a:solidFill>
                  <a:srgbClr val="D1A31E"/>
                </a:solidFill>
                <a:latin typeface="Arial"/>
                <a:cs typeface="Arial"/>
              </a:rPr>
              <a:t>	</a:t>
            </a:r>
            <a:r>
              <a:rPr sz="1200" b="1" dirty="0">
                <a:solidFill>
                  <a:srgbClr val="D1A31E"/>
                </a:solidFill>
                <a:latin typeface="Arial"/>
                <a:cs typeface="Arial"/>
              </a:rPr>
              <a:t>		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lang="en-IN"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r>
              <a:rPr lang="en-IN" sz="2000" dirty="0">
                <a:latin typeface="Arial"/>
                <a:cs typeface="Arial"/>
              </a:rPr>
              <a:t> </a:t>
            </a:r>
            <a:endParaRPr sz="2000" dirty="0">
              <a:latin typeface="Arial"/>
              <a:cs typeface="Arial"/>
            </a:endParaRPr>
          </a:p>
          <a:p>
            <a:pPr marL="12700" marR="514984">
              <a:lnSpc>
                <a:spcPct val="122800"/>
              </a:lnSpc>
            </a:pPr>
            <a:r>
              <a:rPr lang="en-IN" sz="12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WHY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WORK</a:t>
            </a:r>
            <a:r>
              <a:rPr sz="1200" b="1" spc="2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1200" b="1" spc="2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Energy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drinks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fit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time-pressed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urban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occasions;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quick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commerce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provides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high-availability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trial;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e-commerce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support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repeat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N" sz="1200" b="1" spc="-15" dirty="0">
                <a:solidFill>
                  <a:srgbClr val="FFFFFF"/>
                </a:solidFill>
                <a:latin typeface="Arial"/>
                <a:cs typeface="Arial"/>
              </a:rPr>
              <a:t>                  </a:t>
            </a:r>
            <a:r>
              <a:rPr lang="en-IN" sz="1200" b="1" dirty="0">
                <a:solidFill>
                  <a:srgbClr val="FFFFFF"/>
                </a:solidFill>
                <a:latin typeface="Arial"/>
                <a:cs typeface="Arial"/>
              </a:rPr>
              <a:t> a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IN" sz="1200" b="1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multipack behavior.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6100" y="4262227"/>
            <a:ext cx="11112500" cy="1414362"/>
          </a:xfrm>
          <a:prstGeom prst="rect">
            <a:avLst/>
          </a:prstGeom>
          <a:solidFill>
            <a:srgbClr val="CC0523"/>
          </a:solidFill>
          <a:ln w="3175">
            <a:solidFill>
              <a:srgbClr val="CC052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900" dirty="0">
              <a:latin typeface="Times New Roman"/>
              <a:cs typeface="Times New Roman"/>
            </a:endParaRPr>
          </a:p>
          <a:p>
            <a:pPr marL="260350">
              <a:lnSpc>
                <a:spcPct val="100000"/>
              </a:lnSpc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METHODOLOGY</a:t>
            </a:r>
            <a:r>
              <a:rPr sz="12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12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SOURCES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100" dirty="0">
              <a:latin typeface="Arial"/>
              <a:cs typeface="Arial"/>
            </a:endParaRPr>
          </a:p>
          <a:p>
            <a:pPr marL="260350" marR="307340">
              <a:lnSpc>
                <a:spcPct val="120700"/>
              </a:lnSpc>
            </a:pP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Public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FFFFFF"/>
                </a:solidFill>
                <a:latin typeface="Arial"/>
                <a:cs typeface="Arial"/>
              </a:rPr>
              <a:t>category/channel</a:t>
            </a:r>
            <a:r>
              <a:rPr sz="11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evidence:</a:t>
            </a:r>
            <a:r>
              <a:rPr sz="11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Euromonitor,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Energy</a:t>
            </a:r>
            <a:r>
              <a:rPr sz="11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Drinks</a:t>
            </a:r>
            <a:r>
              <a:rPr sz="11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India.</a:t>
            </a:r>
            <a:r>
              <a:rPr sz="11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FFFFFF"/>
                </a:solidFill>
                <a:latin typeface="Arial"/>
                <a:cs typeface="Arial"/>
              </a:rPr>
              <a:t>Quick-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commerce</a:t>
            </a:r>
            <a:r>
              <a:rPr sz="11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infrastructure:</a:t>
            </a:r>
            <a:r>
              <a:rPr sz="11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FFFFFF"/>
                </a:solidFill>
                <a:latin typeface="Arial"/>
                <a:cs typeface="Arial"/>
              </a:rPr>
              <a:t>QuickCommerceMap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July</a:t>
            </a:r>
            <a:r>
              <a:rPr sz="11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r>
              <a:rPr sz="11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public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snapshot.</a:t>
            </a:r>
            <a:r>
              <a:rPr sz="11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Sustainability</a:t>
            </a:r>
            <a:r>
              <a:rPr sz="11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framework: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AB</a:t>
            </a:r>
            <a:r>
              <a:rPr sz="11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InBev</a:t>
            </a:r>
            <a:r>
              <a:rPr sz="11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sustainability</a:t>
            </a:r>
            <a:r>
              <a:rPr sz="11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materials.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Consumer</a:t>
            </a:r>
            <a:r>
              <a:rPr sz="11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FFFFFF"/>
                </a:solidFill>
                <a:latin typeface="Arial"/>
                <a:cs typeface="Arial"/>
              </a:rPr>
              <a:t>segments,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rollout,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channel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allocation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1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revenue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scenario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1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FFFFFF"/>
                </a:solidFill>
                <a:latin typeface="Arial"/>
                <a:cs typeface="Arial"/>
              </a:rPr>
              <a:t>analyst-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built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FFFFFF"/>
                </a:solidFill>
                <a:latin typeface="Arial"/>
                <a:cs typeface="Arial"/>
              </a:rPr>
              <a:t>assumptions.</a:t>
            </a:r>
            <a:endParaRPr lang="en-IN" sz="1100" i="1" spc="-1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260350" marR="307340">
              <a:lnSpc>
                <a:spcPct val="120700"/>
              </a:lnSpc>
            </a:pPr>
            <a:endParaRPr lang="en-IN" sz="800" i="1" spc="-1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260350" marR="307340">
              <a:lnSpc>
                <a:spcPct val="120700"/>
              </a:lnSpc>
            </a:pPr>
            <a:endParaRPr sz="800" dirty="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3400" y="6523424"/>
            <a:ext cx="20574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B2B2B2"/>
                </a:solidFill>
                <a:latin typeface="Arial"/>
                <a:cs typeface="Arial"/>
              </a:rPr>
              <a:t>Section</a:t>
            </a:r>
            <a:r>
              <a:rPr sz="900" spc="-5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2B2B2"/>
                </a:solidFill>
                <a:latin typeface="Arial"/>
                <a:cs typeface="Arial"/>
              </a:rPr>
              <a:t>6 · Expected Business </a:t>
            </a:r>
            <a:r>
              <a:rPr sz="900" spc="-10" dirty="0">
                <a:solidFill>
                  <a:srgbClr val="B2B2B2"/>
                </a:solidFill>
                <a:latin typeface="Arial"/>
                <a:cs typeface="Arial"/>
              </a:rPr>
              <a:t>Impact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578975" y="6523424"/>
            <a:ext cx="2263139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B2B2B2"/>
                </a:solidFill>
                <a:latin typeface="Arial"/>
                <a:cs typeface="Arial"/>
              </a:rPr>
              <a:t>Budweiser</a:t>
            </a:r>
            <a:r>
              <a:rPr sz="900" spc="-10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2B2B2"/>
                </a:solidFill>
                <a:latin typeface="Arial"/>
                <a:cs typeface="Arial"/>
              </a:rPr>
              <a:t>Beats</a:t>
            </a:r>
            <a:r>
              <a:rPr sz="900" spc="-5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2B2B2"/>
                </a:solidFill>
                <a:latin typeface="Arial"/>
                <a:cs typeface="Arial"/>
              </a:rPr>
              <a:t>·</a:t>
            </a:r>
            <a:r>
              <a:rPr sz="900" spc="-5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2B2B2"/>
                </a:solidFill>
                <a:latin typeface="Arial"/>
                <a:cs typeface="Arial"/>
              </a:rPr>
              <a:t>India</a:t>
            </a:r>
            <a:r>
              <a:rPr sz="900" spc="-5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2B2B2"/>
                </a:solidFill>
                <a:latin typeface="Arial"/>
                <a:cs typeface="Arial"/>
              </a:rPr>
              <a:t>Growth</a:t>
            </a:r>
            <a:r>
              <a:rPr sz="900" spc="-5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2B2B2"/>
                </a:solidFill>
                <a:latin typeface="Arial"/>
                <a:cs typeface="Arial"/>
              </a:rPr>
              <a:t>Strategy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A853D7-287D-7409-D423-282C13CD7DF0}"/>
              </a:ext>
            </a:extLst>
          </p:cNvPr>
          <p:cNvSpPr txBox="1"/>
          <p:nvPr/>
        </p:nvSpPr>
        <p:spPr>
          <a:xfrm>
            <a:off x="701737" y="2465196"/>
            <a:ext cx="31245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rgbClr val="D1A31E"/>
                </a:solidFill>
                <a:latin typeface="Arial"/>
                <a:cs typeface="Arial"/>
              </a:rPr>
              <a:t>Year-3 illustrative </a:t>
            </a:r>
            <a:r>
              <a:rPr lang="en-IN" sz="1200" b="1" spc="-25" dirty="0">
                <a:solidFill>
                  <a:srgbClr val="D1A31E"/>
                </a:solidFill>
                <a:latin typeface="Arial"/>
                <a:cs typeface="Arial"/>
              </a:rPr>
              <a:t>revenue</a:t>
            </a:r>
            <a:endParaRPr lang="en-IN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15B5FD-880E-A527-228A-0A7C26CABF57}"/>
              </a:ext>
            </a:extLst>
          </p:cNvPr>
          <p:cNvSpPr txBox="1"/>
          <p:nvPr/>
        </p:nvSpPr>
        <p:spPr>
          <a:xfrm>
            <a:off x="3421431" y="2465182"/>
            <a:ext cx="23913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rgbClr val="D1A31E"/>
                </a:solidFill>
                <a:latin typeface="Arial"/>
                <a:cs typeface="Arial"/>
              </a:rPr>
              <a:t>Digital-addressable </a:t>
            </a:r>
            <a:r>
              <a:rPr lang="en-IN" sz="1200" b="1" spc="-50" dirty="0">
                <a:solidFill>
                  <a:srgbClr val="D1A31E"/>
                </a:solidFill>
                <a:latin typeface="Arial"/>
                <a:cs typeface="Arial"/>
              </a:rPr>
              <a:t>demand</a:t>
            </a:r>
            <a:endParaRPr lang="en-IN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B0D105-472D-0CC6-E637-09AF5C71F9E7}"/>
              </a:ext>
            </a:extLst>
          </p:cNvPr>
          <p:cNvSpPr txBox="1"/>
          <p:nvPr/>
        </p:nvSpPr>
        <p:spPr>
          <a:xfrm>
            <a:off x="6386768" y="2465182"/>
            <a:ext cx="2380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D1A31E"/>
                </a:solidFill>
                <a:latin typeface="Arial"/>
                <a:cs typeface="Arial"/>
              </a:rPr>
              <a:t>Cities</a:t>
            </a:r>
            <a:r>
              <a:rPr lang="en-US" sz="1200" b="1" spc="-15" dirty="0">
                <a:solidFill>
                  <a:srgbClr val="D1A31E"/>
                </a:solidFill>
                <a:latin typeface="Arial"/>
                <a:cs typeface="Arial"/>
              </a:rPr>
              <a:t> </a:t>
            </a:r>
            <a:r>
              <a:rPr lang="en-US" sz="1200" b="1" dirty="0">
                <a:solidFill>
                  <a:srgbClr val="D1A31E"/>
                </a:solidFill>
                <a:latin typeface="Arial"/>
                <a:cs typeface="Arial"/>
              </a:rPr>
              <a:t>by</a:t>
            </a:r>
            <a:r>
              <a:rPr lang="en-US" sz="1200" b="1" spc="-15" dirty="0">
                <a:solidFill>
                  <a:srgbClr val="D1A31E"/>
                </a:solidFill>
                <a:latin typeface="Arial"/>
                <a:cs typeface="Arial"/>
              </a:rPr>
              <a:t> </a:t>
            </a:r>
            <a:r>
              <a:rPr lang="en-US" sz="1200" b="1" dirty="0">
                <a:solidFill>
                  <a:srgbClr val="D1A31E"/>
                </a:solidFill>
                <a:latin typeface="Arial"/>
                <a:cs typeface="Arial"/>
              </a:rPr>
              <a:t>end</a:t>
            </a:r>
            <a:r>
              <a:rPr lang="en-US" sz="1200" b="1" spc="-15" dirty="0">
                <a:solidFill>
                  <a:srgbClr val="D1A31E"/>
                </a:solidFill>
                <a:latin typeface="Arial"/>
                <a:cs typeface="Arial"/>
              </a:rPr>
              <a:t> </a:t>
            </a:r>
            <a:r>
              <a:rPr lang="en-US" sz="1200" b="1" dirty="0">
                <a:solidFill>
                  <a:srgbClr val="D1A31E"/>
                </a:solidFill>
                <a:latin typeface="Arial"/>
                <a:cs typeface="Arial"/>
              </a:rPr>
              <a:t>of</a:t>
            </a:r>
            <a:r>
              <a:rPr lang="en-US" sz="1200" b="1" spc="-15" dirty="0">
                <a:solidFill>
                  <a:srgbClr val="D1A31E"/>
                </a:solidFill>
                <a:latin typeface="Arial"/>
                <a:cs typeface="Arial"/>
              </a:rPr>
              <a:t> </a:t>
            </a:r>
            <a:r>
              <a:rPr lang="en-US" sz="1200" b="1" spc="-20" dirty="0">
                <a:solidFill>
                  <a:srgbClr val="D1A31E"/>
                </a:solidFill>
                <a:latin typeface="Arial"/>
                <a:cs typeface="Arial"/>
              </a:rPr>
              <a:t>Year 3</a:t>
            </a:r>
            <a:endParaRPr lang="en-IN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9B152A-C805-5D9D-31F6-9CB2DEDD1190}"/>
              </a:ext>
            </a:extLst>
          </p:cNvPr>
          <p:cNvSpPr txBox="1"/>
          <p:nvPr/>
        </p:nvSpPr>
        <p:spPr>
          <a:xfrm>
            <a:off x="9164013" y="2474675"/>
            <a:ext cx="2464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rgbClr val="D1A31E"/>
                </a:solidFill>
                <a:latin typeface="Arial"/>
                <a:cs typeface="Arial"/>
              </a:rPr>
              <a:t>Sustainability </a:t>
            </a:r>
            <a:r>
              <a:rPr lang="en-IN" sz="1200" b="1" spc="-10" dirty="0">
                <a:solidFill>
                  <a:srgbClr val="D1A31E"/>
                </a:solidFill>
                <a:latin typeface="Arial"/>
                <a:cs typeface="Arial"/>
              </a:rPr>
              <a:t>alignment</a:t>
            </a:r>
            <a:endParaRPr lang="en-IN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584" y="404177"/>
            <a:ext cx="2637510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-114" dirty="0">
                <a:solidFill>
                  <a:srgbClr val="C70F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E N C H M A R K I N G</a:t>
            </a:r>
            <a:endParaRPr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5584" y="709460"/>
            <a:ext cx="7219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0" dirty="0">
                <a:solidFill>
                  <a:srgbClr val="131313"/>
                </a:solidFill>
                <a:latin typeface="Times New Roman"/>
                <a:cs typeface="Times New Roman"/>
              </a:rPr>
              <a:t>Four Players, One Fast-Growing Category</a:t>
            </a:r>
            <a:endParaRPr sz="3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2919" y="1462684"/>
            <a:ext cx="2670175" cy="4754880"/>
            <a:chOff x="502919" y="1462684"/>
            <a:chExt cx="2670175" cy="4754880"/>
          </a:xfrm>
        </p:grpSpPr>
        <p:sp>
          <p:nvSpPr>
            <p:cNvPr id="5" name="object 5"/>
            <p:cNvSpPr/>
            <p:nvPr/>
          </p:nvSpPr>
          <p:spPr>
            <a:xfrm>
              <a:off x="502919" y="1462684"/>
              <a:ext cx="2670175" cy="4754880"/>
            </a:xfrm>
            <a:custGeom>
              <a:avLst/>
              <a:gdLst/>
              <a:ahLst/>
              <a:cxnLst/>
              <a:rect l="l" t="t" r="r" b="b"/>
              <a:pathLst>
                <a:path w="2670175" h="4754880">
                  <a:moveTo>
                    <a:pt x="2596680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4681791"/>
                  </a:lnTo>
                  <a:lnTo>
                    <a:pt x="15046" y="4726169"/>
                  </a:lnTo>
                  <a:lnTo>
                    <a:pt x="54046" y="4752449"/>
                  </a:lnTo>
                  <a:lnTo>
                    <a:pt x="73075" y="4754880"/>
                  </a:lnTo>
                  <a:lnTo>
                    <a:pt x="2597035" y="4754511"/>
                  </a:lnTo>
                  <a:lnTo>
                    <a:pt x="2641413" y="4739470"/>
                  </a:lnTo>
                  <a:lnTo>
                    <a:pt x="2667678" y="4700514"/>
                  </a:lnTo>
                  <a:lnTo>
                    <a:pt x="2670124" y="4681435"/>
                  </a:lnTo>
                  <a:lnTo>
                    <a:pt x="2669755" y="73075"/>
                  </a:lnTo>
                  <a:lnTo>
                    <a:pt x="2654714" y="28698"/>
                  </a:lnTo>
                  <a:lnTo>
                    <a:pt x="2615714" y="2428"/>
                  </a:lnTo>
                  <a:lnTo>
                    <a:pt x="2596680" y="0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08759" y="1691639"/>
              <a:ext cx="658495" cy="658495"/>
            </a:xfrm>
            <a:custGeom>
              <a:avLst/>
              <a:gdLst/>
              <a:ahLst/>
              <a:cxnLst/>
              <a:rect l="l" t="t" r="r" b="b"/>
              <a:pathLst>
                <a:path w="658494" h="658494">
                  <a:moveTo>
                    <a:pt x="329399" y="0"/>
                  </a:moveTo>
                  <a:lnTo>
                    <a:pt x="286220" y="2813"/>
                  </a:lnTo>
                  <a:lnTo>
                    <a:pt x="243986" y="11161"/>
                  </a:lnTo>
                  <a:lnTo>
                    <a:pt x="203237" y="24908"/>
                  </a:lnTo>
                  <a:lnTo>
                    <a:pt x="164515" y="43916"/>
                  </a:lnTo>
                  <a:lnTo>
                    <a:pt x="128668" y="67875"/>
                  </a:lnTo>
                  <a:lnTo>
                    <a:pt x="96432" y="96253"/>
                  </a:lnTo>
                  <a:lnTo>
                    <a:pt x="68180" y="128612"/>
                  </a:lnTo>
                  <a:lnTo>
                    <a:pt x="44284" y="164515"/>
                  </a:lnTo>
                  <a:lnTo>
                    <a:pt x="25063" y="203182"/>
                  </a:lnTo>
                  <a:lnTo>
                    <a:pt x="11207" y="243808"/>
                  </a:lnTo>
                  <a:lnTo>
                    <a:pt x="2819" y="285920"/>
                  </a:lnTo>
                  <a:lnTo>
                    <a:pt x="0" y="329044"/>
                  </a:lnTo>
                  <a:lnTo>
                    <a:pt x="2819" y="372160"/>
                  </a:lnTo>
                  <a:lnTo>
                    <a:pt x="11207" y="414269"/>
                  </a:lnTo>
                  <a:lnTo>
                    <a:pt x="25063" y="454893"/>
                  </a:lnTo>
                  <a:lnTo>
                    <a:pt x="44284" y="493560"/>
                  </a:lnTo>
                  <a:lnTo>
                    <a:pt x="68180" y="529463"/>
                  </a:lnTo>
                  <a:lnTo>
                    <a:pt x="96432" y="561822"/>
                  </a:lnTo>
                  <a:lnTo>
                    <a:pt x="128668" y="590200"/>
                  </a:lnTo>
                  <a:lnTo>
                    <a:pt x="164515" y="614159"/>
                  </a:lnTo>
                  <a:lnTo>
                    <a:pt x="203237" y="633172"/>
                  </a:lnTo>
                  <a:lnTo>
                    <a:pt x="243986" y="646918"/>
                  </a:lnTo>
                  <a:lnTo>
                    <a:pt x="286220" y="655264"/>
                  </a:lnTo>
                  <a:lnTo>
                    <a:pt x="329399" y="658075"/>
                  </a:lnTo>
                  <a:lnTo>
                    <a:pt x="372366" y="655264"/>
                  </a:lnTo>
                  <a:lnTo>
                    <a:pt x="414491" y="646918"/>
                  </a:lnTo>
                  <a:lnTo>
                    <a:pt x="455199" y="633172"/>
                  </a:lnTo>
                  <a:lnTo>
                    <a:pt x="493915" y="614159"/>
                  </a:lnTo>
                  <a:lnTo>
                    <a:pt x="529763" y="590200"/>
                  </a:lnTo>
                  <a:lnTo>
                    <a:pt x="562000" y="561822"/>
                  </a:lnTo>
                  <a:lnTo>
                    <a:pt x="590256" y="529463"/>
                  </a:lnTo>
                  <a:lnTo>
                    <a:pt x="614159" y="493560"/>
                  </a:lnTo>
                  <a:lnTo>
                    <a:pt x="633380" y="454893"/>
                  </a:lnTo>
                  <a:lnTo>
                    <a:pt x="647236" y="414269"/>
                  </a:lnTo>
                  <a:lnTo>
                    <a:pt x="655625" y="372160"/>
                  </a:lnTo>
                  <a:lnTo>
                    <a:pt x="658444" y="329044"/>
                  </a:lnTo>
                  <a:lnTo>
                    <a:pt x="655625" y="285920"/>
                  </a:lnTo>
                  <a:lnTo>
                    <a:pt x="647236" y="243808"/>
                  </a:lnTo>
                  <a:lnTo>
                    <a:pt x="633380" y="203182"/>
                  </a:lnTo>
                  <a:lnTo>
                    <a:pt x="614159" y="164515"/>
                  </a:lnTo>
                  <a:lnTo>
                    <a:pt x="590256" y="128612"/>
                  </a:lnTo>
                  <a:lnTo>
                    <a:pt x="562000" y="96253"/>
                  </a:lnTo>
                  <a:lnTo>
                    <a:pt x="529763" y="67875"/>
                  </a:lnTo>
                  <a:lnTo>
                    <a:pt x="493915" y="43916"/>
                  </a:lnTo>
                  <a:lnTo>
                    <a:pt x="455199" y="24908"/>
                  </a:lnTo>
                  <a:lnTo>
                    <a:pt x="414491" y="11161"/>
                  </a:lnTo>
                  <a:lnTo>
                    <a:pt x="372366" y="2813"/>
                  </a:lnTo>
                  <a:lnTo>
                    <a:pt x="329399" y="0"/>
                  </a:lnTo>
                  <a:close/>
                </a:path>
              </a:pathLst>
            </a:custGeom>
            <a:solidFill>
              <a:srgbClr val="C70F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6798" y="1849323"/>
              <a:ext cx="341998" cy="3419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142174" y="2536824"/>
            <a:ext cx="13906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Red </a:t>
            </a:r>
            <a:r>
              <a:rPr sz="1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Bull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1464" y="3027146"/>
            <a:ext cx="9500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D3AE36"/>
                </a:solidFill>
                <a:latin typeface="Trebuchet MS"/>
                <a:cs typeface="Trebuchet MS"/>
              </a:rPr>
              <a:t>PRICE</a:t>
            </a:r>
            <a:endParaRPr sz="11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1464" y="3343947"/>
            <a:ext cx="2300000" cy="1891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55" dirty="0">
                <a:solidFill>
                  <a:srgbClr val="FFFFFF"/>
                </a:solidFill>
                <a:latin typeface="Tahoma"/>
                <a:cs typeface="Tahoma"/>
              </a:rPr>
              <a:t>Rs. </a:t>
            </a:r>
            <a:r>
              <a:rPr sz="1150" spc="-40" dirty="0">
                <a:solidFill>
                  <a:srgbClr val="FFFFFF"/>
                </a:solidFill>
                <a:latin typeface="Tahoma"/>
                <a:cs typeface="Tahoma"/>
              </a:rPr>
              <a:t>125 /</a:t>
            </a:r>
            <a:r>
              <a:rPr sz="1150" spc="-50" dirty="0">
                <a:solidFill>
                  <a:srgbClr val="FFFFFF"/>
                </a:solidFill>
                <a:latin typeface="Tahoma"/>
                <a:cs typeface="Tahoma"/>
              </a:rPr>
              <a:t> can</a:t>
            </a:r>
            <a:endParaRPr sz="115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1464" y="3740302"/>
            <a:ext cx="9500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D3AE36"/>
                </a:solidFill>
                <a:latin typeface="Trebuchet MS"/>
                <a:cs typeface="Trebuchet MS"/>
              </a:rPr>
              <a:t>STRATEGY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1464" y="4057103"/>
            <a:ext cx="2300000" cy="1891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55" dirty="0">
                <a:solidFill>
                  <a:srgbClr val="FFFFFF"/>
                </a:solidFill>
                <a:latin typeface="Tahoma"/>
                <a:cs typeface="Tahoma"/>
              </a:rPr>
              <a:t>Motorsport</a:t>
            </a:r>
            <a:r>
              <a:rPr sz="1150" spc="-70" dirty="0">
                <a:solidFill>
                  <a:srgbClr val="FFFFFF"/>
                </a:solidFill>
                <a:latin typeface="Tahoma"/>
                <a:cs typeface="Tahoma"/>
              </a:rPr>
              <a:t> &amp; </a:t>
            </a:r>
            <a:r>
              <a:rPr sz="1150" spc="-55" dirty="0">
                <a:solidFill>
                  <a:srgbClr val="FFFFFF"/>
                </a:solidFill>
                <a:latin typeface="Tahoma"/>
                <a:cs typeface="Tahoma"/>
              </a:rPr>
              <a:t>extreme-</a:t>
            </a:r>
            <a:r>
              <a:rPr sz="1150" spc="-155" dirty="0">
                <a:solidFill>
                  <a:srgbClr val="FFFFFF"/>
                </a:solidFill>
                <a:latin typeface="Tahoma"/>
                <a:cs typeface="Tahoma"/>
              </a:rPr>
              <a:t>sports</a:t>
            </a:r>
            <a:endParaRPr sz="115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1464" y="4453826"/>
            <a:ext cx="9500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60" dirty="0">
                <a:solidFill>
                  <a:srgbClr val="D3AE36"/>
                </a:solidFill>
                <a:latin typeface="Trebuchet MS"/>
                <a:cs typeface="Trebuchet MS"/>
              </a:rPr>
              <a:t>POSITION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1464" y="4770259"/>
            <a:ext cx="2300000" cy="1891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55" dirty="0">
                <a:solidFill>
                  <a:srgbClr val="FFFFFF"/>
                </a:solidFill>
                <a:latin typeface="Tahoma"/>
                <a:cs typeface="Tahoma"/>
              </a:rPr>
              <a:t>Global</a:t>
            </a:r>
            <a:r>
              <a:rPr sz="115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spc="-70" dirty="0">
                <a:solidFill>
                  <a:srgbClr val="FFFFFF"/>
                </a:solidFill>
                <a:latin typeface="Tahoma"/>
                <a:cs typeface="Tahoma"/>
              </a:rPr>
              <a:t>premium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04164" y="5120284"/>
            <a:ext cx="2267585" cy="13335"/>
          </a:xfrm>
          <a:custGeom>
            <a:avLst/>
            <a:gdLst/>
            <a:ahLst/>
            <a:cxnLst/>
            <a:rect l="l" t="t" r="r" b="b"/>
            <a:pathLst>
              <a:path w="2267585" h="13335">
                <a:moveTo>
                  <a:pt x="2267280" y="0"/>
                </a:moveTo>
                <a:lnTo>
                  <a:pt x="0" y="0"/>
                </a:lnTo>
                <a:lnTo>
                  <a:pt x="0" y="13309"/>
                </a:lnTo>
                <a:lnTo>
                  <a:pt x="1133640" y="13309"/>
                </a:lnTo>
                <a:lnTo>
                  <a:pt x="2267280" y="13309"/>
                </a:lnTo>
                <a:lnTo>
                  <a:pt x="2267280" y="0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91464" y="5499127"/>
            <a:ext cx="217551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000" i="1" spc="-60" dirty="0">
                <a:solidFill>
                  <a:srgbClr val="D8D8D8"/>
                </a:solidFill>
                <a:latin typeface="Trebuchet MS"/>
                <a:cs typeface="Trebuchet MS"/>
              </a:rPr>
              <a:t>Best</a:t>
            </a:r>
            <a:r>
              <a:rPr sz="1000" i="1" spc="-55" dirty="0">
                <a:solidFill>
                  <a:srgbClr val="D8D8D8"/>
                </a:solidFill>
                <a:latin typeface="Trebuchet MS"/>
                <a:cs typeface="Trebuchet MS"/>
              </a:rPr>
              <a:t> </a:t>
            </a:r>
            <a:r>
              <a:rPr sz="1000" i="1" spc="-80" dirty="0">
                <a:solidFill>
                  <a:srgbClr val="D8D8D8"/>
                </a:solidFill>
                <a:latin typeface="Trebuchet MS"/>
                <a:cs typeface="Trebuchet MS"/>
              </a:rPr>
              <a:t>for</a:t>
            </a:r>
            <a:r>
              <a:rPr sz="1000" i="1" spc="-55" dirty="0">
                <a:solidFill>
                  <a:srgbClr val="D8D8D8"/>
                </a:solidFill>
                <a:latin typeface="Trebuchet MS"/>
                <a:cs typeface="Trebuchet MS"/>
              </a:rPr>
              <a:t> </a:t>
            </a:r>
            <a:r>
              <a:rPr sz="1000" i="1" spc="-50" dirty="0">
                <a:solidFill>
                  <a:srgbClr val="D8D8D8"/>
                </a:solidFill>
                <a:latin typeface="Trebuchet MS"/>
                <a:cs typeface="Trebuchet MS"/>
              </a:rPr>
              <a:t>premium</a:t>
            </a:r>
            <a:r>
              <a:rPr sz="1000" i="1" spc="-65" dirty="0">
                <a:solidFill>
                  <a:srgbClr val="D8D8D8"/>
                </a:solidFill>
                <a:latin typeface="Trebuchet MS"/>
                <a:cs typeface="Trebuchet MS"/>
              </a:rPr>
              <a:t> </a:t>
            </a:r>
            <a:r>
              <a:rPr sz="1000" i="1" spc="-50" dirty="0">
                <a:solidFill>
                  <a:srgbClr val="D8D8D8"/>
                </a:solidFill>
                <a:latin typeface="Trebuchet MS"/>
                <a:cs typeface="Trebuchet MS"/>
              </a:rPr>
              <a:t>canned</a:t>
            </a:r>
            <a:r>
              <a:rPr sz="1000" i="1" spc="-35" dirty="0">
                <a:solidFill>
                  <a:srgbClr val="D8D8D8"/>
                </a:solidFill>
                <a:latin typeface="Trebuchet MS"/>
                <a:cs typeface="Trebuchet MS"/>
              </a:rPr>
              <a:t> </a:t>
            </a:r>
            <a:r>
              <a:rPr sz="1000" i="1" spc="-55" dirty="0">
                <a:solidFill>
                  <a:srgbClr val="D8D8D8"/>
                </a:solidFill>
                <a:latin typeface="Trebuchet MS"/>
                <a:cs typeface="Trebuchet MS"/>
              </a:rPr>
              <a:t>occasions,</a:t>
            </a:r>
            <a:r>
              <a:rPr sz="1000" i="1" spc="-100" dirty="0">
                <a:solidFill>
                  <a:srgbClr val="D8D8D8"/>
                </a:solidFill>
                <a:latin typeface="Trebuchet MS"/>
                <a:cs typeface="Trebuchet MS"/>
              </a:rPr>
              <a:t> </a:t>
            </a:r>
            <a:r>
              <a:rPr sz="1000" i="1" spc="-40" dirty="0">
                <a:solidFill>
                  <a:srgbClr val="D8D8D8"/>
                </a:solidFill>
                <a:latin typeface="Trebuchet MS"/>
                <a:cs typeface="Trebuchet MS"/>
              </a:rPr>
              <a:t>imported-</a:t>
            </a:r>
            <a:r>
              <a:rPr sz="1000" i="1" spc="-20" dirty="0">
                <a:solidFill>
                  <a:srgbClr val="D8D8D8"/>
                </a:solidFill>
                <a:latin typeface="Trebuchet MS"/>
                <a:cs typeface="Trebuchet MS"/>
              </a:rPr>
              <a:t>brand</a:t>
            </a:r>
            <a:r>
              <a:rPr sz="1000" i="1" spc="-45" dirty="0">
                <a:solidFill>
                  <a:srgbClr val="D8D8D8"/>
                </a:solidFill>
                <a:latin typeface="Trebuchet MS"/>
                <a:cs typeface="Trebuchet MS"/>
              </a:rPr>
              <a:t> cachet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291840" y="1462684"/>
            <a:ext cx="2670175" cy="4754880"/>
            <a:chOff x="3291840" y="1462684"/>
            <a:chExt cx="2670175" cy="4754880"/>
          </a:xfrm>
        </p:grpSpPr>
        <p:sp>
          <p:nvSpPr>
            <p:cNvPr id="18" name="object 18"/>
            <p:cNvSpPr/>
            <p:nvPr/>
          </p:nvSpPr>
          <p:spPr>
            <a:xfrm>
              <a:off x="3291840" y="1462684"/>
              <a:ext cx="2670175" cy="4754880"/>
            </a:xfrm>
            <a:custGeom>
              <a:avLst/>
              <a:gdLst/>
              <a:ahLst/>
              <a:cxnLst/>
              <a:rect l="l" t="t" r="r" b="b"/>
              <a:pathLst>
                <a:path w="2670175" h="4754880">
                  <a:moveTo>
                    <a:pt x="2596680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4681791"/>
                  </a:lnTo>
                  <a:lnTo>
                    <a:pt x="15046" y="4726169"/>
                  </a:lnTo>
                  <a:lnTo>
                    <a:pt x="54046" y="4752449"/>
                  </a:lnTo>
                  <a:lnTo>
                    <a:pt x="73075" y="4754880"/>
                  </a:lnTo>
                  <a:lnTo>
                    <a:pt x="2597035" y="4754511"/>
                  </a:lnTo>
                  <a:lnTo>
                    <a:pt x="2641413" y="4739470"/>
                  </a:lnTo>
                  <a:lnTo>
                    <a:pt x="2667678" y="4700514"/>
                  </a:lnTo>
                  <a:lnTo>
                    <a:pt x="2670101" y="4681791"/>
                  </a:lnTo>
                  <a:lnTo>
                    <a:pt x="2670124" y="4681435"/>
                  </a:lnTo>
                  <a:lnTo>
                    <a:pt x="2669755" y="73075"/>
                  </a:lnTo>
                  <a:lnTo>
                    <a:pt x="2654714" y="28698"/>
                  </a:lnTo>
                  <a:lnTo>
                    <a:pt x="2615714" y="2428"/>
                  </a:lnTo>
                  <a:lnTo>
                    <a:pt x="2606313" y="607"/>
                  </a:lnTo>
                  <a:lnTo>
                    <a:pt x="2596680" y="0"/>
                  </a:lnTo>
                  <a:close/>
                </a:path>
              </a:pathLst>
            </a:custGeom>
            <a:solidFill>
              <a:srgbClr val="F2F0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97680" y="1691639"/>
              <a:ext cx="658495" cy="658495"/>
            </a:xfrm>
            <a:custGeom>
              <a:avLst/>
              <a:gdLst/>
              <a:ahLst/>
              <a:cxnLst/>
              <a:rect l="l" t="t" r="r" b="b"/>
              <a:pathLst>
                <a:path w="658495" h="658494">
                  <a:moveTo>
                    <a:pt x="329399" y="0"/>
                  </a:moveTo>
                  <a:lnTo>
                    <a:pt x="286220" y="2813"/>
                  </a:lnTo>
                  <a:lnTo>
                    <a:pt x="243986" y="11161"/>
                  </a:lnTo>
                  <a:lnTo>
                    <a:pt x="203237" y="24908"/>
                  </a:lnTo>
                  <a:lnTo>
                    <a:pt x="164515" y="43916"/>
                  </a:lnTo>
                  <a:lnTo>
                    <a:pt x="128668" y="67875"/>
                  </a:lnTo>
                  <a:lnTo>
                    <a:pt x="96432" y="96253"/>
                  </a:lnTo>
                  <a:lnTo>
                    <a:pt x="68180" y="128612"/>
                  </a:lnTo>
                  <a:lnTo>
                    <a:pt x="44284" y="164515"/>
                  </a:lnTo>
                  <a:lnTo>
                    <a:pt x="25063" y="203182"/>
                  </a:lnTo>
                  <a:lnTo>
                    <a:pt x="11207" y="243808"/>
                  </a:lnTo>
                  <a:lnTo>
                    <a:pt x="2819" y="285920"/>
                  </a:lnTo>
                  <a:lnTo>
                    <a:pt x="0" y="329044"/>
                  </a:lnTo>
                  <a:lnTo>
                    <a:pt x="2819" y="372160"/>
                  </a:lnTo>
                  <a:lnTo>
                    <a:pt x="11207" y="414269"/>
                  </a:lnTo>
                  <a:lnTo>
                    <a:pt x="25063" y="454893"/>
                  </a:lnTo>
                  <a:lnTo>
                    <a:pt x="44284" y="493560"/>
                  </a:lnTo>
                  <a:lnTo>
                    <a:pt x="68180" y="529463"/>
                  </a:lnTo>
                  <a:lnTo>
                    <a:pt x="96432" y="561822"/>
                  </a:lnTo>
                  <a:lnTo>
                    <a:pt x="128668" y="590200"/>
                  </a:lnTo>
                  <a:lnTo>
                    <a:pt x="164515" y="614159"/>
                  </a:lnTo>
                  <a:lnTo>
                    <a:pt x="203237" y="633172"/>
                  </a:lnTo>
                  <a:lnTo>
                    <a:pt x="243986" y="646918"/>
                  </a:lnTo>
                  <a:lnTo>
                    <a:pt x="286220" y="655264"/>
                  </a:lnTo>
                  <a:lnTo>
                    <a:pt x="329399" y="658075"/>
                  </a:lnTo>
                  <a:lnTo>
                    <a:pt x="372366" y="655264"/>
                  </a:lnTo>
                  <a:lnTo>
                    <a:pt x="414491" y="646918"/>
                  </a:lnTo>
                  <a:lnTo>
                    <a:pt x="455199" y="633172"/>
                  </a:lnTo>
                  <a:lnTo>
                    <a:pt x="493915" y="614159"/>
                  </a:lnTo>
                  <a:lnTo>
                    <a:pt x="529763" y="590200"/>
                  </a:lnTo>
                  <a:lnTo>
                    <a:pt x="562000" y="561822"/>
                  </a:lnTo>
                  <a:lnTo>
                    <a:pt x="590256" y="529463"/>
                  </a:lnTo>
                  <a:lnTo>
                    <a:pt x="614159" y="493560"/>
                  </a:lnTo>
                  <a:lnTo>
                    <a:pt x="633380" y="454893"/>
                  </a:lnTo>
                  <a:lnTo>
                    <a:pt x="647236" y="414269"/>
                  </a:lnTo>
                  <a:lnTo>
                    <a:pt x="655625" y="372160"/>
                  </a:lnTo>
                  <a:lnTo>
                    <a:pt x="658444" y="329044"/>
                  </a:lnTo>
                  <a:lnTo>
                    <a:pt x="655625" y="285920"/>
                  </a:lnTo>
                  <a:lnTo>
                    <a:pt x="647236" y="243808"/>
                  </a:lnTo>
                  <a:lnTo>
                    <a:pt x="633380" y="203182"/>
                  </a:lnTo>
                  <a:lnTo>
                    <a:pt x="614159" y="164515"/>
                  </a:lnTo>
                  <a:lnTo>
                    <a:pt x="590256" y="128612"/>
                  </a:lnTo>
                  <a:lnTo>
                    <a:pt x="562000" y="96253"/>
                  </a:lnTo>
                  <a:lnTo>
                    <a:pt x="529763" y="67875"/>
                  </a:lnTo>
                  <a:lnTo>
                    <a:pt x="493915" y="43916"/>
                  </a:lnTo>
                  <a:lnTo>
                    <a:pt x="455199" y="24908"/>
                  </a:lnTo>
                  <a:lnTo>
                    <a:pt x="414491" y="11161"/>
                  </a:lnTo>
                  <a:lnTo>
                    <a:pt x="372366" y="2813"/>
                  </a:lnTo>
                  <a:lnTo>
                    <a:pt x="329399" y="0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5718" y="1849323"/>
              <a:ext cx="341998" cy="341998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4111815" y="2536824"/>
            <a:ext cx="137458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5" dirty="0">
                <a:solidFill>
                  <a:srgbClr val="131313"/>
                </a:solidFill>
                <a:latin typeface="Times New Roman"/>
                <a:cs typeface="Times New Roman"/>
              </a:rPr>
              <a:t>Monster </a:t>
            </a:r>
            <a:r>
              <a:rPr sz="1400" b="1" spc="-10" dirty="0">
                <a:solidFill>
                  <a:srgbClr val="131313"/>
                </a:solidFill>
                <a:latin typeface="Times New Roman"/>
                <a:cs typeface="Times New Roman"/>
              </a:rPr>
              <a:t>Energy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80384" y="3027146"/>
            <a:ext cx="9500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C70F2D"/>
                </a:solidFill>
                <a:latin typeface="Trebuchet MS"/>
                <a:cs typeface="Trebuchet MS"/>
              </a:rPr>
              <a:t>PRICE</a:t>
            </a:r>
            <a:endParaRPr sz="1100" dirty="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80384" y="3343947"/>
            <a:ext cx="2300000" cy="1891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30" dirty="0">
                <a:solidFill>
                  <a:srgbClr val="131313"/>
                </a:solidFill>
                <a:latin typeface="Tahoma"/>
                <a:cs typeface="Tahoma"/>
              </a:rPr>
              <a:t>Rs. 125 / can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80384" y="3740302"/>
            <a:ext cx="9500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C70F2D"/>
                </a:solidFill>
                <a:latin typeface="Trebuchet MS"/>
                <a:cs typeface="Trebuchet MS"/>
              </a:rPr>
              <a:t>STRATEGY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80384" y="4057103"/>
            <a:ext cx="2300000" cy="1891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20" dirty="0">
                <a:solidFill>
                  <a:srgbClr val="131313"/>
                </a:solidFill>
                <a:latin typeface="Tahoma"/>
                <a:cs typeface="Tahoma"/>
              </a:rPr>
              <a:t>Esports sponsorship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80384" y="4453826"/>
            <a:ext cx="9500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60" dirty="0">
                <a:solidFill>
                  <a:srgbClr val="C70F2D"/>
                </a:solidFill>
                <a:latin typeface="Trebuchet MS"/>
                <a:cs typeface="Trebuchet MS"/>
              </a:rPr>
              <a:t>POSITION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480384" y="4770259"/>
            <a:ext cx="2300000" cy="1891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0" dirty="0">
                <a:solidFill>
                  <a:srgbClr val="131313"/>
                </a:solidFill>
                <a:latin typeface="Tahoma"/>
                <a:cs typeface="Tahoma"/>
              </a:rPr>
              <a:t>Gamer culture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493084" y="5120284"/>
            <a:ext cx="2267585" cy="13335"/>
          </a:xfrm>
          <a:custGeom>
            <a:avLst/>
            <a:gdLst/>
            <a:ahLst/>
            <a:cxnLst/>
            <a:rect l="l" t="t" r="r" b="b"/>
            <a:pathLst>
              <a:path w="2267585" h="13335">
                <a:moveTo>
                  <a:pt x="2267280" y="0"/>
                </a:moveTo>
                <a:lnTo>
                  <a:pt x="0" y="0"/>
                </a:lnTo>
                <a:lnTo>
                  <a:pt x="0" y="13309"/>
                </a:lnTo>
                <a:lnTo>
                  <a:pt x="1133640" y="13309"/>
                </a:lnTo>
                <a:lnTo>
                  <a:pt x="2267280" y="13309"/>
                </a:lnTo>
                <a:lnTo>
                  <a:pt x="2267280" y="0"/>
                </a:lnTo>
                <a:close/>
              </a:path>
            </a:pathLst>
          </a:custGeom>
          <a:solidFill>
            <a:srgbClr val="E2DF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480384" y="5499127"/>
            <a:ext cx="188023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000" i="1" spc="-60" dirty="0">
                <a:solidFill>
                  <a:srgbClr val="6D6A67"/>
                </a:solidFill>
                <a:latin typeface="Trebuchet MS"/>
                <a:cs typeface="Trebuchet MS"/>
              </a:rPr>
              <a:t>Best</a:t>
            </a:r>
            <a:r>
              <a:rPr sz="1000" i="1" spc="-30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000" i="1" spc="-80" dirty="0">
                <a:solidFill>
                  <a:srgbClr val="6D6A67"/>
                </a:solidFill>
                <a:latin typeface="Trebuchet MS"/>
                <a:cs typeface="Trebuchet MS"/>
              </a:rPr>
              <a:t>for</a:t>
            </a:r>
            <a:r>
              <a:rPr sz="1000" i="1" spc="-30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000" i="1" spc="-65" dirty="0">
                <a:solidFill>
                  <a:srgbClr val="6D6A67"/>
                </a:solidFill>
                <a:latin typeface="Trebuchet MS"/>
                <a:cs typeface="Trebuchet MS"/>
              </a:rPr>
              <a:t>gaming</a:t>
            </a:r>
            <a:r>
              <a:rPr sz="1000" i="1" spc="-15" dirty="0">
                <a:solidFill>
                  <a:srgbClr val="6D6A67"/>
                </a:solidFill>
                <a:latin typeface="Trebuchet MS"/>
                <a:cs typeface="Trebuchet MS"/>
              </a:rPr>
              <a:t>-led </a:t>
            </a:r>
            <a:r>
              <a:rPr sz="1000" i="1" spc="-85" dirty="0">
                <a:solidFill>
                  <a:srgbClr val="6D6A67"/>
                </a:solidFill>
                <a:latin typeface="Trebuchet MS"/>
                <a:cs typeface="Trebuchet MS"/>
              </a:rPr>
              <a:t>engagement</a:t>
            </a:r>
            <a:r>
              <a:rPr sz="1000" i="1" spc="-50" dirty="0">
                <a:solidFill>
                  <a:srgbClr val="6D6A67"/>
                </a:solidFill>
                <a:latin typeface="Trebuchet MS"/>
                <a:cs typeface="Trebuchet MS"/>
              </a:rPr>
              <a:t> &amp; </a:t>
            </a:r>
            <a:r>
              <a:rPr sz="1000" i="1" spc="-20" dirty="0">
                <a:solidFill>
                  <a:srgbClr val="6D6A67"/>
                </a:solidFill>
                <a:latin typeface="Trebuchet MS"/>
                <a:cs typeface="Trebuchet MS"/>
              </a:rPr>
              <a:t>convenience-</a:t>
            </a:r>
            <a:r>
              <a:rPr sz="1000" i="1" spc="-50" dirty="0">
                <a:solidFill>
                  <a:srgbClr val="6D6A67"/>
                </a:solidFill>
                <a:latin typeface="Trebuchet MS"/>
                <a:cs typeface="Trebuchet MS"/>
              </a:rPr>
              <a:t>store</a:t>
            </a:r>
            <a:r>
              <a:rPr sz="1000" i="1" spc="-60" dirty="0">
                <a:solidFill>
                  <a:srgbClr val="6D6A67"/>
                </a:solidFill>
                <a:latin typeface="Trebuchet MS"/>
                <a:cs typeface="Trebuchet MS"/>
              </a:rPr>
              <a:t> reach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080759" y="1462684"/>
            <a:ext cx="2670175" cy="4754880"/>
            <a:chOff x="6080759" y="1462684"/>
            <a:chExt cx="2670175" cy="4754880"/>
          </a:xfrm>
        </p:grpSpPr>
        <p:sp>
          <p:nvSpPr>
            <p:cNvPr id="31" name="object 31"/>
            <p:cNvSpPr/>
            <p:nvPr/>
          </p:nvSpPr>
          <p:spPr>
            <a:xfrm>
              <a:off x="6080759" y="1462684"/>
              <a:ext cx="2670175" cy="4754880"/>
            </a:xfrm>
            <a:custGeom>
              <a:avLst/>
              <a:gdLst/>
              <a:ahLst/>
              <a:cxnLst/>
              <a:rect l="l" t="t" r="r" b="b"/>
              <a:pathLst>
                <a:path w="2670175" h="4754880">
                  <a:moveTo>
                    <a:pt x="2596680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4681791"/>
                  </a:lnTo>
                  <a:lnTo>
                    <a:pt x="15046" y="4726169"/>
                  </a:lnTo>
                  <a:lnTo>
                    <a:pt x="54046" y="4752449"/>
                  </a:lnTo>
                  <a:lnTo>
                    <a:pt x="73075" y="4754880"/>
                  </a:lnTo>
                  <a:lnTo>
                    <a:pt x="2597035" y="4754511"/>
                  </a:lnTo>
                  <a:lnTo>
                    <a:pt x="2641413" y="4739470"/>
                  </a:lnTo>
                  <a:lnTo>
                    <a:pt x="2667678" y="4700514"/>
                  </a:lnTo>
                  <a:lnTo>
                    <a:pt x="2670101" y="4681791"/>
                  </a:lnTo>
                  <a:lnTo>
                    <a:pt x="2670124" y="4681435"/>
                  </a:lnTo>
                  <a:lnTo>
                    <a:pt x="2669755" y="73075"/>
                  </a:lnTo>
                  <a:lnTo>
                    <a:pt x="2654714" y="28698"/>
                  </a:lnTo>
                  <a:lnTo>
                    <a:pt x="2615714" y="2428"/>
                  </a:lnTo>
                  <a:lnTo>
                    <a:pt x="2606313" y="607"/>
                  </a:lnTo>
                  <a:lnTo>
                    <a:pt x="2596680" y="0"/>
                  </a:lnTo>
                  <a:close/>
                </a:path>
              </a:pathLst>
            </a:custGeom>
            <a:solidFill>
              <a:srgbClr val="F2F0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086599" y="1691639"/>
              <a:ext cx="658495" cy="658495"/>
            </a:xfrm>
            <a:custGeom>
              <a:avLst/>
              <a:gdLst/>
              <a:ahLst/>
              <a:cxnLst/>
              <a:rect l="l" t="t" r="r" b="b"/>
              <a:pathLst>
                <a:path w="658495" h="658494">
                  <a:moveTo>
                    <a:pt x="329399" y="0"/>
                  </a:moveTo>
                  <a:lnTo>
                    <a:pt x="286220" y="2813"/>
                  </a:lnTo>
                  <a:lnTo>
                    <a:pt x="243986" y="11161"/>
                  </a:lnTo>
                  <a:lnTo>
                    <a:pt x="203237" y="24908"/>
                  </a:lnTo>
                  <a:lnTo>
                    <a:pt x="164515" y="43916"/>
                  </a:lnTo>
                  <a:lnTo>
                    <a:pt x="128668" y="67875"/>
                  </a:lnTo>
                  <a:lnTo>
                    <a:pt x="96432" y="96253"/>
                  </a:lnTo>
                  <a:lnTo>
                    <a:pt x="68180" y="128612"/>
                  </a:lnTo>
                  <a:lnTo>
                    <a:pt x="44284" y="164515"/>
                  </a:lnTo>
                  <a:lnTo>
                    <a:pt x="25063" y="203182"/>
                  </a:lnTo>
                  <a:lnTo>
                    <a:pt x="11207" y="243808"/>
                  </a:lnTo>
                  <a:lnTo>
                    <a:pt x="2819" y="285920"/>
                  </a:lnTo>
                  <a:lnTo>
                    <a:pt x="0" y="329044"/>
                  </a:lnTo>
                  <a:lnTo>
                    <a:pt x="2819" y="372160"/>
                  </a:lnTo>
                  <a:lnTo>
                    <a:pt x="11207" y="414269"/>
                  </a:lnTo>
                  <a:lnTo>
                    <a:pt x="25063" y="454893"/>
                  </a:lnTo>
                  <a:lnTo>
                    <a:pt x="44284" y="493560"/>
                  </a:lnTo>
                  <a:lnTo>
                    <a:pt x="68180" y="529463"/>
                  </a:lnTo>
                  <a:lnTo>
                    <a:pt x="96432" y="561822"/>
                  </a:lnTo>
                  <a:lnTo>
                    <a:pt x="128668" y="590200"/>
                  </a:lnTo>
                  <a:lnTo>
                    <a:pt x="164515" y="614159"/>
                  </a:lnTo>
                  <a:lnTo>
                    <a:pt x="203237" y="633172"/>
                  </a:lnTo>
                  <a:lnTo>
                    <a:pt x="243986" y="646918"/>
                  </a:lnTo>
                  <a:lnTo>
                    <a:pt x="286220" y="655264"/>
                  </a:lnTo>
                  <a:lnTo>
                    <a:pt x="329399" y="658075"/>
                  </a:lnTo>
                  <a:lnTo>
                    <a:pt x="372366" y="655264"/>
                  </a:lnTo>
                  <a:lnTo>
                    <a:pt x="414491" y="646918"/>
                  </a:lnTo>
                  <a:lnTo>
                    <a:pt x="455199" y="633172"/>
                  </a:lnTo>
                  <a:lnTo>
                    <a:pt x="493915" y="614159"/>
                  </a:lnTo>
                  <a:lnTo>
                    <a:pt x="529763" y="590200"/>
                  </a:lnTo>
                  <a:lnTo>
                    <a:pt x="562000" y="561822"/>
                  </a:lnTo>
                  <a:lnTo>
                    <a:pt x="590256" y="529463"/>
                  </a:lnTo>
                  <a:lnTo>
                    <a:pt x="614159" y="493560"/>
                  </a:lnTo>
                  <a:lnTo>
                    <a:pt x="633380" y="454893"/>
                  </a:lnTo>
                  <a:lnTo>
                    <a:pt x="647236" y="414269"/>
                  </a:lnTo>
                  <a:lnTo>
                    <a:pt x="655625" y="372160"/>
                  </a:lnTo>
                  <a:lnTo>
                    <a:pt x="658444" y="329044"/>
                  </a:lnTo>
                  <a:lnTo>
                    <a:pt x="655625" y="285920"/>
                  </a:lnTo>
                  <a:lnTo>
                    <a:pt x="647236" y="243808"/>
                  </a:lnTo>
                  <a:lnTo>
                    <a:pt x="633380" y="203182"/>
                  </a:lnTo>
                  <a:lnTo>
                    <a:pt x="614159" y="164515"/>
                  </a:lnTo>
                  <a:lnTo>
                    <a:pt x="590256" y="128612"/>
                  </a:lnTo>
                  <a:lnTo>
                    <a:pt x="562000" y="96253"/>
                  </a:lnTo>
                  <a:lnTo>
                    <a:pt x="529763" y="67875"/>
                  </a:lnTo>
                  <a:lnTo>
                    <a:pt x="493915" y="43916"/>
                  </a:lnTo>
                  <a:lnTo>
                    <a:pt x="455199" y="24908"/>
                  </a:lnTo>
                  <a:lnTo>
                    <a:pt x="414491" y="11161"/>
                  </a:lnTo>
                  <a:lnTo>
                    <a:pt x="372366" y="2813"/>
                  </a:lnTo>
                  <a:lnTo>
                    <a:pt x="329399" y="0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44638" y="1849323"/>
              <a:ext cx="341998" cy="341998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6838098" y="2536824"/>
            <a:ext cx="1711491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31313"/>
                </a:solidFill>
                <a:latin typeface="Times New Roman"/>
                <a:cs typeface="Times New Roman"/>
              </a:rPr>
              <a:t>Sting</a:t>
            </a:r>
            <a:r>
              <a:rPr lang="en-IN" sz="1400" b="1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400" b="1" spc="35" dirty="0">
                <a:solidFill>
                  <a:srgbClr val="131313"/>
                </a:solidFill>
                <a:latin typeface="Times New Roman"/>
                <a:cs typeface="Times New Roman"/>
              </a:rPr>
              <a:t>(PepsiCo)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69304" y="3027146"/>
            <a:ext cx="9500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C70F2D"/>
                </a:solidFill>
                <a:latin typeface="Trebuchet MS"/>
                <a:cs typeface="Trebuchet MS"/>
              </a:rPr>
              <a:t>PRICE</a:t>
            </a:r>
            <a:endParaRPr sz="1100" dirty="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69304" y="3343947"/>
            <a:ext cx="2300000" cy="1891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0" dirty="0">
                <a:solidFill>
                  <a:srgbClr val="131313"/>
                </a:solidFill>
                <a:latin typeface="Tahoma"/>
                <a:cs typeface="Tahoma"/>
              </a:rPr>
              <a:t>Rs.</a:t>
            </a:r>
            <a:r>
              <a:rPr sz="1150" spc="-60" dirty="0">
                <a:solidFill>
                  <a:srgbClr val="131313"/>
                </a:solidFill>
                <a:latin typeface="Tahoma"/>
                <a:cs typeface="Tahoma"/>
              </a:rPr>
              <a:t> 20 /</a:t>
            </a:r>
            <a:r>
              <a:rPr sz="1150" dirty="0">
                <a:solidFill>
                  <a:srgbClr val="131313"/>
                </a:solidFill>
                <a:latin typeface="Tahoma"/>
                <a:cs typeface="Tahoma"/>
              </a:rPr>
              <a:t> PET</a:t>
            </a:r>
            <a:r>
              <a:rPr sz="1150" spc="-5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150" spc="-60" dirty="0">
                <a:solidFill>
                  <a:srgbClr val="131313"/>
                </a:solidFill>
                <a:latin typeface="Tahoma"/>
                <a:cs typeface="Tahoma"/>
              </a:rPr>
              <a:t>bottle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269304" y="3740302"/>
            <a:ext cx="9500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C70F2D"/>
                </a:solidFill>
                <a:latin typeface="Trebuchet MS"/>
                <a:cs typeface="Trebuchet MS"/>
              </a:rPr>
              <a:t>STRATEGY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269304" y="4057103"/>
            <a:ext cx="2300000" cy="1891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20" dirty="0">
                <a:solidFill>
                  <a:srgbClr val="131313"/>
                </a:solidFill>
                <a:latin typeface="Tahoma"/>
                <a:cs typeface="Tahoma"/>
              </a:rPr>
              <a:t>Deep GT distribution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69304" y="4453826"/>
            <a:ext cx="9500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60" dirty="0">
                <a:solidFill>
                  <a:srgbClr val="C70F2D"/>
                </a:solidFill>
                <a:latin typeface="Trebuchet MS"/>
                <a:cs typeface="Trebuchet MS"/>
              </a:rPr>
              <a:t>POSITION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269304" y="4770259"/>
            <a:ext cx="2300000" cy="1891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35" dirty="0">
                <a:solidFill>
                  <a:srgbClr val="131313"/>
                </a:solidFill>
                <a:latin typeface="Tahoma"/>
                <a:cs typeface="Tahoma"/>
              </a:rPr>
              <a:t>Mass affordability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282004" y="5120284"/>
            <a:ext cx="2267585" cy="13335"/>
          </a:xfrm>
          <a:custGeom>
            <a:avLst/>
            <a:gdLst/>
            <a:ahLst/>
            <a:cxnLst/>
            <a:rect l="l" t="t" r="r" b="b"/>
            <a:pathLst>
              <a:path w="2267584" h="13335">
                <a:moveTo>
                  <a:pt x="2267280" y="0"/>
                </a:moveTo>
                <a:lnTo>
                  <a:pt x="0" y="0"/>
                </a:lnTo>
                <a:lnTo>
                  <a:pt x="0" y="13309"/>
                </a:lnTo>
                <a:lnTo>
                  <a:pt x="1133640" y="13309"/>
                </a:lnTo>
                <a:lnTo>
                  <a:pt x="2267280" y="13309"/>
                </a:lnTo>
                <a:lnTo>
                  <a:pt x="2267280" y="0"/>
                </a:lnTo>
                <a:close/>
              </a:path>
            </a:pathLst>
          </a:custGeom>
          <a:solidFill>
            <a:srgbClr val="E2DF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6269304" y="5527635"/>
            <a:ext cx="205549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60" dirty="0">
                <a:solidFill>
                  <a:srgbClr val="6D6A67"/>
                </a:solidFill>
                <a:latin typeface="Trebuchet MS"/>
                <a:cs typeface="Trebuchet MS"/>
              </a:rPr>
              <a:t>Best</a:t>
            </a:r>
            <a:r>
              <a:rPr sz="1000" i="1" spc="-45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000" i="1" spc="-80" dirty="0">
                <a:solidFill>
                  <a:srgbClr val="6D6A67"/>
                </a:solidFill>
                <a:latin typeface="Trebuchet MS"/>
                <a:cs typeface="Trebuchet MS"/>
              </a:rPr>
              <a:t>for</a:t>
            </a:r>
            <a:r>
              <a:rPr sz="1000" i="1" spc="-45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000" i="1" spc="-75" dirty="0">
                <a:solidFill>
                  <a:srgbClr val="6D6A67"/>
                </a:solidFill>
                <a:latin typeface="Trebuchet MS"/>
                <a:cs typeface="Trebuchet MS"/>
              </a:rPr>
              <a:t>volume</a:t>
            </a:r>
            <a:r>
              <a:rPr sz="1000" i="1" spc="-30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000" i="1" spc="-55" dirty="0">
                <a:solidFill>
                  <a:srgbClr val="6D6A67"/>
                </a:solidFill>
                <a:latin typeface="Trebuchet MS"/>
                <a:cs typeface="Trebuchet MS"/>
              </a:rPr>
              <a:t>scale</a:t>
            </a:r>
            <a:r>
              <a:rPr sz="1000" i="1" spc="-40" dirty="0">
                <a:solidFill>
                  <a:srgbClr val="6D6A67"/>
                </a:solidFill>
                <a:latin typeface="Trebuchet MS"/>
                <a:cs typeface="Trebuchet MS"/>
              </a:rPr>
              <a:t> &amp; </a:t>
            </a:r>
            <a:r>
              <a:rPr sz="1000" i="1" spc="-30" dirty="0">
                <a:solidFill>
                  <a:srgbClr val="6D6A67"/>
                </a:solidFill>
                <a:latin typeface="Trebuchet MS"/>
                <a:cs typeface="Trebuchet MS"/>
              </a:rPr>
              <a:t>semi-</a:t>
            </a:r>
            <a:r>
              <a:rPr sz="1000" i="1" spc="-35" dirty="0">
                <a:solidFill>
                  <a:srgbClr val="6D6A67"/>
                </a:solidFill>
                <a:latin typeface="Trebuchet MS"/>
                <a:cs typeface="Trebuchet MS"/>
              </a:rPr>
              <a:t>urban/</a:t>
            </a:r>
            <a:r>
              <a:rPr sz="1000" i="1" spc="-55" dirty="0">
                <a:solidFill>
                  <a:srgbClr val="6D6A67"/>
                </a:solidFill>
                <a:latin typeface="Trebuchet MS"/>
                <a:cs typeface="Trebuchet MS"/>
              </a:rPr>
              <a:t>rural reach</a:t>
            </a:r>
            <a:endParaRPr sz="1000" dirty="0">
              <a:latin typeface="Trebuchet MS"/>
              <a:cs typeface="Trebuchet MS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869680" y="1462684"/>
            <a:ext cx="2670175" cy="4754880"/>
            <a:chOff x="8869680" y="1462684"/>
            <a:chExt cx="2670175" cy="4754880"/>
          </a:xfrm>
        </p:grpSpPr>
        <p:sp>
          <p:nvSpPr>
            <p:cNvPr id="44" name="object 44"/>
            <p:cNvSpPr/>
            <p:nvPr/>
          </p:nvSpPr>
          <p:spPr>
            <a:xfrm>
              <a:off x="8869680" y="1462684"/>
              <a:ext cx="2670175" cy="4754880"/>
            </a:xfrm>
            <a:custGeom>
              <a:avLst/>
              <a:gdLst/>
              <a:ahLst/>
              <a:cxnLst/>
              <a:rect l="l" t="t" r="r" b="b"/>
              <a:pathLst>
                <a:path w="2670175" h="4754880">
                  <a:moveTo>
                    <a:pt x="2596680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4681791"/>
                  </a:lnTo>
                  <a:lnTo>
                    <a:pt x="597" y="4691069"/>
                  </a:lnTo>
                  <a:lnTo>
                    <a:pt x="607" y="4691219"/>
                  </a:lnTo>
                  <a:lnTo>
                    <a:pt x="21285" y="4733409"/>
                  </a:lnTo>
                  <a:lnTo>
                    <a:pt x="63443" y="4754272"/>
                  </a:lnTo>
                  <a:lnTo>
                    <a:pt x="73075" y="4754880"/>
                  </a:lnTo>
                  <a:lnTo>
                    <a:pt x="2597035" y="4754511"/>
                  </a:lnTo>
                  <a:lnTo>
                    <a:pt x="2641413" y="4739470"/>
                  </a:lnTo>
                  <a:lnTo>
                    <a:pt x="2667678" y="4700514"/>
                  </a:lnTo>
                  <a:lnTo>
                    <a:pt x="2670101" y="4681791"/>
                  </a:lnTo>
                  <a:lnTo>
                    <a:pt x="2670124" y="4681435"/>
                  </a:lnTo>
                  <a:lnTo>
                    <a:pt x="2669755" y="73075"/>
                  </a:lnTo>
                  <a:lnTo>
                    <a:pt x="2654714" y="28698"/>
                  </a:lnTo>
                  <a:lnTo>
                    <a:pt x="2615714" y="2428"/>
                  </a:lnTo>
                  <a:lnTo>
                    <a:pt x="2606313" y="607"/>
                  </a:lnTo>
                  <a:lnTo>
                    <a:pt x="2596680" y="0"/>
                  </a:lnTo>
                  <a:close/>
                </a:path>
              </a:pathLst>
            </a:custGeom>
            <a:solidFill>
              <a:srgbClr val="F2F0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875520" y="1691639"/>
              <a:ext cx="658495" cy="658495"/>
            </a:xfrm>
            <a:custGeom>
              <a:avLst/>
              <a:gdLst/>
              <a:ahLst/>
              <a:cxnLst/>
              <a:rect l="l" t="t" r="r" b="b"/>
              <a:pathLst>
                <a:path w="658495" h="658494">
                  <a:moveTo>
                    <a:pt x="329399" y="0"/>
                  </a:moveTo>
                  <a:lnTo>
                    <a:pt x="286220" y="2813"/>
                  </a:lnTo>
                  <a:lnTo>
                    <a:pt x="243986" y="11161"/>
                  </a:lnTo>
                  <a:lnTo>
                    <a:pt x="203237" y="24908"/>
                  </a:lnTo>
                  <a:lnTo>
                    <a:pt x="164515" y="43916"/>
                  </a:lnTo>
                  <a:lnTo>
                    <a:pt x="128668" y="67875"/>
                  </a:lnTo>
                  <a:lnTo>
                    <a:pt x="96432" y="96253"/>
                  </a:lnTo>
                  <a:lnTo>
                    <a:pt x="68180" y="128612"/>
                  </a:lnTo>
                  <a:lnTo>
                    <a:pt x="44284" y="164515"/>
                  </a:lnTo>
                  <a:lnTo>
                    <a:pt x="25063" y="203182"/>
                  </a:lnTo>
                  <a:lnTo>
                    <a:pt x="11207" y="243808"/>
                  </a:lnTo>
                  <a:lnTo>
                    <a:pt x="2819" y="285920"/>
                  </a:lnTo>
                  <a:lnTo>
                    <a:pt x="0" y="329044"/>
                  </a:lnTo>
                  <a:lnTo>
                    <a:pt x="2819" y="372160"/>
                  </a:lnTo>
                  <a:lnTo>
                    <a:pt x="11207" y="414269"/>
                  </a:lnTo>
                  <a:lnTo>
                    <a:pt x="25063" y="454893"/>
                  </a:lnTo>
                  <a:lnTo>
                    <a:pt x="44284" y="493560"/>
                  </a:lnTo>
                  <a:lnTo>
                    <a:pt x="68180" y="529463"/>
                  </a:lnTo>
                  <a:lnTo>
                    <a:pt x="96432" y="561822"/>
                  </a:lnTo>
                  <a:lnTo>
                    <a:pt x="128668" y="590200"/>
                  </a:lnTo>
                  <a:lnTo>
                    <a:pt x="164515" y="614159"/>
                  </a:lnTo>
                  <a:lnTo>
                    <a:pt x="203237" y="633172"/>
                  </a:lnTo>
                  <a:lnTo>
                    <a:pt x="243986" y="646918"/>
                  </a:lnTo>
                  <a:lnTo>
                    <a:pt x="286220" y="655264"/>
                  </a:lnTo>
                  <a:lnTo>
                    <a:pt x="329399" y="658075"/>
                  </a:lnTo>
                  <a:lnTo>
                    <a:pt x="372366" y="655264"/>
                  </a:lnTo>
                  <a:lnTo>
                    <a:pt x="414491" y="646918"/>
                  </a:lnTo>
                  <a:lnTo>
                    <a:pt x="455199" y="633172"/>
                  </a:lnTo>
                  <a:lnTo>
                    <a:pt x="493915" y="614159"/>
                  </a:lnTo>
                  <a:lnTo>
                    <a:pt x="529763" y="590200"/>
                  </a:lnTo>
                  <a:lnTo>
                    <a:pt x="562000" y="561822"/>
                  </a:lnTo>
                  <a:lnTo>
                    <a:pt x="590256" y="529463"/>
                  </a:lnTo>
                  <a:lnTo>
                    <a:pt x="614159" y="493560"/>
                  </a:lnTo>
                  <a:lnTo>
                    <a:pt x="633380" y="454893"/>
                  </a:lnTo>
                  <a:lnTo>
                    <a:pt x="647236" y="414269"/>
                  </a:lnTo>
                  <a:lnTo>
                    <a:pt x="655625" y="372160"/>
                  </a:lnTo>
                  <a:lnTo>
                    <a:pt x="658444" y="329044"/>
                  </a:lnTo>
                  <a:lnTo>
                    <a:pt x="655625" y="285920"/>
                  </a:lnTo>
                  <a:lnTo>
                    <a:pt x="647236" y="243808"/>
                  </a:lnTo>
                  <a:lnTo>
                    <a:pt x="633380" y="203182"/>
                  </a:lnTo>
                  <a:lnTo>
                    <a:pt x="614159" y="164515"/>
                  </a:lnTo>
                  <a:lnTo>
                    <a:pt x="590256" y="128612"/>
                  </a:lnTo>
                  <a:lnTo>
                    <a:pt x="562000" y="96253"/>
                  </a:lnTo>
                  <a:lnTo>
                    <a:pt x="529763" y="67875"/>
                  </a:lnTo>
                  <a:lnTo>
                    <a:pt x="493915" y="43916"/>
                  </a:lnTo>
                  <a:lnTo>
                    <a:pt x="455199" y="24908"/>
                  </a:lnTo>
                  <a:lnTo>
                    <a:pt x="414491" y="11161"/>
                  </a:lnTo>
                  <a:lnTo>
                    <a:pt x="372366" y="2813"/>
                  </a:lnTo>
                  <a:lnTo>
                    <a:pt x="329399" y="0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33559" y="1849323"/>
              <a:ext cx="341998" cy="341998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9630256" y="2536824"/>
            <a:ext cx="1571143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31313"/>
                </a:solidFill>
                <a:latin typeface="Times New Roman"/>
                <a:cs typeface="Times New Roman"/>
              </a:rPr>
              <a:t>Budweiser</a:t>
            </a:r>
            <a:r>
              <a:rPr sz="1400" b="1" spc="-20" dirty="0">
                <a:solidFill>
                  <a:srgbClr val="131313"/>
                </a:solidFill>
                <a:latin typeface="Times New Roman"/>
                <a:cs typeface="Times New Roman"/>
              </a:rPr>
              <a:t> Beats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058223" y="3027146"/>
            <a:ext cx="9500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C70F2D"/>
                </a:solidFill>
                <a:latin typeface="Trebuchet MS"/>
                <a:cs typeface="Trebuchet MS"/>
              </a:rPr>
              <a:t>PRICE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058223" y="3343947"/>
            <a:ext cx="2300000" cy="1891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55" dirty="0">
                <a:solidFill>
                  <a:srgbClr val="131313"/>
                </a:solidFill>
                <a:latin typeface="Tahoma"/>
                <a:cs typeface="Tahoma"/>
              </a:rPr>
              <a:t>Rs.</a:t>
            </a:r>
            <a:r>
              <a:rPr sz="1150" spc="-75" dirty="0">
                <a:solidFill>
                  <a:srgbClr val="131313"/>
                </a:solidFill>
                <a:latin typeface="Tahoma"/>
                <a:cs typeface="Tahoma"/>
              </a:rPr>
              <a:t> 110 /</a:t>
            </a:r>
            <a:r>
              <a:rPr sz="1150" spc="-65" dirty="0">
                <a:solidFill>
                  <a:srgbClr val="131313"/>
                </a:solidFill>
                <a:latin typeface="Tahoma"/>
                <a:cs typeface="Tahoma"/>
              </a:rPr>
              <a:t> can</a:t>
            </a:r>
            <a:endParaRPr sz="1150" dirty="0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058223" y="3740302"/>
            <a:ext cx="9500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C70F2D"/>
                </a:solidFill>
                <a:latin typeface="Trebuchet MS"/>
                <a:cs typeface="Trebuchet MS"/>
              </a:rPr>
              <a:t>STRATEGY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058223" y="4057103"/>
            <a:ext cx="2300000" cy="1891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55" dirty="0">
                <a:solidFill>
                  <a:srgbClr val="131313"/>
                </a:solidFill>
                <a:latin typeface="Tahoma"/>
                <a:cs typeface="Tahoma"/>
              </a:rPr>
              <a:t>Quick-</a:t>
            </a:r>
            <a:r>
              <a:rPr sz="1150" spc="-75" dirty="0">
                <a:solidFill>
                  <a:srgbClr val="131313"/>
                </a:solidFill>
                <a:latin typeface="Tahoma"/>
                <a:cs typeface="Tahoma"/>
              </a:rPr>
              <a:t>commerce</a:t>
            </a:r>
            <a:r>
              <a:rPr sz="1150" spc="-40" dirty="0">
                <a:solidFill>
                  <a:srgbClr val="131313"/>
                </a:solidFill>
                <a:latin typeface="Tahoma"/>
                <a:cs typeface="Tahoma"/>
              </a:rPr>
              <a:t>-led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058223" y="4453826"/>
            <a:ext cx="9500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60" dirty="0">
                <a:solidFill>
                  <a:srgbClr val="C70F2D"/>
                </a:solidFill>
                <a:latin typeface="Trebuchet MS"/>
                <a:cs typeface="Trebuchet MS"/>
              </a:rPr>
              <a:t>POSITION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058223" y="4770259"/>
            <a:ext cx="2300000" cy="1891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60" dirty="0">
                <a:solidFill>
                  <a:srgbClr val="131313"/>
                </a:solidFill>
                <a:latin typeface="Tahoma"/>
                <a:cs typeface="Tahoma"/>
              </a:rPr>
              <a:t>Cognitive</a:t>
            </a:r>
            <a:r>
              <a:rPr sz="1150" spc="-65" dirty="0">
                <a:solidFill>
                  <a:srgbClr val="131313"/>
                </a:solidFill>
                <a:latin typeface="Tahoma"/>
                <a:cs typeface="Tahoma"/>
              </a:rPr>
              <a:t> </a:t>
            </a:r>
            <a:r>
              <a:rPr sz="1150" spc="-55" dirty="0">
                <a:solidFill>
                  <a:srgbClr val="131313"/>
                </a:solidFill>
                <a:latin typeface="Tahoma"/>
                <a:cs typeface="Tahoma"/>
              </a:rPr>
              <a:t>energy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9070923" y="5120284"/>
            <a:ext cx="2267585" cy="13335"/>
          </a:xfrm>
          <a:custGeom>
            <a:avLst/>
            <a:gdLst/>
            <a:ahLst/>
            <a:cxnLst/>
            <a:rect l="l" t="t" r="r" b="b"/>
            <a:pathLst>
              <a:path w="2267584" h="13335">
                <a:moveTo>
                  <a:pt x="2267280" y="0"/>
                </a:moveTo>
                <a:lnTo>
                  <a:pt x="0" y="0"/>
                </a:lnTo>
                <a:lnTo>
                  <a:pt x="0" y="13309"/>
                </a:lnTo>
                <a:lnTo>
                  <a:pt x="1133640" y="13309"/>
                </a:lnTo>
                <a:lnTo>
                  <a:pt x="2267280" y="13309"/>
                </a:lnTo>
                <a:lnTo>
                  <a:pt x="2267280" y="0"/>
                </a:lnTo>
                <a:close/>
              </a:path>
            </a:pathLst>
          </a:custGeom>
          <a:solidFill>
            <a:srgbClr val="E2DF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9058223" y="5545523"/>
            <a:ext cx="19367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60" dirty="0">
                <a:solidFill>
                  <a:srgbClr val="6D6A67"/>
                </a:solidFill>
                <a:latin typeface="Trebuchet MS"/>
                <a:cs typeface="Trebuchet MS"/>
              </a:rPr>
              <a:t>Best</a:t>
            </a:r>
            <a:r>
              <a:rPr sz="1000" i="1" spc="-40" dirty="0">
                <a:solidFill>
                  <a:srgbClr val="6D6A67"/>
                </a:solidFill>
                <a:latin typeface="Trebuchet MS"/>
                <a:cs typeface="Trebuchet MS"/>
              </a:rPr>
              <a:t> for</a:t>
            </a:r>
            <a:r>
              <a:rPr sz="1000" i="1" spc="-80" dirty="0">
                <a:solidFill>
                  <a:srgbClr val="6D6A67"/>
                </a:solidFill>
                <a:latin typeface="Trebuchet MS"/>
                <a:cs typeface="Trebuchet MS"/>
              </a:rPr>
              <a:t> </a:t>
            </a:r>
            <a:r>
              <a:rPr sz="1000" i="1" spc="-40" dirty="0">
                <a:solidFill>
                  <a:srgbClr val="6D6A67"/>
                </a:solidFill>
                <a:latin typeface="Trebuchet MS"/>
                <a:cs typeface="Trebuchet MS"/>
              </a:rPr>
              <a:t>premium-</a:t>
            </a:r>
            <a:r>
              <a:rPr sz="1000" i="1" spc="-50" dirty="0">
                <a:solidFill>
                  <a:srgbClr val="6D6A67"/>
                </a:solidFill>
                <a:latin typeface="Trebuchet MS"/>
                <a:cs typeface="Trebuchet MS"/>
              </a:rPr>
              <a:t>can</a:t>
            </a:r>
            <a:r>
              <a:rPr sz="1000" i="1" spc="-65" dirty="0">
                <a:solidFill>
                  <a:srgbClr val="6D6A67"/>
                </a:solidFill>
                <a:latin typeface="Trebuchet MS"/>
                <a:cs typeface="Trebuchet MS"/>
              </a:rPr>
              <a:t> occasions — </a:t>
            </a:r>
            <a:r>
              <a:rPr sz="1000" i="1" spc="-40" dirty="0">
                <a:solidFill>
                  <a:srgbClr val="6D6A67"/>
                </a:solidFill>
                <a:latin typeface="Trebuchet MS"/>
                <a:cs typeface="Trebuchet MS"/>
              </a:rPr>
              <a:t>Beats' </a:t>
            </a:r>
            <a:r>
              <a:rPr sz="1000" i="1" spc="-80" dirty="0">
                <a:solidFill>
                  <a:srgbClr val="6D6A67"/>
                </a:solidFill>
                <a:latin typeface="Trebuchet MS"/>
                <a:cs typeface="Trebuchet MS"/>
              </a:rPr>
              <a:t>real </a:t>
            </a:r>
            <a:r>
              <a:rPr sz="1000" i="1" spc="-30" dirty="0">
                <a:solidFill>
                  <a:srgbClr val="6D6A67"/>
                </a:solidFill>
                <a:latin typeface="Trebuchet MS"/>
                <a:cs typeface="Trebuchet MS"/>
              </a:rPr>
              <a:t>rival</a:t>
            </a:r>
            <a:r>
              <a:rPr sz="1000" i="1" spc="-25" dirty="0">
                <a:solidFill>
                  <a:srgbClr val="6D6A67"/>
                </a:solidFill>
                <a:latin typeface="Trebuchet MS"/>
                <a:cs typeface="Trebuchet MS"/>
              </a:rPr>
              <a:t> set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44144" y="6584301"/>
            <a:ext cx="172311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r>
              <a:rPr sz="900" spc="-4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sz="900" spc="-5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900" spc="-5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Benchmarking</a:t>
            </a:r>
            <a:endParaRPr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9831857" y="6584302"/>
            <a:ext cx="24693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Budweiser</a:t>
            </a:r>
            <a:r>
              <a:rPr sz="900" spc="-5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Beats</a:t>
            </a:r>
            <a:r>
              <a:rPr sz="900" spc="-5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4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900" spc="-5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5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India</a:t>
            </a:r>
            <a:r>
              <a:rPr sz="900" spc="-4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3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Growth</a:t>
            </a:r>
            <a:r>
              <a:rPr sz="900" spc="-55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30" dirty="0">
                <a:solidFill>
                  <a:srgbClr val="6D6A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Strategy</a:t>
            </a:r>
            <a:endParaRPr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63125B2-C3A8-B568-B775-2F4AD722E19C}"/>
              </a:ext>
            </a:extLst>
          </p:cNvPr>
          <p:cNvSpPr txBox="1"/>
          <p:nvPr/>
        </p:nvSpPr>
        <p:spPr>
          <a:xfrm>
            <a:off x="405346" y="6277189"/>
            <a:ext cx="66050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900" i="1" dirty="0">
                <a:solidFill>
                  <a:srgbClr val="606060"/>
                </a:solidFill>
                <a:latin typeface="Arial"/>
                <a:cs typeface="Arial"/>
              </a:rPr>
              <a:t>Note: </a:t>
            </a:r>
            <a:r>
              <a:rPr lang="en-US" sz="900" i="1" spc="-5" dirty="0">
                <a:solidFill>
                  <a:srgbClr val="606060"/>
                </a:solidFill>
                <a:latin typeface="Arial"/>
                <a:cs typeface="Arial"/>
              </a:rPr>
              <a:t>prices above are </a:t>
            </a:r>
            <a:r>
              <a:rPr lang="en-US" sz="900" i="1" dirty="0">
                <a:solidFill>
                  <a:srgbClr val="606060"/>
                </a:solidFill>
                <a:latin typeface="Arial"/>
                <a:cs typeface="Arial"/>
              </a:rPr>
              <a:t>retail shelf prices; </a:t>
            </a:r>
            <a:r>
              <a:rPr lang="en-US" sz="900" i="1" spc="-5" dirty="0">
                <a:solidFill>
                  <a:srgbClr val="606060"/>
                </a:solidFill>
                <a:latin typeface="Arial"/>
                <a:cs typeface="Arial"/>
              </a:rPr>
              <a:t>Section 4's Rs. 90 </a:t>
            </a:r>
            <a:r>
              <a:rPr lang="en-US" sz="900" i="1" dirty="0">
                <a:solidFill>
                  <a:srgbClr val="606060"/>
                </a:solidFill>
                <a:latin typeface="Arial"/>
                <a:cs typeface="Arial"/>
              </a:rPr>
              <a:t>net-revenue/can </a:t>
            </a:r>
            <a:r>
              <a:rPr lang="en-US" sz="900" i="1" spc="-5" dirty="0">
                <a:solidFill>
                  <a:srgbClr val="606060"/>
                </a:solidFill>
                <a:latin typeface="Arial"/>
                <a:cs typeface="Arial"/>
              </a:rPr>
              <a:t>is a separate, </a:t>
            </a:r>
            <a:r>
              <a:rPr lang="en-US" sz="900" i="1" dirty="0">
                <a:solidFill>
                  <a:srgbClr val="606060"/>
                </a:solidFill>
                <a:latin typeface="Arial"/>
                <a:cs typeface="Arial"/>
              </a:rPr>
              <a:t>illustrative </a:t>
            </a:r>
            <a:r>
              <a:rPr lang="en-US" sz="900" i="1" spc="-5" dirty="0">
                <a:solidFill>
                  <a:srgbClr val="606060"/>
                </a:solidFill>
                <a:latin typeface="Arial"/>
                <a:cs typeface="Arial"/>
              </a:rPr>
              <a:t>modeling assumption.</a:t>
            </a:r>
            <a:endParaRPr lang="en-US" sz="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400" y="381000"/>
            <a:ext cx="2667000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CC0523"/>
                </a:solidFill>
                <a:latin typeface="Arial"/>
                <a:cs typeface="Arial"/>
              </a:rPr>
              <a:t>RISK  &amp;  M</a:t>
            </a:r>
            <a:r>
              <a:rPr lang="en-IN" sz="1250" b="1" dirty="0">
                <a:solidFill>
                  <a:srgbClr val="CC0523"/>
                </a:solidFill>
                <a:latin typeface="Arial"/>
                <a:cs typeface="Arial"/>
              </a:rPr>
              <a:t>I</a:t>
            </a:r>
            <a:r>
              <a:rPr sz="1250" b="1" dirty="0">
                <a:solidFill>
                  <a:srgbClr val="CC0523"/>
                </a:solidFill>
                <a:latin typeface="Arial"/>
                <a:cs typeface="Arial"/>
              </a:rPr>
              <a:t>TIGA</a:t>
            </a:r>
            <a:r>
              <a:rPr lang="en-IN" sz="1250" b="1" dirty="0">
                <a:solidFill>
                  <a:srgbClr val="CC0523"/>
                </a:solidFill>
                <a:latin typeface="Arial"/>
                <a:cs typeface="Arial"/>
              </a:rPr>
              <a:t>T</a:t>
            </a:r>
            <a:r>
              <a:rPr sz="1250" b="1" dirty="0">
                <a:solidFill>
                  <a:srgbClr val="CC0523"/>
                </a:solidFill>
                <a:latin typeface="Arial"/>
                <a:cs typeface="Arial"/>
              </a:rPr>
              <a:t>ION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41414"/>
                </a:solidFill>
              </a:rPr>
              <a:t>Four Risks Worth Naming Before Scaling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3400" y="1181100"/>
            <a:ext cx="58648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1100" i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GTM</a:t>
            </a:r>
            <a:r>
              <a:rPr sz="1100" i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plan</a:t>
            </a:r>
            <a:r>
              <a:rPr sz="1100" i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should</a:t>
            </a:r>
            <a:r>
              <a:rPr sz="1100" i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be</a:t>
            </a:r>
            <a:r>
              <a:rPr sz="1100" i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pressure-tested</a:t>
            </a:r>
            <a:r>
              <a:rPr sz="1100" i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against</a:t>
            </a:r>
            <a:r>
              <a:rPr sz="1100" i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four</a:t>
            </a:r>
            <a:r>
              <a:rPr sz="1100" i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commercial</a:t>
            </a:r>
            <a:r>
              <a:rPr sz="1100" i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1100" i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regulatory</a:t>
            </a:r>
            <a:r>
              <a:rPr sz="1100" i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666666"/>
                </a:solidFill>
                <a:latin typeface="Arial"/>
                <a:cs typeface="Arial"/>
              </a:rPr>
              <a:t>risks.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9750" y="1898650"/>
            <a:ext cx="2616200" cy="3207738"/>
          </a:xfrm>
          <a:prstGeom prst="rect">
            <a:avLst/>
          </a:prstGeom>
          <a:solidFill>
            <a:srgbClr val="161616"/>
          </a:solidFill>
          <a:ln w="3175">
            <a:solidFill>
              <a:srgbClr val="16161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050" dirty="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</a:pP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MARGIN</a:t>
            </a:r>
            <a:r>
              <a:rPr sz="10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Arial"/>
                <a:cs typeface="Arial"/>
              </a:rPr>
              <a:t>COMPRESSION</a:t>
            </a: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050" dirty="0">
              <a:latin typeface="Arial"/>
              <a:cs typeface="Arial"/>
            </a:endParaRPr>
          </a:p>
          <a:p>
            <a:pPr marL="234950" marR="619760">
              <a:lnSpc>
                <a:spcPct val="120700"/>
              </a:lnSpc>
              <a:spcBef>
                <a:spcPts val="5"/>
              </a:spcBef>
            </a:pPr>
            <a:r>
              <a:rPr sz="1050" i="1" dirty="0">
                <a:solidFill>
                  <a:srgbClr val="FFFFFF"/>
                </a:solidFill>
                <a:latin typeface="Arial"/>
                <a:cs typeface="Arial"/>
              </a:rPr>
              <a:t>40% GST plus 15–28% </a:t>
            </a:r>
            <a:r>
              <a:rPr sz="1050" i="1" spc="-25" dirty="0">
                <a:solidFill>
                  <a:srgbClr val="FFFFFF"/>
                </a:solidFill>
                <a:latin typeface="Arial"/>
                <a:cs typeface="Arial"/>
              </a:rPr>
              <a:t>quick-commerce </a:t>
            </a:r>
            <a:r>
              <a:rPr sz="1050" i="1" dirty="0">
                <a:solidFill>
                  <a:srgbClr val="FFFFFF"/>
                </a:solidFill>
                <a:latin typeface="Arial"/>
                <a:cs typeface="Arial"/>
              </a:rPr>
              <a:t>commission </a:t>
            </a:r>
            <a:r>
              <a:rPr sz="1050" i="1" spc="-10" dirty="0">
                <a:solidFill>
                  <a:srgbClr val="FFFFFF"/>
                </a:solidFill>
                <a:latin typeface="Arial"/>
                <a:cs typeface="Arial"/>
              </a:rPr>
              <a:t>compress per-can economics.</a:t>
            </a: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solidFill>
                  <a:srgbClr val="B7B7B7"/>
                </a:solidFill>
                <a:latin typeface="Arial"/>
                <a:cs typeface="Arial"/>
              </a:rPr>
              <a:t>Mitigate: </a:t>
            </a:r>
            <a:r>
              <a:rPr sz="1050" spc="-25" dirty="0">
                <a:solidFill>
                  <a:srgbClr val="B7B7B7"/>
                </a:solidFill>
                <a:latin typeface="Arial"/>
                <a:cs typeface="Arial"/>
              </a:rPr>
              <a:t>weight spend </a:t>
            </a:r>
            <a:r>
              <a:rPr sz="1050" dirty="0">
                <a:solidFill>
                  <a:srgbClr val="B7B7B7"/>
                </a:solidFill>
                <a:latin typeface="Arial"/>
                <a:cs typeface="Arial"/>
              </a:rPr>
              <a:t>toward trial</a:t>
            </a:r>
            <a:endParaRPr lang="en-IN" sz="1050" dirty="0">
              <a:solidFill>
                <a:srgbClr val="B7B7B7"/>
              </a:solidFill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B7B7B7"/>
                </a:solidFill>
                <a:latin typeface="Arial"/>
                <a:cs typeface="Arial"/>
              </a:rPr>
              <a:t>reach.</a:t>
            </a:r>
            <a:endParaRPr lang="en-IN" sz="1050" spc="-25" dirty="0">
              <a:solidFill>
                <a:srgbClr val="B7B7B7"/>
              </a:solidFill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endParaRPr lang="en-IN" sz="1050" spc="-25" dirty="0">
              <a:solidFill>
                <a:srgbClr val="B7B7B7"/>
              </a:solidFill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endParaRPr lang="en-IN" sz="1050" i="1" spc="-25" dirty="0">
              <a:solidFill>
                <a:srgbClr val="B7B7B7"/>
              </a:solidFill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endParaRPr sz="105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59150" y="1898650"/>
            <a:ext cx="2616200" cy="3207738"/>
          </a:xfrm>
          <a:prstGeom prst="rect">
            <a:avLst/>
          </a:prstGeom>
          <a:solidFill>
            <a:srgbClr val="EFEDEA"/>
          </a:solidFill>
          <a:ln w="3175">
            <a:solidFill>
              <a:srgbClr val="EFEDEA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1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</a:pPr>
            <a:r>
              <a:rPr sz="1050" b="1" dirty="0">
                <a:solidFill>
                  <a:srgbClr val="141414"/>
                </a:solidFill>
                <a:latin typeface="Arial"/>
                <a:cs typeface="Arial"/>
              </a:rPr>
              <a:t>PRICING</a:t>
            </a:r>
            <a:r>
              <a:rPr sz="1050" b="1" spc="-40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141414"/>
                </a:solidFill>
                <a:latin typeface="Arial"/>
                <a:cs typeface="Arial"/>
              </a:rPr>
              <a:t>WAR RISK</a:t>
            </a: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050" dirty="0">
              <a:latin typeface="Arial"/>
              <a:cs typeface="Arial"/>
            </a:endParaRPr>
          </a:p>
          <a:p>
            <a:pPr marL="234950" marR="715010">
              <a:lnSpc>
                <a:spcPct val="120700"/>
              </a:lnSpc>
              <a:spcBef>
                <a:spcPts val="5"/>
              </a:spcBef>
            </a:pPr>
            <a:r>
              <a:rPr sz="1050" i="1" dirty="0">
                <a:solidFill>
                  <a:srgbClr val="141414"/>
                </a:solidFill>
                <a:latin typeface="Arial"/>
                <a:cs typeface="Arial"/>
              </a:rPr>
              <a:t>Sting's Rs. 20 PET format </a:t>
            </a:r>
            <a:r>
              <a:rPr sz="1050" i="1" spc="-25" dirty="0">
                <a:solidFill>
                  <a:srgbClr val="141414"/>
                </a:solidFill>
                <a:latin typeface="Arial"/>
                <a:cs typeface="Arial"/>
              </a:rPr>
              <a:t>and </a:t>
            </a:r>
            <a:r>
              <a:rPr sz="1050" i="1" dirty="0">
                <a:solidFill>
                  <a:srgbClr val="141414"/>
                </a:solidFill>
                <a:latin typeface="Arial"/>
                <a:cs typeface="Arial"/>
              </a:rPr>
              <a:t>Coca-Cola's Charged </a:t>
            </a:r>
            <a:r>
              <a:rPr sz="1050" i="1" spc="-10" dirty="0">
                <a:solidFill>
                  <a:srgbClr val="141414"/>
                </a:solidFill>
                <a:latin typeface="Arial"/>
                <a:cs typeface="Arial"/>
              </a:rPr>
              <a:t>have sparked mass-segment price wars.</a:t>
            </a: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spcBef>
                <a:spcPts val="860"/>
              </a:spcBef>
            </a:pPr>
            <a:r>
              <a:rPr lang="en-IN" sz="1050" dirty="0">
                <a:latin typeface="Arial"/>
                <a:cs typeface="Arial"/>
              </a:rPr>
              <a:t>  </a:t>
            </a:r>
            <a:r>
              <a:rPr lang="en-US" sz="1050" dirty="0">
                <a:latin typeface="Arial"/>
                <a:cs typeface="Arial"/>
              </a:rPr>
              <a:t> </a:t>
            </a:r>
            <a:r>
              <a:rPr lang="en-US" sz="1050" dirty="0">
                <a:solidFill>
                  <a:srgbClr val="606060"/>
                </a:solidFill>
                <a:latin typeface="Arial"/>
                <a:cs typeface="Arial"/>
              </a:rPr>
              <a:t>Mitigate: </a:t>
            </a:r>
            <a:r>
              <a:rPr lang="en-US" sz="1050" spc="-20" dirty="0">
                <a:solidFill>
                  <a:srgbClr val="606060"/>
                </a:solidFill>
                <a:latin typeface="Arial"/>
                <a:cs typeface="Arial"/>
              </a:rPr>
              <a:t>compete on </a:t>
            </a:r>
            <a:r>
              <a:rPr lang="en-US" sz="1050" dirty="0">
                <a:solidFill>
                  <a:srgbClr val="606060"/>
                </a:solidFill>
                <a:latin typeface="Arial"/>
                <a:cs typeface="Arial"/>
              </a:rPr>
              <a:t>can price, </a:t>
            </a:r>
            <a:r>
              <a:rPr lang="en-US" sz="1050" spc="-20" dirty="0">
                <a:solidFill>
                  <a:srgbClr val="606060"/>
                </a:solidFill>
                <a:latin typeface="Arial"/>
                <a:cs typeface="Arial"/>
              </a:rPr>
              <a:t>not PET.</a:t>
            </a: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lang="en-US"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lang="en-IN" sz="105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78550" y="1898650"/>
            <a:ext cx="2616200" cy="3207738"/>
          </a:xfrm>
          <a:prstGeom prst="rect">
            <a:avLst/>
          </a:prstGeom>
          <a:solidFill>
            <a:srgbClr val="161616"/>
          </a:solidFill>
          <a:ln w="3175">
            <a:solidFill>
              <a:srgbClr val="16161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050" dirty="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</a:pP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REGULATORY</a:t>
            </a:r>
            <a:r>
              <a:rPr sz="105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Arial"/>
                <a:cs typeface="Arial"/>
              </a:rPr>
              <a:t>EXPOSURE</a:t>
            </a: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050" dirty="0">
              <a:latin typeface="Arial"/>
              <a:cs typeface="Arial"/>
            </a:endParaRPr>
          </a:p>
          <a:p>
            <a:pPr marL="234950" marR="422909">
              <a:lnSpc>
                <a:spcPct val="120700"/>
              </a:lnSpc>
              <a:spcBef>
                <a:spcPts val="5"/>
              </a:spcBef>
            </a:pPr>
            <a:r>
              <a:rPr sz="1050" i="1" dirty="0">
                <a:solidFill>
                  <a:srgbClr val="FFFFFF"/>
                </a:solidFill>
                <a:latin typeface="Arial"/>
                <a:cs typeface="Arial"/>
              </a:rPr>
              <a:t>FSSAI's 2026 crackdown </a:t>
            </a:r>
            <a:r>
              <a:rPr sz="1050" i="1" spc="-10" dirty="0">
                <a:solidFill>
                  <a:srgbClr val="FFFFFF"/>
                </a:solidFill>
                <a:latin typeface="Arial"/>
                <a:cs typeface="Arial"/>
              </a:rPr>
              <a:t>forces </a:t>
            </a:r>
            <a:r>
              <a:rPr sz="1050" i="1" dirty="0">
                <a:solidFill>
                  <a:srgbClr val="FFFFFF"/>
                </a:solidFill>
                <a:latin typeface="Arial"/>
                <a:cs typeface="Arial"/>
              </a:rPr>
              <a:t>"energy drink" brands </a:t>
            </a:r>
            <a:r>
              <a:rPr sz="1050" i="1" spc="-10" dirty="0">
                <a:solidFill>
                  <a:srgbClr val="FFFFFF"/>
                </a:solidFill>
                <a:latin typeface="Arial"/>
                <a:cs typeface="Arial"/>
              </a:rPr>
              <a:t>to relabel within 90 days.</a:t>
            </a: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lang="en-IN" sz="1050" dirty="0">
              <a:latin typeface="Arial"/>
              <a:cs typeface="Arial"/>
            </a:endParaRPr>
          </a:p>
          <a:p>
            <a:pPr marL="234950">
              <a:spcBef>
                <a:spcPts val="5"/>
              </a:spcBef>
            </a:pPr>
            <a:endParaRPr lang="en-US" sz="1050" dirty="0">
              <a:latin typeface="Arial"/>
              <a:cs typeface="Arial"/>
            </a:endParaRPr>
          </a:p>
          <a:p>
            <a:pPr marL="234950">
              <a:spcBef>
                <a:spcPts val="5"/>
              </a:spcBef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Arial"/>
                <a:cs typeface="Arial"/>
              </a:rPr>
              <a:t>Mitigate: </a:t>
            </a:r>
            <a:r>
              <a:rPr lang="en-US" sz="1050" spc="-20" dirty="0">
                <a:solidFill>
                  <a:schemeClr val="bg1">
                    <a:lumMod val="95000"/>
                  </a:schemeClr>
                </a:solidFill>
                <a:latin typeface="Arial"/>
                <a:cs typeface="Arial"/>
              </a:rPr>
              <a:t>build compliant </a:t>
            </a: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Arial"/>
                <a:cs typeface="Arial"/>
              </a:rPr>
              <a:t>labeling early, </a:t>
            </a:r>
            <a:r>
              <a:rPr lang="en-IN" sz="1050" dirty="0">
                <a:solidFill>
                  <a:schemeClr val="bg1">
                    <a:lumMod val="95000"/>
                  </a:schemeClr>
                </a:solidFill>
                <a:latin typeface="Arial"/>
                <a:cs typeface="Arial"/>
              </a:rPr>
              <a:t>avoid deceptive performance claims.</a:t>
            </a:r>
            <a:endParaRPr lang="en-IN" sz="1050" dirty="0">
              <a:solidFill>
                <a:schemeClr val="bg1">
                  <a:lumMod val="95000"/>
                </a:schemeClr>
              </a:solidFill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endParaRPr lang="en-IN" sz="1050" dirty="0"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endParaRPr lang="en-IN" sz="1050" dirty="0"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endParaRPr lang="en-IN" sz="105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97950" y="1898650"/>
            <a:ext cx="2616200" cy="3207738"/>
          </a:xfrm>
          <a:prstGeom prst="rect">
            <a:avLst/>
          </a:prstGeom>
          <a:solidFill>
            <a:srgbClr val="EFEDEA"/>
          </a:solidFill>
          <a:ln w="3175">
            <a:solidFill>
              <a:srgbClr val="EFEDE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050" dirty="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</a:pPr>
            <a:r>
              <a:rPr sz="1050" b="1" dirty="0">
                <a:solidFill>
                  <a:srgbClr val="141414"/>
                </a:solidFill>
                <a:latin typeface="Arial"/>
                <a:cs typeface="Arial"/>
              </a:rPr>
              <a:t>CHANNEL</a:t>
            </a:r>
            <a:r>
              <a:rPr sz="1050" b="1" spc="-4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141414"/>
                </a:solidFill>
                <a:latin typeface="Arial"/>
                <a:cs typeface="Arial"/>
              </a:rPr>
              <a:t>CONCENTRATION</a:t>
            </a: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050" dirty="0">
              <a:latin typeface="Arial"/>
              <a:cs typeface="Arial"/>
            </a:endParaRPr>
          </a:p>
          <a:p>
            <a:pPr marL="234950" marR="645160">
              <a:lnSpc>
                <a:spcPct val="120700"/>
              </a:lnSpc>
              <a:spcBef>
                <a:spcPts val="5"/>
              </a:spcBef>
            </a:pPr>
            <a:r>
              <a:rPr sz="1050" i="1" dirty="0">
                <a:solidFill>
                  <a:srgbClr val="141414"/>
                </a:solidFill>
                <a:latin typeface="Arial"/>
                <a:cs typeface="Arial"/>
              </a:rPr>
              <a:t>40% of Year-1 spend </a:t>
            </a:r>
            <a:r>
              <a:rPr sz="1050" i="1" spc="-25" dirty="0">
                <a:solidFill>
                  <a:srgbClr val="141414"/>
                </a:solidFill>
                <a:latin typeface="Arial"/>
                <a:cs typeface="Arial"/>
              </a:rPr>
              <a:t>sits in </a:t>
            </a:r>
            <a:r>
              <a:rPr sz="1050" i="1" dirty="0">
                <a:solidFill>
                  <a:srgbClr val="141414"/>
                </a:solidFill>
                <a:latin typeface="Arial"/>
                <a:cs typeface="Arial"/>
              </a:rPr>
              <a:t>quick-commerce, </a:t>
            </a:r>
            <a:r>
              <a:rPr sz="1050" i="1" spc="-10" dirty="0">
                <a:solidFill>
                  <a:srgbClr val="141414"/>
                </a:solidFill>
                <a:latin typeface="Arial"/>
                <a:cs typeface="Arial"/>
              </a:rPr>
              <a:t>a still-consolidating channel.</a:t>
            </a: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lang="en-IN"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 marL="234950" algn="l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solidFill>
                  <a:srgbClr val="606060"/>
                </a:solidFill>
                <a:latin typeface="Arial"/>
                <a:cs typeface="Arial"/>
              </a:rPr>
              <a:t>Mitigate: </a:t>
            </a:r>
            <a:r>
              <a:rPr sz="1050" spc="-5" dirty="0">
                <a:solidFill>
                  <a:srgbClr val="606060"/>
                </a:solidFill>
                <a:latin typeface="Arial"/>
                <a:cs typeface="Arial"/>
              </a:rPr>
              <a:t>cap spend </a:t>
            </a:r>
            <a:r>
              <a:rPr sz="1050" dirty="0">
                <a:solidFill>
                  <a:srgbClr val="606060"/>
                </a:solidFill>
                <a:latin typeface="Arial"/>
                <a:cs typeface="Arial"/>
              </a:rPr>
              <a:t>per</a:t>
            </a:r>
            <a:r>
              <a:rPr lang="en-IN" sz="105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06060"/>
                </a:solidFill>
                <a:latin typeface="Arial"/>
                <a:cs typeface="Arial"/>
              </a:rPr>
              <a:t>platform.</a:t>
            </a:r>
            <a:r>
              <a:rPr lang="en-IN" sz="1050" dirty="0">
                <a:solidFill>
                  <a:srgbClr val="606060"/>
                </a:solidFill>
                <a:latin typeface="Arial"/>
                <a:cs typeface="Arial"/>
              </a:rPr>
              <a:t> Diversify over </a:t>
            </a:r>
            <a:r>
              <a:rPr lang="en-IN" sz="1050" dirty="0" err="1">
                <a:solidFill>
                  <a:srgbClr val="606060"/>
                </a:solidFill>
                <a:latin typeface="Arial"/>
                <a:cs typeface="Arial"/>
              </a:rPr>
              <a:t>Swiggy,Instamart</a:t>
            </a:r>
            <a:r>
              <a:rPr lang="en-IN" sz="1050" dirty="0">
                <a:solidFill>
                  <a:srgbClr val="606060"/>
                </a:solidFill>
                <a:latin typeface="Arial"/>
                <a:cs typeface="Arial"/>
              </a:rPr>
              <a:t>.</a:t>
            </a: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endParaRPr lang="en-IN" sz="1050" dirty="0">
              <a:solidFill>
                <a:srgbClr val="606060"/>
              </a:solidFill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endParaRPr lang="en-IN" sz="1050" dirty="0">
              <a:solidFill>
                <a:srgbClr val="606060"/>
              </a:solidFill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endParaRPr sz="105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9750" y="5687500"/>
            <a:ext cx="979995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Important</a:t>
            </a:r>
            <a:r>
              <a:rPr sz="12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distinction</a:t>
            </a:r>
            <a:r>
              <a:rPr sz="1200" b="1" spc="26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|</a:t>
            </a:r>
            <a:r>
              <a:rPr sz="1200" b="1" spc="26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These are</a:t>
            </a:r>
            <a:r>
              <a:rPr sz="1200" b="1" spc="-5" dirty="0">
                <a:solidFill>
                  <a:srgbClr val="14141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illustrative risk </a:t>
            </a:r>
            <a:r>
              <a:rPr sz="1200" b="1" spc="-5" dirty="0">
                <a:solidFill>
                  <a:srgbClr val="141414"/>
                </a:solidFill>
                <a:latin typeface="Arial"/>
                <a:cs typeface="Arial"/>
              </a:rPr>
              <a:t>factors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based on public </a:t>
            </a:r>
            <a:r>
              <a:rPr sz="1200" b="1" spc="-5" dirty="0">
                <a:solidFill>
                  <a:srgbClr val="141414"/>
                </a:solidFill>
                <a:latin typeface="Arial"/>
                <a:cs typeface="Arial"/>
              </a:rPr>
              <a:t>market and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regulatory evidence, </a:t>
            </a:r>
            <a:r>
              <a:rPr sz="1200" b="1" spc="-5" dirty="0">
                <a:solidFill>
                  <a:srgbClr val="141414"/>
                </a:solidFill>
                <a:latin typeface="Arial"/>
                <a:cs typeface="Arial"/>
              </a:rPr>
              <a:t>not an </a:t>
            </a:r>
            <a:r>
              <a:rPr sz="1200" b="1" dirty="0">
                <a:solidFill>
                  <a:srgbClr val="141414"/>
                </a:solidFill>
                <a:latin typeface="Arial"/>
                <a:cs typeface="Arial"/>
              </a:rPr>
              <a:t>AB InBev </a:t>
            </a:r>
            <a:r>
              <a:rPr sz="1200" b="1" spc="-5" dirty="0">
                <a:solidFill>
                  <a:srgbClr val="141414"/>
                </a:solidFill>
                <a:latin typeface="Arial"/>
                <a:cs typeface="Arial"/>
              </a:rPr>
              <a:t>risk disclosure.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3400" y="6343522"/>
            <a:ext cx="6934200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Source:</a:t>
            </a:r>
            <a:r>
              <a:rPr sz="800" spc="-1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Mordor</a:t>
            </a:r>
            <a:r>
              <a:rPr sz="800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Intelligence,</a:t>
            </a:r>
            <a:r>
              <a:rPr sz="800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India Energy Drinks Market</a:t>
            </a:r>
            <a:r>
              <a:rPr sz="800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(2026);</a:t>
            </a:r>
            <a:r>
              <a:rPr sz="800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FSSAI</a:t>
            </a:r>
            <a:r>
              <a:rPr sz="800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show-cause</a:t>
            </a:r>
            <a:r>
              <a:rPr sz="800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notices</a:t>
            </a:r>
            <a:r>
              <a:rPr sz="800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(Jul–Aug</a:t>
            </a:r>
            <a:r>
              <a:rPr sz="800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2026);</a:t>
            </a:r>
            <a:r>
              <a:rPr sz="800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public</a:t>
            </a:r>
            <a:r>
              <a:rPr sz="800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reporting</a:t>
            </a:r>
            <a:r>
              <a:rPr sz="800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on</a:t>
            </a:r>
            <a:r>
              <a:rPr sz="800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Sting/Charged</a:t>
            </a:r>
            <a:r>
              <a:rPr sz="800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06060"/>
                </a:solidFill>
                <a:latin typeface="Arial"/>
                <a:cs typeface="Arial"/>
              </a:rPr>
              <a:t>pricing.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3400" y="6578601"/>
            <a:ext cx="20574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Section</a:t>
            </a:r>
            <a:r>
              <a:rPr sz="90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8</a:t>
            </a:r>
            <a:r>
              <a:rPr sz="90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Risk</a:t>
            </a:r>
            <a:r>
              <a:rPr sz="90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&amp; Mitigation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25000" y="6578601"/>
            <a:ext cx="231711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Budweiser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Beats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India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Growth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Strategy</a:t>
            </a:r>
            <a:endParaRPr sz="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</TotalTime>
  <Words>2559</Words>
  <Application>Microsoft Office PowerPoint</Application>
  <PresentationFormat>Widescreen</PresentationFormat>
  <Paragraphs>617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 MT</vt:lpstr>
      <vt:lpstr>Calibri</vt:lpstr>
      <vt:lpstr>Tahoma</vt:lpstr>
      <vt:lpstr>Times New Roman</vt:lpstr>
      <vt:lpstr>Trebuchet MS</vt:lpstr>
      <vt:lpstr>Office Theme</vt:lpstr>
      <vt:lpstr>PowerPoint Presentation</vt:lpstr>
      <vt:lpstr>Six Steps From Insight to Growth Plan</vt:lpstr>
      <vt:lpstr>A Focused Push Into Digital-First Occasions</vt:lpstr>
      <vt:lpstr>Why Now: Energy Demand Meets Instant Delivery</vt:lpstr>
      <vt:lpstr>A Simple, Evidence-Led Path to the G T M Plan</vt:lpstr>
      <vt:lpstr>Two Priority Consumers, One Common Trigger: Time Pressure</vt:lpstr>
      <vt:lpstr>High-Potential Segments: Size Meets Brand Fit</vt:lpstr>
      <vt:lpstr>City Prioritization: Start Where Digital Availability Is Densest</vt:lpstr>
      <vt:lpstr>A Two-Wave City Rollout</vt:lpstr>
      <vt:lpstr>Four Routes to Market, Four Different Jobs</vt:lpstr>
      <vt:lpstr>Recommended Year-1 Channel Investment Mix</vt:lpstr>
      <vt:lpstr>A Transparent Base-Case Model</vt:lpstr>
      <vt:lpstr>Illustrative 3-Year Revenue Scenario</vt:lpstr>
      <vt:lpstr>Grounding Growth in AB InBev's Sustainability Framework</vt:lpstr>
      <vt:lpstr>One Answer, Seven Questions</vt:lpstr>
      <vt:lpstr>A Profitable, Sustainable Path to Scale</vt:lpstr>
      <vt:lpstr>Four Players, One Fast-Growing Category</vt:lpstr>
      <vt:lpstr>Four Risks Worth Naming Before Scaling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Anushka Bidawat</cp:lastModifiedBy>
  <cp:revision>22</cp:revision>
  <dcterms:created xsi:type="dcterms:W3CDTF">2026-09-07T13:39:37Z</dcterms:created>
  <dcterms:modified xsi:type="dcterms:W3CDTF">2026-09-12T07:23:23Z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2026-09-07T00:00:00Z</vt:filetime>
  </property>
  <property fmtid="{D5CDD505-2E9C-101B-9397-08002B2CF9AE}" pid="4" name="LastSaved">
    <vt:filetime>2026-09-07T00:00:00Z</vt:filetime>
  </property>
</Properties>
</file>